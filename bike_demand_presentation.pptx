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charts/chart1.xml" ContentType="application/vnd.openxmlformats-officedocument.drawingml.chart+xml"/>
  <Override PartName="/ppt/slideMasters/slideMaster9.xml" ContentType="application/vnd.openxmlformats-officedocument.presentationml.slideMaster+xml"/>
  <Override PartName="/ppt/slides/slide9.xml" ContentType="application/vnd.openxmlformats-officedocument.presentationml.slide+xml"/>
  <Override PartName="/ppt/charts/chart2.xml" ContentType="application/vnd.openxmlformats-officedocument.drawingml.chart+xml"/>
  <Override PartName="/ppt/slideMasters/slideMaster10.xml" ContentType="application/vnd.openxmlformats-officedocument.presentationml.slideMaster+xml"/>
  <Override PartName="/ppt/slides/slide10.xml" ContentType="application/vnd.openxmlformats-officedocument.presentationml.slide+xml"/>
  <Override PartName="/ppt/charts/chart3.xml" ContentType="application/vnd.openxmlformats-officedocument.drawingml.chart+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Lst>
  <p:notesMasterIdLst>
    <p:notesMasterId r:id="rId17"/>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notesMaster" Target="notesMasters/notesMaster1.xml"/><Relationship Id="rId18" Type="http://schemas.openxmlformats.org/officeDocument/2006/relationships/presProps" Target="presProps.xml"/><Relationship Id="rId19" Type="http://schemas.openxmlformats.org/officeDocument/2006/relationships/viewProps" Target="viewProps.xml"/><Relationship Id="rId20" Type="http://schemas.openxmlformats.org/officeDocument/2006/relationships/theme" Target="theme/theme1.xml"/><Relationship Id="rId21"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_rels/chart2.xml.rels><?xml version="1.0" encoding="UTF-8" standalone="yes"?><Relationships xmlns="http://schemas.openxmlformats.org/package/2006/relationships"><Relationship Id="rId1" Type="http://schemas.openxmlformats.org/officeDocument/2006/relationships/package" Target="../embeddings/Microsoft_Excel_Worksheet2.xlsx"/></Relationships>
</file>

<file path=ppt/charts/_rels/chart3.xml.rels><?xml version="1.0" encoding="UTF-8" standalone="yes"?><Relationships xmlns="http://schemas.openxmlformats.org/package/2006/relationships"><Relationship Id="rId1" Type="http://schemas.openxmlformats.org/officeDocument/2006/relationships/package" Target="../embeddings/Microsoft_Excel_Worksheet3.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300" b="0" i="0" u="none" strike="noStrike">
                <a:solidFill>
                  <a:srgbClr val="142D4E"/>
                </a:solidFill>
                <a:latin typeface="Calibri"/>
              </a:defRPr>
            </a:pPr>
            <a:r>
              <a:rPr sz="1300" b="0" i="0" u="none" strike="noStrike">
                <a:solidFill>
                  <a:srgbClr val="142D4E"/>
                </a:solidFill>
                <a:latin typeface="Calibri"/>
              </a:rPr>
              <a:t>Test RMSE (mean of 5 seeds)</a:t>
            </a:r>
          </a:p>
        </c:rich>
      </c:tx>
      <c:layout/>
      <c:overlay val="0"/>
    </c:title>
    <c:autoTitleDeleted val="0"/>
    <c:plotArea>
      <c:layout/>
      <c:lineChart>
        <c:varyColors val="0"/>
        <c:ser>
          <c:idx val="0"/>
          <c:order val="0"/>
          <c:tx>
            <c:strRef>
              <c:f>Sheet1!$B$1</c:f>
              <c:strCache>
                <c:ptCount val="1"/>
                <c:pt idx="0">
                  <c:v>Vanilla</c:v>
                </c:pt>
              </c:strCache>
            </c:strRef>
          </c:tx>
          <c:spPr>
            <a:solidFill>
              <a:srgbClr val="7B6FB0"/>
            </a:solidFill>
            <a:ln w="25400" cap="flat">
              <a:solidFill>
                <a:srgbClr val="7B6FB0"/>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circle"/>
            <c:size val="7"/>
            <c:spPr>
              <a:solidFill>
                <a:srgbClr val="7B6FB0"/>
              </a:solidFill>
              <a:ln w="9525" cap="flat">
                <a:solidFill>
                  <a:srgbClr val="7B6FB0"/>
                </a:solidFill>
                <a:prstDash val="solid"/>
                <a:round/>
              </a:ln>
              <a:effectLst/>
            </c:spPr>
          </c:marker>
          <c:cat>
            <c:multiLvlStrRef>
              <c:f>Sheet1!$A$2:$A$5</c:f>
              <c:multiLvlStrCache>
                <c:ptCount val="4"/>
                <c:lvl>
                  <c:pt idx="0">
                    <c:v>30</c:v>
                  </c:pt>
                  <c:pt idx="1">
                    <c:v>75</c:v>
                  </c:pt>
                  <c:pt idx="2">
                    <c:v>150</c:v>
                  </c:pt>
                  <c:pt idx="3">
                    <c:v>300</c:v>
                  </c:pt>
                </c:lvl>
              </c:multiLvlStrCache>
            </c:multiLvlStrRef>
          </c:cat>
          <c:val>
            <c:numRef>
              <c:f>Sheet1!$B$2:$B$5</c:f>
              <c:numCache>
                <c:formatCode>General</c:formatCode>
                <c:ptCount val="4"/>
                <c:pt idx="0">
                  <c:v>153.58</c:v>
                </c:pt>
                <c:pt idx="1">
                  <c:v>138.8</c:v>
                </c:pt>
                <c:pt idx="2">
                  <c:v>128.2</c:v>
                </c:pt>
                <c:pt idx="3">
                  <c:v>104.97</c:v>
                </c:pt>
              </c:numCache>
            </c:numRef>
          </c:val>
          <c:smooth val="0"/>
        </c:ser>
        <c:ser>
          <c:idx val="1"/>
          <c:order val="1"/>
          <c:tx>
            <c:strRef>
              <c:f>Sheet1!$C$1</c:f>
              <c:strCache>
                <c:ptCount val="1"/>
                <c:pt idx="0">
                  <c:v>Mixup</c:v>
                </c:pt>
              </c:strCache>
            </c:strRef>
          </c:tx>
          <c:spPr>
            <a:solidFill>
              <a:srgbClr val="C9A227"/>
            </a:solidFill>
            <a:ln w="25400" cap="flat">
              <a:solidFill>
                <a:srgbClr val="C9A227"/>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circle"/>
            <c:size val="7"/>
            <c:spPr>
              <a:solidFill>
                <a:srgbClr val="C9A227"/>
              </a:solidFill>
              <a:ln w="9525" cap="flat">
                <a:solidFill>
                  <a:srgbClr val="C9A227"/>
                </a:solidFill>
                <a:prstDash val="solid"/>
                <a:round/>
              </a:ln>
              <a:effectLst/>
            </c:spPr>
          </c:marker>
          <c:cat>
            <c:multiLvlStrRef>
              <c:f>Sheet1!$A$2:$A$5</c:f>
              <c:multiLvlStrCache>
                <c:ptCount val="4"/>
                <c:lvl>
                  <c:pt idx="0">
                    <c:v>30</c:v>
                  </c:pt>
                  <c:pt idx="1">
                    <c:v>75</c:v>
                  </c:pt>
                  <c:pt idx="2">
                    <c:v>150</c:v>
                  </c:pt>
                  <c:pt idx="3">
                    <c:v>300</c:v>
                  </c:pt>
                </c:lvl>
              </c:multiLvlStrCache>
            </c:multiLvlStrRef>
          </c:cat>
          <c:val>
            <c:numRef>
              <c:f>Sheet1!$C$2:$C$5</c:f>
              <c:numCache>
                <c:formatCode>General</c:formatCode>
                <c:ptCount val="4"/>
                <c:pt idx="0">
                  <c:v>150.96</c:v>
                </c:pt>
                <c:pt idx="1">
                  <c:v>140.65</c:v>
                </c:pt>
                <c:pt idx="2">
                  <c:v>131.69</c:v>
                </c:pt>
                <c:pt idx="3">
                  <c:v>113.24</c:v>
                </c:pt>
              </c:numCache>
            </c:numRef>
          </c:val>
          <c:smooth val="0"/>
        </c:ser>
        <c:ser>
          <c:idx val="2"/>
          <c:order val="2"/>
          <c:tx>
            <c:strRef>
              <c:f>Sheet1!$D$1</c:f>
              <c:strCache>
                <c:ptCount val="1"/>
                <c:pt idx="0">
                  <c:v>Global kNN</c:v>
                </c:pt>
              </c:strCache>
            </c:strRef>
          </c:tx>
          <c:spPr>
            <a:solidFill>
              <a:srgbClr val="2F9BB8"/>
            </a:solidFill>
            <a:ln w="25400" cap="flat">
              <a:solidFill>
                <a:srgbClr val="2F9BB8"/>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circle"/>
            <c:size val="7"/>
            <c:spPr>
              <a:solidFill>
                <a:srgbClr val="2F9BB8"/>
              </a:solidFill>
              <a:ln w="9525" cap="flat">
                <a:solidFill>
                  <a:srgbClr val="2F9BB8"/>
                </a:solidFill>
                <a:prstDash val="solid"/>
                <a:round/>
              </a:ln>
              <a:effectLst/>
            </c:spPr>
          </c:marker>
          <c:cat>
            <c:multiLvlStrRef>
              <c:f>Sheet1!$A$2:$A$5</c:f>
              <c:multiLvlStrCache>
                <c:ptCount val="4"/>
                <c:lvl>
                  <c:pt idx="0">
                    <c:v>30</c:v>
                  </c:pt>
                  <c:pt idx="1">
                    <c:v>75</c:v>
                  </c:pt>
                  <c:pt idx="2">
                    <c:v>150</c:v>
                  </c:pt>
                  <c:pt idx="3">
                    <c:v>300</c:v>
                  </c:pt>
                </c:lvl>
              </c:multiLvlStrCache>
            </c:multiLvlStrRef>
          </c:cat>
          <c:val>
            <c:numRef>
              <c:f>Sheet1!$D$2:$D$5</c:f>
              <c:numCache>
                <c:formatCode>General</c:formatCode>
                <c:ptCount val="4"/>
                <c:pt idx="0">
                  <c:v>151.51</c:v>
                </c:pt>
                <c:pt idx="1">
                  <c:v>139.43</c:v>
                </c:pt>
                <c:pt idx="2">
                  <c:v>129.55</c:v>
                </c:pt>
                <c:pt idx="3">
                  <c:v>106.62</c:v>
                </c:pt>
              </c:numCache>
            </c:numRef>
          </c:val>
          <c:smooth val="0"/>
        </c:ser>
        <c:ser>
          <c:idx val="3"/>
          <c:order val="3"/>
          <c:tx>
            <c:strRef>
              <c:f>Sheet1!$E$1</c:f>
              <c:strCache>
                <c:ptCount val="1"/>
                <c:pt idx="0">
                  <c:v>RegMix</c:v>
                </c:pt>
              </c:strCache>
            </c:strRef>
          </c:tx>
          <c:spPr>
            <a:solidFill>
              <a:srgbClr val="C0392B"/>
            </a:solidFill>
            <a:ln w="25400" cap="flat">
              <a:solidFill>
                <a:srgbClr val="C0392B"/>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circle"/>
            <c:size val="7"/>
            <c:spPr>
              <a:solidFill>
                <a:srgbClr val="C0392B"/>
              </a:solidFill>
              <a:ln w="9525" cap="flat">
                <a:solidFill>
                  <a:srgbClr val="C0392B"/>
                </a:solidFill>
                <a:prstDash val="solid"/>
                <a:round/>
              </a:ln>
              <a:effectLst/>
            </c:spPr>
          </c:marker>
          <c:cat>
            <c:multiLvlStrRef>
              <c:f>Sheet1!$A$2:$A$5</c:f>
              <c:multiLvlStrCache>
                <c:ptCount val="4"/>
                <c:lvl>
                  <c:pt idx="0">
                    <c:v>30</c:v>
                  </c:pt>
                  <c:pt idx="1">
                    <c:v>75</c:v>
                  </c:pt>
                  <c:pt idx="2">
                    <c:v>150</c:v>
                  </c:pt>
                  <c:pt idx="3">
                    <c:v>300</c:v>
                  </c:pt>
                </c:lvl>
              </c:multiLvlStrCache>
            </c:multiLvlStrRef>
          </c:cat>
          <c:val>
            <c:numRef>
              <c:f>Sheet1!$E$2:$E$5</c:f>
              <c:numCache>
                <c:formatCode>General</c:formatCode>
                <c:ptCount val="4"/>
                <c:pt idx="0">
                  <c:v>144.42</c:v>
                </c:pt>
                <c:pt idx="1">
                  <c:v>135.52</c:v>
                </c:pt>
                <c:pt idx="2">
                  <c:v>129.9</c:v>
                </c:pt>
                <c:pt idx="3">
                  <c:v>115.67</c:v>
                </c:pt>
              </c:numCache>
            </c:numRef>
          </c:val>
          <c:smooth val="0"/>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0"/>
        <c:axPos val="b"/>
        <c:title>
          <c:tx>
            <c:rich>
              <a:bodyPr/>
              <a:lstStyle/>
              <a:p>
                <a:pPr>
                  <a:defRPr sz="1100" b="0" i="0" u="none" strike="noStrike">
                    <a:solidFill>
                      <a:srgbClr val="64748B"/>
                    </a:solidFill>
                    <a:latin typeface="Arial"/>
                  </a:defRPr>
                </a:pPr>
                <a:r>
                  <a:rPr sz="1100" b="0" i="0" u="none" strike="noStrike">
                    <a:solidFill>
                      <a:srgbClr val="64748B"/>
                    </a:solidFill>
                    <a:latin typeface="Arial"/>
                  </a:rPr>
                  <a:t>Training examples</a:t>
                </a:r>
              </a:p>
            </c:rich>
          </c:tx>
          <c:layout/>
          <c:overlay val="0"/>
        </c:title>
        <c:numFmt formatCode="General" sourceLinked="1"/>
        <c:majorTickMark val="out"/>
        <c:minorTickMark val="none"/>
        <c:tickLblPos val="low"/>
        <c:spPr>
          <a:ln w="12700" cap="flat">
            <a:solidFill>
              <a:srgbClr val="888888"/>
            </a:solidFill>
            <a:prstDash val="solid"/>
            <a:round/>
          </a:ln>
        </c:spPr>
        <c:txPr>
          <a:bodyPr/>
          <a:lstStyle/>
          <a:p>
            <a:pPr>
              <a:defRPr sz="1100" b="0" i="0" u="none" strike="noStrike">
                <a:solidFill>
                  <a:srgbClr val="273449"/>
                </a:solidFill>
                <a:latin typeface="Calibri"/>
              </a:defRPr>
            </a:pPr>
            <a:endParaRPr lang="en-US"/>
          </a:p>
        </c:txPr>
        <c:crossAx val="2094734552"/>
        <c:crosses val="autoZero"/>
        <c:auto val="1"/>
        <c:lblAlgn val="ctr"/>
        <c:noMultiLvlLbl val="1"/>
      </c:catAx>
      <c:valAx>
        <c:axId val="2094734552"/>
        <c:scaling>
          <c:orientation val="minMax"/>
          <c:max val="160"/>
          <c:min val="95"/>
        </c:scaling>
        <c:delete val="0"/>
        <c:axPos val="l"/>
        <c:majorGridlines>
          <c:spPr>
            <a:ln w="6350" cap="flat">
              <a:solidFill>
                <a:srgbClr val="E2E8F0"/>
              </a:solidFill>
              <a:prstDash val="solid"/>
              <a:round/>
            </a:ln>
          </c:spPr>
        </c:majorGridlines>
        <c:title>
          <c:tx>
            <c:rich>
              <a:bodyPr/>
              <a:lstStyle/>
              <a:p>
                <a:pPr>
                  <a:defRPr sz="1100" b="0" i="0" u="none" strike="noStrike">
                    <a:solidFill>
                      <a:srgbClr val="64748B"/>
                    </a:solidFill>
                    <a:latin typeface="Arial"/>
                  </a:defRPr>
                </a:pPr>
                <a:r>
                  <a:rPr sz="1100" b="0" i="0" u="none" strike="noStrike">
                    <a:solidFill>
                      <a:srgbClr val="64748B"/>
                    </a:solidFill>
                    <a:latin typeface="Arial"/>
                  </a:rPr>
                  <a:t>RMSE (bikes/h)</a:t>
                </a:r>
              </a:p>
            </c:rich>
          </c:tx>
          <c:layout/>
          <c:overlay val="0"/>
        </c:title>
        <c:numFmt formatCode="General" sourceLinked="0"/>
        <c:majorTickMark val="out"/>
        <c:minorTickMark val="none"/>
        <c:tickLblPos val="nextTo"/>
        <c:spPr>
          <a:ln w="12700" cap="flat">
            <a:solidFill>
              <a:srgbClr val="888888"/>
            </a:solidFill>
            <a:prstDash val="solid"/>
            <a:round/>
          </a:ln>
        </c:spPr>
        <c:txPr>
          <a:bodyPr/>
          <a:lstStyle/>
          <a:p>
            <a:pPr>
              <a:defRPr sz="1100" b="0" i="0" u="none" strike="noStrike">
                <a:solidFill>
                  <a:srgbClr val="273449"/>
                </a:solidFill>
                <a:latin typeface="Calibri"/>
              </a:defRPr>
            </a:pPr>
            <a:endParaRPr lang="en-US"/>
          </a:p>
        </c:txPr>
        <c:crossAx val="2094734554"/>
        <c:crosses val="autoZero"/>
        <c:crossBetween val="between"/>
      </c:valAx>
      <c:spPr>
        <a:noFill/>
        <a:ln>
          <a:noFill/>
        </a:ln>
        <a:effectLst/>
      </c:spPr>
    </c:plotArea>
    <c:legend>
      <c:legendPos val="b"/>
      <c:overlay val="0"/>
      <c:txPr>
        <a:bodyPr/>
        <a:lstStyle/>
        <a:p>
          <a:pPr>
            <a:defRPr sz="1100">
              <a:latin typeface="Calibri"/>
              <a:cs typeface="Calibri"/>
            </a:defRPr>
          </a:pPr>
          <a:endParaRPr lang="en-US"/>
        </a:p>
      </c:txPr>
    </c:legend>
    <c:plotVisOnly val="1"/>
    <c:dispBlanksAs val="span"/>
  </c:chart>
  <c:spPr>
    <a:no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300" b="0" i="0" u="none" strike="noStrike">
                <a:solidFill>
                  <a:srgbClr val="142D4E"/>
                </a:solidFill>
                <a:latin typeface="Calibri"/>
              </a:defRPr>
            </a:pPr>
            <a:r>
              <a:rPr sz="1300" b="0" i="0" u="none" strike="noStrike">
                <a:solidFill>
                  <a:srgbClr val="142D4E"/>
                </a:solidFill>
                <a:latin typeface="Calibri"/>
              </a:rPr>
              <a:t>Test RMSE (mean of 5 seeds)</a:t>
            </a:r>
          </a:p>
        </c:rich>
      </c:tx>
      <c:layout/>
      <c:overlay val="0"/>
    </c:title>
    <c:autoTitleDeleted val="0"/>
    <c:plotArea>
      <c:layout/>
      <c:lineChart>
        <c:varyColors val="0"/>
        <c:ser>
          <c:idx val="0"/>
          <c:order val="0"/>
          <c:tx>
            <c:strRef>
              <c:f>Sheet1!$B$1</c:f>
              <c:strCache>
                <c:ptCount val="1"/>
                <c:pt idx="0">
                  <c:v>Vanilla</c:v>
                </c:pt>
              </c:strCache>
            </c:strRef>
          </c:tx>
          <c:spPr>
            <a:solidFill>
              <a:srgbClr val="7B6FB0"/>
            </a:solidFill>
            <a:ln w="25400" cap="flat">
              <a:solidFill>
                <a:srgbClr val="7B6FB0"/>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circle"/>
            <c:size val="7"/>
            <c:spPr>
              <a:solidFill>
                <a:srgbClr val="7B6FB0"/>
              </a:solidFill>
              <a:ln w="9525" cap="flat">
                <a:solidFill>
                  <a:srgbClr val="7B6FB0"/>
                </a:solidFill>
                <a:prstDash val="solid"/>
                <a:round/>
              </a:ln>
              <a:effectLst/>
            </c:spPr>
          </c:marker>
          <c:cat>
            <c:multiLvlStrRef>
              <c:f>Sheet1!$A$2:$A$5</c:f>
              <c:multiLvlStrCache>
                <c:ptCount val="4"/>
                <c:lvl>
                  <c:pt idx="0">
                    <c:v>1,043</c:v>
                  </c:pt>
                  <c:pt idx="1">
                    <c:v>2,607</c:v>
                  </c:pt>
                  <c:pt idx="2">
                    <c:v>5,214</c:v>
                  </c:pt>
                  <c:pt idx="3">
                    <c:v>10,427</c:v>
                  </c:pt>
                </c:lvl>
              </c:multiLvlStrCache>
            </c:multiLvlStrRef>
          </c:cat>
          <c:val>
            <c:numRef>
              <c:f>Sheet1!$B$2:$B$5</c:f>
              <c:numCache>
                <c:formatCode>General</c:formatCode>
                <c:ptCount val="4"/>
                <c:pt idx="0">
                  <c:v>114.7</c:v>
                </c:pt>
                <c:pt idx="1">
                  <c:v>96.64</c:v>
                </c:pt>
                <c:pt idx="2">
                  <c:v>89.32</c:v>
                </c:pt>
                <c:pt idx="3">
                  <c:v>88.6</c:v>
                </c:pt>
              </c:numCache>
            </c:numRef>
          </c:val>
          <c:smooth val="0"/>
        </c:ser>
        <c:ser>
          <c:idx val="1"/>
          <c:order val="1"/>
          <c:tx>
            <c:strRef>
              <c:f>Sheet1!$C$1</c:f>
              <c:strCache>
                <c:ptCount val="1"/>
                <c:pt idx="0">
                  <c:v>Mixup</c:v>
                </c:pt>
              </c:strCache>
            </c:strRef>
          </c:tx>
          <c:spPr>
            <a:solidFill>
              <a:srgbClr val="C9A227"/>
            </a:solidFill>
            <a:ln w="25400" cap="flat">
              <a:solidFill>
                <a:srgbClr val="C9A227"/>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circle"/>
            <c:size val="7"/>
            <c:spPr>
              <a:solidFill>
                <a:srgbClr val="C9A227"/>
              </a:solidFill>
              <a:ln w="9525" cap="flat">
                <a:solidFill>
                  <a:srgbClr val="C9A227"/>
                </a:solidFill>
                <a:prstDash val="solid"/>
                <a:round/>
              </a:ln>
              <a:effectLst/>
            </c:spPr>
          </c:marker>
          <c:cat>
            <c:multiLvlStrRef>
              <c:f>Sheet1!$A$2:$A$5</c:f>
              <c:multiLvlStrCache>
                <c:ptCount val="4"/>
                <c:lvl>
                  <c:pt idx="0">
                    <c:v>1,043</c:v>
                  </c:pt>
                  <c:pt idx="1">
                    <c:v>2,607</c:v>
                  </c:pt>
                  <c:pt idx="2">
                    <c:v>5,214</c:v>
                  </c:pt>
                  <c:pt idx="3">
                    <c:v>10,427</c:v>
                  </c:pt>
                </c:lvl>
              </c:multiLvlStrCache>
            </c:multiLvlStrRef>
          </c:cat>
          <c:val>
            <c:numRef>
              <c:f>Sheet1!$C$2:$C$5</c:f>
              <c:numCache>
                <c:formatCode>General</c:formatCode>
                <c:ptCount val="4"/>
                <c:pt idx="0">
                  <c:v>118.24</c:v>
                </c:pt>
                <c:pt idx="1">
                  <c:v>101.34</c:v>
                </c:pt>
                <c:pt idx="2">
                  <c:v>95.56</c:v>
                </c:pt>
                <c:pt idx="3">
                  <c:v>91.62</c:v>
                </c:pt>
              </c:numCache>
            </c:numRef>
          </c:val>
          <c:smooth val="0"/>
        </c:ser>
        <c:ser>
          <c:idx val="2"/>
          <c:order val="2"/>
          <c:tx>
            <c:strRef>
              <c:f>Sheet1!$D$1</c:f>
              <c:strCache>
                <c:ptCount val="1"/>
                <c:pt idx="0">
                  <c:v>Global kNN</c:v>
                </c:pt>
              </c:strCache>
            </c:strRef>
          </c:tx>
          <c:spPr>
            <a:solidFill>
              <a:srgbClr val="2F9BB8"/>
            </a:solidFill>
            <a:ln w="25400" cap="flat">
              <a:solidFill>
                <a:srgbClr val="2F9BB8"/>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circle"/>
            <c:size val="7"/>
            <c:spPr>
              <a:solidFill>
                <a:srgbClr val="2F9BB8"/>
              </a:solidFill>
              <a:ln w="9525" cap="flat">
                <a:solidFill>
                  <a:srgbClr val="2F9BB8"/>
                </a:solidFill>
                <a:prstDash val="solid"/>
                <a:round/>
              </a:ln>
              <a:effectLst/>
            </c:spPr>
          </c:marker>
          <c:cat>
            <c:multiLvlStrRef>
              <c:f>Sheet1!$A$2:$A$5</c:f>
              <c:multiLvlStrCache>
                <c:ptCount val="4"/>
                <c:lvl>
                  <c:pt idx="0">
                    <c:v>1,043</c:v>
                  </c:pt>
                  <c:pt idx="1">
                    <c:v>2,607</c:v>
                  </c:pt>
                  <c:pt idx="2">
                    <c:v>5,214</c:v>
                  </c:pt>
                  <c:pt idx="3">
                    <c:v>10,427</c:v>
                  </c:pt>
                </c:lvl>
              </c:multiLvlStrCache>
            </c:multiLvlStrRef>
          </c:cat>
          <c:val>
            <c:numRef>
              <c:f>Sheet1!$D$2:$D$5</c:f>
              <c:numCache>
                <c:formatCode>General</c:formatCode>
                <c:ptCount val="4"/>
                <c:pt idx="0">
                  <c:v>120.49</c:v>
                </c:pt>
                <c:pt idx="1">
                  <c:v>109.46</c:v>
                </c:pt>
                <c:pt idx="2">
                  <c:v>101.23</c:v>
                </c:pt>
                <c:pt idx="3">
                  <c:v>90.74</c:v>
                </c:pt>
              </c:numCache>
            </c:numRef>
          </c:val>
          <c:smooth val="0"/>
        </c:ser>
        <c:ser>
          <c:idx val="3"/>
          <c:order val="3"/>
          <c:tx>
            <c:strRef>
              <c:f>Sheet1!$E$1</c:f>
              <c:strCache>
                <c:ptCount val="1"/>
                <c:pt idx="0">
                  <c:v>RegMix</c:v>
                </c:pt>
              </c:strCache>
            </c:strRef>
          </c:tx>
          <c:spPr>
            <a:solidFill>
              <a:srgbClr val="C0392B"/>
            </a:solidFill>
            <a:ln w="25400" cap="flat">
              <a:solidFill>
                <a:srgbClr val="C0392B"/>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circle"/>
            <c:size val="7"/>
            <c:spPr>
              <a:solidFill>
                <a:srgbClr val="C0392B"/>
              </a:solidFill>
              <a:ln w="9525" cap="flat">
                <a:solidFill>
                  <a:srgbClr val="C0392B"/>
                </a:solidFill>
                <a:prstDash val="solid"/>
                <a:round/>
              </a:ln>
              <a:effectLst/>
            </c:spPr>
          </c:marker>
          <c:cat>
            <c:multiLvlStrRef>
              <c:f>Sheet1!$A$2:$A$5</c:f>
              <c:multiLvlStrCache>
                <c:ptCount val="4"/>
                <c:lvl>
                  <c:pt idx="0">
                    <c:v>1,043</c:v>
                  </c:pt>
                  <c:pt idx="1">
                    <c:v>2,607</c:v>
                  </c:pt>
                  <c:pt idx="2">
                    <c:v>5,214</c:v>
                  </c:pt>
                  <c:pt idx="3">
                    <c:v>10,427</c:v>
                  </c:pt>
                </c:lvl>
              </c:multiLvlStrCache>
            </c:multiLvlStrRef>
          </c:cat>
          <c:val>
            <c:numRef>
              <c:f>Sheet1!$E$2:$E$5</c:f>
              <c:numCache>
                <c:formatCode>General</c:formatCode>
                <c:ptCount val="4"/>
                <c:pt idx="0">
                  <c:v>120.75</c:v>
                </c:pt>
                <c:pt idx="1">
                  <c:v>108.51</c:v>
                </c:pt>
                <c:pt idx="2">
                  <c:v>103.35</c:v>
                </c:pt>
                <c:pt idx="3">
                  <c:v>95.05</c:v>
                </c:pt>
              </c:numCache>
            </c:numRef>
          </c:val>
          <c:smooth val="0"/>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0"/>
        <c:axPos val="b"/>
        <c:title>
          <c:tx>
            <c:rich>
              <a:bodyPr/>
              <a:lstStyle/>
              <a:p>
                <a:pPr>
                  <a:defRPr sz="1100" b="0" i="0" u="none" strike="noStrike">
                    <a:solidFill>
                      <a:srgbClr val="64748B"/>
                    </a:solidFill>
                    <a:latin typeface="Arial"/>
                  </a:defRPr>
                </a:pPr>
                <a:r>
                  <a:rPr sz="1100" b="0" i="0" u="none" strike="noStrike">
                    <a:solidFill>
                      <a:srgbClr val="64748B"/>
                    </a:solidFill>
                    <a:latin typeface="Arial"/>
                  </a:rPr>
                  <a:t>Training examples</a:t>
                </a:r>
              </a:p>
            </c:rich>
          </c:tx>
          <c:layout/>
          <c:overlay val="0"/>
        </c:title>
        <c:numFmt formatCode="General" sourceLinked="1"/>
        <c:majorTickMark val="out"/>
        <c:minorTickMark val="none"/>
        <c:tickLblPos val="low"/>
        <c:spPr>
          <a:ln w="12700" cap="flat">
            <a:solidFill>
              <a:srgbClr val="888888"/>
            </a:solidFill>
            <a:prstDash val="solid"/>
            <a:round/>
          </a:ln>
        </c:spPr>
        <c:txPr>
          <a:bodyPr/>
          <a:lstStyle/>
          <a:p>
            <a:pPr>
              <a:defRPr sz="1100" b="0" i="0" u="none" strike="noStrike">
                <a:solidFill>
                  <a:srgbClr val="273449"/>
                </a:solidFill>
                <a:latin typeface="Calibri"/>
              </a:defRPr>
            </a:pPr>
            <a:endParaRPr lang="en-US"/>
          </a:p>
        </c:txPr>
        <c:crossAx val="2094734552"/>
        <c:crosses val="autoZero"/>
        <c:auto val="1"/>
        <c:lblAlgn val="ctr"/>
        <c:noMultiLvlLbl val="1"/>
      </c:catAx>
      <c:valAx>
        <c:axId val="2094734552"/>
        <c:scaling>
          <c:orientation val="minMax"/>
          <c:max val="125"/>
          <c:min val="80"/>
        </c:scaling>
        <c:delete val="0"/>
        <c:axPos val="l"/>
        <c:majorGridlines>
          <c:spPr>
            <a:ln w="6350" cap="flat">
              <a:solidFill>
                <a:srgbClr val="E2E8F0"/>
              </a:solidFill>
              <a:prstDash val="solid"/>
              <a:round/>
            </a:ln>
          </c:spPr>
        </c:majorGridlines>
        <c:title>
          <c:tx>
            <c:rich>
              <a:bodyPr/>
              <a:lstStyle/>
              <a:p>
                <a:pPr>
                  <a:defRPr sz="1100" b="0" i="0" u="none" strike="noStrike">
                    <a:solidFill>
                      <a:srgbClr val="64748B"/>
                    </a:solidFill>
                    <a:latin typeface="Arial"/>
                  </a:defRPr>
                </a:pPr>
                <a:r>
                  <a:rPr sz="1100" b="0" i="0" u="none" strike="noStrike">
                    <a:solidFill>
                      <a:srgbClr val="64748B"/>
                    </a:solidFill>
                    <a:latin typeface="Arial"/>
                  </a:rPr>
                  <a:t>RMSE (bikes/h)</a:t>
                </a:r>
              </a:p>
            </c:rich>
          </c:tx>
          <c:layout/>
          <c:overlay val="0"/>
        </c:title>
        <c:numFmt formatCode="General" sourceLinked="0"/>
        <c:majorTickMark val="out"/>
        <c:minorTickMark val="none"/>
        <c:tickLblPos val="nextTo"/>
        <c:spPr>
          <a:ln w="12700" cap="flat">
            <a:solidFill>
              <a:srgbClr val="888888"/>
            </a:solidFill>
            <a:prstDash val="solid"/>
            <a:round/>
          </a:ln>
        </c:spPr>
        <c:txPr>
          <a:bodyPr/>
          <a:lstStyle/>
          <a:p>
            <a:pPr>
              <a:defRPr sz="1100" b="0" i="0" u="none" strike="noStrike">
                <a:solidFill>
                  <a:srgbClr val="273449"/>
                </a:solidFill>
                <a:latin typeface="Calibri"/>
              </a:defRPr>
            </a:pPr>
            <a:endParaRPr lang="en-US"/>
          </a:p>
        </c:txPr>
        <c:crossAx val="2094734554"/>
        <c:crosses val="autoZero"/>
        <c:crossBetween val="between"/>
      </c:valAx>
      <c:spPr>
        <a:noFill/>
        <a:ln>
          <a:noFill/>
        </a:ln>
        <a:effectLst/>
      </c:spPr>
    </c:plotArea>
    <c:legend>
      <c:legendPos val="b"/>
      <c:overlay val="0"/>
      <c:txPr>
        <a:bodyPr/>
        <a:lstStyle/>
        <a:p>
          <a:pPr>
            <a:defRPr sz="1100">
              <a:latin typeface="Calibri"/>
              <a:cs typeface="Calibri"/>
            </a:defRPr>
          </a:pPr>
          <a:endParaRPr lang="en-US"/>
        </a:p>
      </c:txPr>
    </c:legend>
    <c:plotVisOnly val="1"/>
    <c:dispBlanksAs val="span"/>
  </c:chart>
  <c:spPr>
    <a:noFill/>
    <a:ln>
      <a:noFill/>
    </a:ln>
    <a:effectLst/>
  </c:sp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300" b="0" i="0" u="none" strike="noStrike">
                <a:solidFill>
                  <a:srgbClr val="142D4E"/>
                </a:solidFill>
                <a:latin typeface="Calibri"/>
              </a:defRPr>
            </a:pPr>
            <a:r>
              <a:rPr sz="1300" b="0" i="0" u="none" strike="noStrike">
                <a:solidFill>
                  <a:srgbClr val="142D4E"/>
                </a:solidFill>
                <a:latin typeface="Calibri"/>
              </a:rPr>
              <a:t>Training time at n = 300 (s)</a:t>
            </a:r>
          </a:p>
        </c:rich>
      </c:tx>
      <c:layout/>
      <c:overlay val="0"/>
    </c:title>
    <c:autoTitleDeleted val="0"/>
    <c:plotArea>
      <c:layout/>
      <c:barChart>
        <c:barDir val="col"/>
        <c:grouping val="clustered"/>
        <c:varyColors val="0"/>
        <c:ser>
          <c:idx val="0"/>
          <c:order val="0"/>
          <c:tx>
            <c:strRef>
              <c:f>Sheet1!$B$1</c:f>
              <c:strCache>
                <c:ptCount val="1"/>
                <c:pt idx="0">
                  <c:v>Time (s)</c:v>
                </c:pt>
              </c:strCache>
            </c:strRef>
          </c:tx>
          <c:spPr>
            <a:solidFill>
              <a:srgbClr val="142D4E"/>
            </a:solidFill>
            <a:effectLst/>
          </c:spPr>
          <c:invertIfNegative val="0"/>
          <c:dLbls>
            <c:numFmt formatCode="#,##0" sourceLinked="0"/>
            <c:txPr>
              <a:bodyPr/>
              <a:lstStyle/>
              <a:p>
                <a:pPr>
                  <a:defRPr b="0" i="0" strike="noStrike" sz="1100" u="none">
                    <a:solidFill>
                      <a:srgbClr val="000000"/>
                    </a:solidFill>
                    <a:latin typeface="Arial"/>
                  </a:defRPr>
                </a:pPr>
              </a:p>
            </c:txPr>
            <c:showLegendKey val="0"/>
            <c:showVal val="1"/>
            <c:showCatName val="0"/>
            <c:showSerName val="0"/>
            <c:showPercent val="0"/>
            <c:showBubbleSize val="0"/>
            <c:showLeaderLines val="0"/>
          </c:dLbls>
          <c:dPt>
            <c:idx val="0"/>
            <c:invertIfNegative val="0"/>
            <c:bubble3D val="0"/>
            <c:spPr>
              <a:solidFill>
                <a:srgbClr val="142D4E"/>
              </a:solidFill>
              <a:effectLst/>
            </c:spPr>
          </c:dPt>
          <c:dPt>
            <c:idx val="1"/>
            <c:invertIfNegative val="0"/>
            <c:bubble3D val="0"/>
            <c:spPr>
              <a:solidFill>
                <a:srgbClr val="142D4E"/>
              </a:solidFill>
              <a:effectLst/>
            </c:spPr>
          </c:dPt>
          <c:dPt>
            <c:idx val="2"/>
            <c:invertIfNegative val="0"/>
            <c:bubble3D val="0"/>
            <c:spPr>
              <a:solidFill>
                <a:srgbClr val="142D4E"/>
              </a:solidFill>
              <a:effectLst/>
            </c:spPr>
          </c:dPt>
          <c:dPt>
            <c:idx val="3"/>
            <c:invertIfNegative val="0"/>
            <c:bubble3D val="0"/>
            <c:spPr>
              <a:solidFill>
                <a:srgbClr val="0F766E"/>
              </a:solidFill>
              <a:effectLst/>
            </c:spPr>
          </c:dPt>
          <c:cat>
            <c:multiLvlStrRef>
              <c:f>Sheet1!$A$2:$A$5</c:f>
              <c:multiLvlStrCache>
                <c:ptCount val="4"/>
                <c:lvl>
                  <c:pt idx="0">
                    <c:v>Vanilla</c:v>
                  </c:pt>
                  <c:pt idx="1">
                    <c:v>Mixup</c:v>
                  </c:pt>
                  <c:pt idx="2">
                    <c:v>Global kNN</c:v>
                  </c:pt>
                  <c:pt idx="3">
                    <c:v>RegMix</c:v>
                  </c:pt>
                </c:lvl>
              </c:multiLvlStrCache>
            </c:multiLvlStrRef>
          </c:cat>
          <c:val>
            <c:numRef>
              <c:f>Sheet1!$B$2:$B$5</c:f>
              <c:numCache>
                <c:formatCode>General</c:formatCode>
                <c:ptCount val="4"/>
                <c:pt idx="0">
                  <c:v>20.67</c:v>
                </c:pt>
                <c:pt idx="1">
                  <c:v>7.72</c:v>
                </c:pt>
                <c:pt idx="2">
                  <c:v>32.69</c:v>
                </c:pt>
                <c:pt idx="3">
                  <c:v>163.76</c:v>
                </c:pt>
              </c:numCache>
            </c:numRef>
          </c:val>
        </c:ser>
        <c:dLbls>
          <c:numFmt formatCode="#,##0" sourceLinked="0"/>
          <c:txPr>
            <a:bodyPr/>
            <a:lstStyle/>
            <a:p>
              <a:pPr>
                <a:defRPr b="0" i="0" strike="noStrike" sz="1100" u="none">
                  <a:solidFill>
                    <a:srgbClr val="000000"/>
                  </a:solidFill>
                  <a:latin typeface="Arial"/>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100" b="0" i="0" u="none" strike="noStrike">
                <a:solidFill>
                  <a:srgbClr val="273449"/>
                </a:solidFill>
                <a:latin typeface="Calibri"/>
              </a:defRPr>
            </a:pPr>
            <a:endParaRPr lang="en-US"/>
          </a:p>
        </c:txPr>
        <c:crossAx val="2094734552"/>
        <c:crosses val="autoZero"/>
        <c:auto val="1"/>
        <c:lblAlgn val="ctr"/>
        <c:noMultiLvlLbl val="1"/>
      </c:catAx>
      <c:valAx>
        <c:axId val="2094734552"/>
        <c:scaling>
          <c:orientation val="minMax"/>
          <c:max val="190"/>
          <c:min val="0"/>
        </c:scaling>
        <c:delete val="0"/>
        <c:axPos val="l"/>
        <c:majorGridlines>
          <c:spPr>
            <a:ln w="6350" cap="flat">
              <a:solidFill>
                <a:srgbClr val="E2E8F0"/>
              </a:solidFill>
              <a:prstDash val="solid"/>
              <a:round/>
            </a:ln>
          </c:spPr>
        </c:majorGridlines>
        <c:title>
          <c:tx>
            <c:rich>
              <a:bodyPr/>
              <a:lstStyle/>
              <a:p>
                <a:pPr>
                  <a:defRPr sz="1100" b="0" i="0" u="none" strike="noStrike">
                    <a:solidFill>
                      <a:srgbClr val="64748B"/>
                    </a:solidFill>
                    <a:latin typeface="Arial"/>
                  </a:defRPr>
                </a:pPr>
                <a:r>
                  <a:rPr sz="1100" b="0" i="0" u="none" strike="noStrike">
                    <a:solidFill>
                      <a:srgbClr val="64748B"/>
                    </a:solidFill>
                    <a:latin typeface="Arial"/>
                  </a:rPr>
                  <a:t>seconds</a:t>
                </a:r>
              </a:p>
            </c:rich>
          </c:tx>
          <c:layout/>
          <c:overlay val="0"/>
        </c:title>
        <c:numFmt formatCode="General" sourceLinked="0"/>
        <c:majorTickMark val="out"/>
        <c:minorTickMark val="none"/>
        <c:tickLblPos val="nextTo"/>
        <c:spPr>
          <a:ln w="12700" cap="flat">
            <a:solidFill>
              <a:srgbClr val="888888"/>
            </a:solidFill>
            <a:prstDash val="solid"/>
            <a:round/>
          </a:ln>
        </c:spPr>
        <c:txPr>
          <a:bodyPr/>
          <a:lstStyle/>
          <a:p>
            <a:pPr>
              <a:defRPr sz="1100" b="0" i="0" u="none" strike="noStrike">
                <a:solidFill>
                  <a:srgbClr val="273449"/>
                </a:solidFill>
                <a:latin typeface="Calibri"/>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Introduce the group and the title. This study compares Vanilla training, Mixup, global kNN mixing and a reduced-budget RegMix on hourly bike rental demand.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Operators need demand forecasts to allocate and rebalance bikes. Labelled histories are often small, so regularisation matters. Augmentation can help without new data. Mixup was made for classification, so its use in regression is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problem: in regression, mixing far-apart examples can give a label that does not match the mixed input. RegMix limits this, but its Bike evidence is narrow: one of four datasets, random subset, no chronological test. We ask five questions.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Mixup is the base method. Manifold intrusion explains why distant mixing hurts. RegMix learns a neighbour count per example with reinforcement learning. C-Mixup samples partners by label similarity. Our contribution is an evaluation, not a new algorithm.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Walk through the eight steps. Same preprocessing, model and splits for every method; only the augmentation differs. Test set is used once.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Two protocols answer different questions. The reproduction-style one follows the Bike setting of the RegMix paper. The chronological one tests on a later period. Learning rate chosen once per protocol on Vanilla only.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Vanilla trains on originals. Mixup picks alpha on validation. Global kNN picks one k. RegMix: a controller samples 20 policies, a model is trained under each, validation loss becomes the reward, and PPO updates the controller. We ran only 40 iterations; the original paper plots up to 300 episodes.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RegMix has the lowest mean error at 30 examples and wins in five of five seeds, but the gain is not significant after Holm correction. At 300 examples Vanilla is best and RegMix is worst.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Under chronological testing no augmentation method beat Vanilla at any size. RegMix was run at all four sizes and was worse than Vanilla at each, by 6.1, 11.9, 14.0 and 6.5 bikes per hour, none significant after Holm correction.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search costs about 154 seconds per run regardless of setting. At 300 examples RegMix needs about 8 times Vanilla, and about 14 times at 10,427 chronological rows. The learned policy stayed near uniform, so we cannot claim the controller learned a sharp selection.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RQ1 and RQ2: little benefit, only at tiny random sets. RQ3: advantage vanishes by 150 examples. RQ4: consistent: Vanilla is best chronologically. RQ5: RegMix costs 8 to 14 times more training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Table shows the Bike numbers published by Hwang and Whang. They are not our results. Their RMSE exceeds the standard deviation of our target, so the setting differs and we do not compare numerically.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Limits: one system and two years, five seeds, reduced RegMix budget with near-uniform policy. Future: longer search, random-policy control, other cities and periods, C-Mixup, temporal models.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 this dataset augmentation did not reliably help. RegMix helped only for tiny random sets and not significantly. With a few hundred or more records, plain training is a strong baseline. Conclusions apply to one system and a reduced search budget.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Thank the audience and take questions. The full IEEE-format reference list is in the paper.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CONTENT">
    <p:bg>
      <p:bgPr>
        <a:solidFill>
          <a:srgbClr val="F8FAFC"/>
        </a:solidFill>
      </p:bgPr>
    </p:bg>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8412480" y="4773168"/>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4748B"/>
                </a:solidFill>
                <a:latin typeface="Calibri"/>
                <a:ea typeface="Calibri"/>
                <a:cs typeface="Calibri"/>
              </a:defRPr>
            </a:lvl1pPr>
          </a:lstStyle>
          <a:p>
            <a:pPr algn="l"/>
            <a:fld id="{F7021451-1387-4CA6-816F-3879F97B5CBC}" type="slidenum">
              <a:rPr b="0" lang="en-US"/>
              <a:t>1002</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8412480" y="4773168"/>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4748B"/>
                </a:solidFill>
                <a:latin typeface="Calibri"/>
                <a:ea typeface="Calibri"/>
                <a:cs typeface="Calibri"/>
              </a:defRPr>
            </a:lvl1pPr>
          </a:lstStyle>
          <a:p>
            <a:pPr algn="l"/>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2.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chart" Target="/ppt/charts/chart2.xml"/><Relationship Id="rId2" Type="http://schemas.openxmlformats.org/officeDocument/2006/relationships/slideLayout" Target="../slideLayouts/slideLayout2.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chart" Target="/ppt/charts/chart3.xml"/><Relationship Id="rId2" Type="http://schemas.openxmlformats.org/officeDocument/2006/relationships/slideLayout" Target="../slideLayouts/slideLayout2.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Shape 0"/>
          <p:cNvSpPr/>
          <p:nvPr/>
        </p:nvSpPr>
        <p:spPr>
          <a:xfrm>
            <a:off x="0" y="0"/>
            <a:ext cx="201168" cy="5143500"/>
          </a:xfrm>
          <a:prstGeom prst="rect">
            <a:avLst/>
          </a:prstGeom>
          <a:solidFill>
            <a:srgbClr val="0F766E"/>
          </a:solidFill>
          <a:ln w="12700">
            <a:solidFill>
              <a:srgbClr val="0F766E"/>
            </a:solidFill>
            <a:prstDash val="solid"/>
          </a:ln>
        </p:spPr>
      </p:sp>
      <p:sp>
        <p:nvSpPr>
          <p:cNvPr id="3" name="Text 1"/>
          <p:cNvSpPr txBox="1"/>
          <p:nvPr/>
        </p:nvSpPr>
        <p:spPr>
          <a:xfrm>
            <a:off x="640080" y="502920"/>
            <a:ext cx="7955280" cy="1554480"/>
          </a:xfrm>
          <a:prstGeom prst="rect">
            <a:avLst/>
          </a:prstGeom>
          <a:noFill/>
          <a:ln/>
        </p:spPr>
        <p:txBody>
          <a:bodyPr wrap="square" lIns="0" tIns="0" rIns="0" bIns="0" rtlCol="0" anchor="t"/>
          <a:lstStyle/>
          <a:p>
            <a:pPr indent="0" marL="0">
              <a:buNone/>
            </a:pPr>
            <a:r>
              <a:rPr lang="en-US" sz="3000" b="1" dirty="0">
                <a:solidFill>
                  <a:srgbClr val="142D4E"/>
                </a:solidFill>
                <a:latin typeface="Calibri" pitchFamily="34" charset="0"/>
                <a:ea typeface="Calibri" pitchFamily="34" charset="-122"/>
                <a:cs typeface="Calibri" pitchFamily="34" charset="-120"/>
              </a:rPr>
              <a:t>Improving Bike Rental Demand Prediction Through Data Augmentation: Vanilla Training, Mixup and RegMix Compared</a:t>
            </a:r>
            <a:endParaRPr lang="en-US" sz="3000" dirty="0"/>
          </a:p>
        </p:txBody>
      </p:sp>
      <p:sp>
        <p:nvSpPr>
          <p:cNvPr id="4" name="Text 2"/>
          <p:cNvSpPr txBox="1"/>
          <p:nvPr/>
        </p:nvSpPr>
        <p:spPr>
          <a:xfrm>
            <a:off x="640080" y="2103120"/>
            <a:ext cx="2743200" cy="365760"/>
          </a:xfrm>
          <a:prstGeom prst="rect">
            <a:avLst/>
          </a:prstGeom>
          <a:noFill/>
          <a:ln/>
        </p:spPr>
        <p:txBody>
          <a:bodyPr wrap="square" lIns="0" tIns="0" rIns="0" bIns="0" rtlCol="0" anchor="ctr"/>
          <a:lstStyle/>
          <a:p>
            <a:pPr indent="0" marL="0">
              <a:buNone/>
            </a:pPr>
            <a:r>
              <a:rPr lang="en-US" sz="1800" b="1" dirty="0">
                <a:solidFill>
                  <a:srgbClr val="0F766E"/>
                </a:solidFill>
                <a:latin typeface="Calibri" pitchFamily="34" charset="0"/>
                <a:ea typeface="Calibri" pitchFamily="34" charset="-122"/>
                <a:cs typeface="Calibri" pitchFamily="34" charset="-120"/>
              </a:rPr>
              <a:t>Group ID: 5</a:t>
            </a:r>
            <a:endParaRPr lang="en-US" sz="1800" dirty="0"/>
          </a:p>
        </p:txBody>
      </p:sp>
      <p:sp>
        <p:nvSpPr>
          <p:cNvPr id="5" name="Text 3"/>
          <p:cNvSpPr txBox="1"/>
          <p:nvPr/>
        </p:nvSpPr>
        <p:spPr>
          <a:xfrm>
            <a:off x="640080" y="2487168"/>
            <a:ext cx="7955280" cy="457200"/>
          </a:xfrm>
          <a:prstGeom prst="rect">
            <a:avLst/>
          </a:prstGeom>
          <a:noFill/>
          <a:ln/>
        </p:spPr>
        <p:txBody>
          <a:bodyPr wrap="square" lIns="0" tIns="0" rIns="0" bIns="0" rtlCol="0" anchor="ctr"/>
          <a:lstStyle/>
          <a:p>
            <a:pPr indent="0" marL="0">
              <a:buNone/>
            </a:pPr>
            <a:r>
              <a:rPr lang="en-US" sz="1300" dirty="0">
                <a:solidFill>
                  <a:srgbClr val="64748B"/>
                </a:solidFill>
                <a:latin typeface="Calibri" pitchFamily="34" charset="0"/>
                <a:ea typeface="Calibri" pitchFamily="34" charset="-122"/>
                <a:cs typeface="Calibri" pitchFamily="34" charset="-120"/>
              </a:rPr>
              <a:t>Department of Computer Engineering (Regional Language), Pimpri Chinchwad College of Engineering (PCCOE), Pune, India</a:t>
            </a:r>
            <a:endParaRPr lang="en-US" sz="1300" dirty="0"/>
          </a:p>
        </p:txBody>
      </p:sp>
      <p:sp>
        <p:nvSpPr>
          <p:cNvPr id="6" name="Shape 4"/>
          <p:cNvSpPr/>
          <p:nvPr/>
        </p:nvSpPr>
        <p:spPr>
          <a:xfrm>
            <a:off x="640080" y="3337560"/>
            <a:ext cx="2514600" cy="1005840"/>
          </a:xfrm>
          <a:prstGeom prst="rect">
            <a:avLst/>
          </a:prstGeom>
          <a:solidFill>
            <a:srgbClr val="FFFFFF"/>
          </a:solidFill>
          <a:ln w="9525">
            <a:solidFill>
              <a:srgbClr val="DDE3EA"/>
            </a:solidFill>
            <a:prstDash val="solid"/>
          </a:ln>
        </p:spPr>
      </p:sp>
      <p:sp>
        <p:nvSpPr>
          <p:cNvPr id="7" name="Shape 5"/>
          <p:cNvSpPr/>
          <p:nvPr/>
        </p:nvSpPr>
        <p:spPr>
          <a:xfrm>
            <a:off x="640080" y="3337560"/>
            <a:ext cx="2514600" cy="54864"/>
          </a:xfrm>
          <a:prstGeom prst="rect">
            <a:avLst/>
          </a:prstGeom>
          <a:solidFill>
            <a:srgbClr val="0F766E"/>
          </a:solidFill>
          <a:ln w="12700">
            <a:solidFill>
              <a:srgbClr val="0F766E"/>
            </a:solidFill>
            <a:prstDash val="solid"/>
          </a:ln>
        </p:spPr>
      </p:sp>
      <p:sp>
        <p:nvSpPr>
          <p:cNvPr id="8" name="Text 6"/>
          <p:cNvSpPr txBox="1"/>
          <p:nvPr/>
        </p:nvSpPr>
        <p:spPr>
          <a:xfrm>
            <a:off x="777240" y="3456432"/>
            <a:ext cx="2286000" cy="822960"/>
          </a:xfrm>
          <a:prstGeom prst="rect">
            <a:avLst/>
          </a:prstGeom>
          <a:noFill/>
          <a:ln/>
        </p:spPr>
        <p:txBody>
          <a:bodyPr wrap="square" lIns="0" tIns="0" rIns="0" bIns="0" rtlCol="0" anchor="ctr"/>
          <a:lstStyle/>
          <a:p>
            <a:pPr indent="0" marL="0">
              <a:buNone/>
            </a:pPr>
            <a:r>
              <a:rPr lang="en-US" sz="1700" b="1" dirty="0">
                <a:solidFill>
                  <a:srgbClr val="142D4E"/>
                </a:solidFill>
                <a:latin typeface="Calibri" pitchFamily="34" charset="0"/>
                <a:ea typeface="Calibri" pitchFamily="34" charset="-122"/>
                <a:cs typeface="Calibri" pitchFamily="34" charset="-120"/>
              </a:rPr>
              <a:t>Amit Jadhav</a:t>
            </a:r>
            <a:endParaRPr lang="en-US" sz="1700" dirty="0"/>
          </a:p>
          <a:p>
            <a:pPr indent="0" marL="0">
              <a:buNone/>
            </a:pPr>
            <a:r>
              <a:rPr lang="en-US" sz="1400" dirty="0">
                <a:solidFill>
                  <a:srgbClr val="273449"/>
                </a:solidFill>
                <a:latin typeface="Calibri" pitchFamily="34" charset="0"/>
                <a:ea typeface="Calibri" pitchFamily="34" charset="-122"/>
                <a:cs typeface="Calibri" pitchFamily="34" charset="-120"/>
              </a:rPr>
              <a:t>PRN: 124B1D028</a:t>
            </a:r>
            <a:endParaRPr lang="en-US" sz="1700" dirty="0"/>
          </a:p>
        </p:txBody>
      </p:sp>
      <p:sp>
        <p:nvSpPr>
          <p:cNvPr id="9" name="Shape 7"/>
          <p:cNvSpPr/>
          <p:nvPr/>
        </p:nvSpPr>
        <p:spPr>
          <a:xfrm>
            <a:off x="3337560" y="3337560"/>
            <a:ext cx="2514600" cy="1005840"/>
          </a:xfrm>
          <a:prstGeom prst="rect">
            <a:avLst/>
          </a:prstGeom>
          <a:solidFill>
            <a:srgbClr val="FFFFFF"/>
          </a:solidFill>
          <a:ln w="9525">
            <a:solidFill>
              <a:srgbClr val="DDE3EA"/>
            </a:solidFill>
            <a:prstDash val="solid"/>
          </a:ln>
        </p:spPr>
      </p:sp>
      <p:sp>
        <p:nvSpPr>
          <p:cNvPr id="10" name="Shape 8"/>
          <p:cNvSpPr/>
          <p:nvPr/>
        </p:nvSpPr>
        <p:spPr>
          <a:xfrm>
            <a:off x="3337560" y="3337560"/>
            <a:ext cx="2514600" cy="54864"/>
          </a:xfrm>
          <a:prstGeom prst="rect">
            <a:avLst/>
          </a:prstGeom>
          <a:solidFill>
            <a:srgbClr val="0F766E"/>
          </a:solidFill>
          <a:ln w="12700">
            <a:solidFill>
              <a:srgbClr val="0F766E"/>
            </a:solidFill>
            <a:prstDash val="solid"/>
          </a:ln>
        </p:spPr>
      </p:sp>
      <p:sp>
        <p:nvSpPr>
          <p:cNvPr id="11" name="Text 9"/>
          <p:cNvSpPr txBox="1"/>
          <p:nvPr/>
        </p:nvSpPr>
        <p:spPr>
          <a:xfrm>
            <a:off x="3474720" y="3456432"/>
            <a:ext cx="2286000" cy="822960"/>
          </a:xfrm>
          <a:prstGeom prst="rect">
            <a:avLst/>
          </a:prstGeom>
          <a:noFill/>
          <a:ln/>
        </p:spPr>
        <p:txBody>
          <a:bodyPr wrap="square" lIns="0" tIns="0" rIns="0" bIns="0" rtlCol="0" anchor="ctr"/>
          <a:lstStyle/>
          <a:p>
            <a:pPr indent="0" marL="0">
              <a:buNone/>
            </a:pPr>
            <a:r>
              <a:rPr lang="en-US" sz="1700" b="1" dirty="0">
                <a:solidFill>
                  <a:srgbClr val="142D4E"/>
                </a:solidFill>
                <a:latin typeface="Calibri" pitchFamily="34" charset="0"/>
                <a:ea typeface="Calibri" pitchFamily="34" charset="-122"/>
                <a:cs typeface="Calibri" pitchFamily="34" charset="-120"/>
              </a:rPr>
              <a:t>Atharva Jamathkar</a:t>
            </a:r>
            <a:endParaRPr lang="en-US" sz="1700" dirty="0"/>
          </a:p>
          <a:p>
            <a:pPr indent="0" marL="0">
              <a:buNone/>
            </a:pPr>
            <a:r>
              <a:rPr lang="en-US" sz="1400" dirty="0">
                <a:solidFill>
                  <a:srgbClr val="273449"/>
                </a:solidFill>
                <a:latin typeface="Calibri" pitchFamily="34" charset="0"/>
                <a:ea typeface="Calibri" pitchFamily="34" charset="-122"/>
                <a:cs typeface="Calibri" pitchFamily="34" charset="-120"/>
              </a:rPr>
              <a:t>PRN: 124B1D007</a:t>
            </a:r>
            <a:endParaRPr lang="en-US" sz="1700" dirty="0"/>
          </a:p>
        </p:txBody>
      </p:sp>
      <p:sp>
        <p:nvSpPr>
          <p:cNvPr id="12" name="Shape 10"/>
          <p:cNvSpPr/>
          <p:nvPr/>
        </p:nvSpPr>
        <p:spPr>
          <a:xfrm>
            <a:off x="6035040" y="3337560"/>
            <a:ext cx="2514600" cy="1005840"/>
          </a:xfrm>
          <a:prstGeom prst="rect">
            <a:avLst/>
          </a:prstGeom>
          <a:solidFill>
            <a:srgbClr val="FFFFFF"/>
          </a:solidFill>
          <a:ln w="9525">
            <a:solidFill>
              <a:srgbClr val="DDE3EA"/>
            </a:solidFill>
            <a:prstDash val="solid"/>
          </a:ln>
        </p:spPr>
      </p:sp>
      <p:sp>
        <p:nvSpPr>
          <p:cNvPr id="13" name="Shape 11"/>
          <p:cNvSpPr/>
          <p:nvPr/>
        </p:nvSpPr>
        <p:spPr>
          <a:xfrm>
            <a:off x="6035040" y="3337560"/>
            <a:ext cx="2514600" cy="54864"/>
          </a:xfrm>
          <a:prstGeom prst="rect">
            <a:avLst/>
          </a:prstGeom>
          <a:solidFill>
            <a:srgbClr val="0F766E"/>
          </a:solidFill>
          <a:ln w="12700">
            <a:solidFill>
              <a:srgbClr val="0F766E"/>
            </a:solidFill>
            <a:prstDash val="solid"/>
          </a:ln>
        </p:spPr>
      </p:sp>
      <p:sp>
        <p:nvSpPr>
          <p:cNvPr id="14" name="Text 12"/>
          <p:cNvSpPr txBox="1"/>
          <p:nvPr/>
        </p:nvSpPr>
        <p:spPr>
          <a:xfrm>
            <a:off x="6172200" y="3456432"/>
            <a:ext cx="2286000" cy="822960"/>
          </a:xfrm>
          <a:prstGeom prst="rect">
            <a:avLst/>
          </a:prstGeom>
          <a:noFill/>
          <a:ln/>
        </p:spPr>
        <p:txBody>
          <a:bodyPr wrap="square" lIns="0" tIns="0" rIns="0" bIns="0" rtlCol="0" anchor="ctr"/>
          <a:lstStyle/>
          <a:p>
            <a:pPr indent="0" marL="0">
              <a:buNone/>
            </a:pPr>
            <a:r>
              <a:rPr lang="en-US" sz="1700" b="1" dirty="0">
                <a:solidFill>
                  <a:srgbClr val="142D4E"/>
                </a:solidFill>
                <a:latin typeface="Calibri" pitchFamily="34" charset="0"/>
                <a:ea typeface="Calibri" pitchFamily="34" charset="-122"/>
                <a:cs typeface="Calibri" pitchFamily="34" charset="-120"/>
              </a:rPr>
              <a:t>Yashvardhan Agwan</a:t>
            </a:r>
            <a:endParaRPr lang="en-US" sz="1700" dirty="0"/>
          </a:p>
          <a:p>
            <a:pPr indent="0" marL="0">
              <a:buNone/>
            </a:pPr>
            <a:r>
              <a:rPr lang="en-US" sz="1400" dirty="0">
                <a:solidFill>
                  <a:srgbClr val="273449"/>
                </a:solidFill>
                <a:latin typeface="Calibri" pitchFamily="34" charset="0"/>
                <a:ea typeface="Calibri" pitchFamily="34" charset="-122"/>
                <a:cs typeface="Calibri" pitchFamily="34" charset="-120"/>
              </a:rPr>
              <a:t>PRN: 124B1D056</a:t>
            </a:r>
            <a:endParaRPr lang="en-US" sz="1700" dirty="0"/>
          </a:p>
        </p:txBody>
      </p:sp>
      <p:sp>
        <p:nvSpPr>
          <p:cNvPr id="25" name="Slide Number Placeholder 0"/>
          <p:cNvSpPr>
            <a:spLocks noGrp="1"/>
          </p:cNvSpPr>
          <p:nvPr>
            <p:ph type="sldNum" sz="quarter" idx="4294967295"/>
          </p:nvPr>
        </p:nvSpPr>
        <p:spPr>
          <a:xfrm>
            <a:off x="8412480" y="4773168"/>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4748B"/>
                </a:solidFill>
                <a:latin typeface="Calibri"/>
                <a:ea typeface="Calibri"/>
                <a:cs typeface="Calibri"/>
              </a:defRPr>
            </a:lvl1pPr>
          </a:lstStyle>
          <a:p>
            <a:pPr algn="l"/>
            <a:fld id="{F7021451-1387-4CA6-816F-3879F97B5CBC}" type="slidenum">
              <a:rPr b="0" lang="en-US"/>
              <a:t>1</a:t>
            </a:fld>
            <a:endParaRPr lang="en-US"/>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txBox="1"/>
          <p:nvPr/>
        </p:nvSpPr>
        <p:spPr>
          <a:xfrm>
            <a:off x="457200" y="256032"/>
            <a:ext cx="8229600" cy="594360"/>
          </a:xfrm>
          <a:prstGeom prst="rect">
            <a:avLst/>
          </a:prstGeom>
          <a:noFill/>
          <a:ln/>
        </p:spPr>
        <p:txBody>
          <a:bodyPr wrap="square" lIns="0" tIns="0" rIns="0" bIns="0" rtlCol="0" anchor="ctr"/>
          <a:lstStyle/>
          <a:p>
            <a:pPr indent="0" marL="0">
              <a:buNone/>
            </a:pPr>
            <a:r>
              <a:rPr lang="en-US" sz="2800" b="1" dirty="0">
                <a:solidFill>
                  <a:srgbClr val="142D4E"/>
                </a:solidFill>
                <a:latin typeface="Calibri" pitchFamily="34" charset="0"/>
                <a:ea typeface="Calibri" pitchFamily="34" charset="-122"/>
                <a:cs typeface="Calibri" pitchFamily="34" charset="-120"/>
              </a:rPr>
              <a:t>Introduction and Background</a:t>
            </a:r>
            <a:endParaRPr lang="en-US" sz="2800" dirty="0"/>
          </a:p>
        </p:txBody>
      </p:sp>
      <p:sp>
        <p:nvSpPr>
          <p:cNvPr id="3" name="Shape 1"/>
          <p:cNvSpPr/>
          <p:nvPr/>
        </p:nvSpPr>
        <p:spPr>
          <a:xfrm>
            <a:off x="457200" y="896112"/>
            <a:ext cx="822960" cy="45720"/>
          </a:xfrm>
          <a:prstGeom prst="rect">
            <a:avLst/>
          </a:prstGeom>
          <a:solidFill>
            <a:srgbClr val="0F766E"/>
          </a:solidFill>
          <a:ln w="12700">
            <a:solidFill>
              <a:srgbClr val="0F766E"/>
            </a:solidFill>
            <a:prstDash val="solid"/>
          </a:ln>
        </p:spPr>
      </p:sp>
      <p:sp>
        <p:nvSpPr>
          <p:cNvPr id="5" name="Text 2"/>
          <p:cNvSpPr txBox="1"/>
          <p:nvPr/>
        </p:nvSpPr>
        <p:spPr>
          <a:xfrm>
            <a:off x="457200" y="1143000"/>
            <a:ext cx="5120640" cy="3383280"/>
          </a:xfrm>
          <a:prstGeom prst="rect">
            <a:avLst/>
          </a:prstGeom>
          <a:noFill/>
          <a:ln/>
        </p:spPr>
        <p:txBody>
          <a:bodyPr wrap="square" lIns="635" tIns="635" rIns="635" bIns="635" rtlCol="0" anchor="t"/>
          <a:lstStyle/>
          <a:p>
            <a:pPr marL="342900" indent="-342900">
              <a:spcAft>
                <a:spcPts val="800"/>
              </a:spcAft>
              <a:buSzPct val="100000"/>
              <a:buChar char="•"/>
            </a:pPr>
            <a:r>
              <a:rPr lang="en-US" sz="1700" dirty="0">
                <a:solidFill>
                  <a:srgbClr val="273449"/>
                </a:solidFill>
                <a:latin typeface="Calibri" pitchFamily="34" charset="0"/>
                <a:ea typeface="Calibri" pitchFamily="34" charset="-122"/>
                <a:cs typeface="Calibri" pitchFamily="34" charset="-120"/>
              </a:rPr>
              <a:t>Bike-sharing operators need hourly demand forecasts for fleet allocation and rebalancing</a:t>
            </a:r>
            <a:endParaRPr lang="en-US" sz="1700" dirty="0"/>
          </a:p>
          <a:p>
            <a:pPr marL="342900" indent="-342900">
              <a:spcAft>
                <a:spcPts val="800"/>
              </a:spcAft>
              <a:buSzPct val="100000"/>
              <a:buChar char="•"/>
            </a:pPr>
            <a:r>
              <a:rPr lang="en-US" sz="1700" dirty="0">
                <a:solidFill>
                  <a:srgbClr val="273449"/>
                </a:solidFill>
                <a:latin typeface="Calibri" pitchFamily="34" charset="0"/>
                <a:ea typeface="Calibri" pitchFamily="34" charset="-122"/>
                <a:cs typeface="Calibri" pitchFamily="34" charset="-120"/>
              </a:rPr>
              <a:t>Demand models are often fitted to few labelled records; weather and calendar effects are nonlinear</a:t>
            </a:r>
            <a:endParaRPr lang="en-US" sz="1700" dirty="0"/>
          </a:p>
          <a:p>
            <a:pPr marL="342900" indent="-342900">
              <a:spcAft>
                <a:spcPts val="800"/>
              </a:spcAft>
              <a:buSzPct val="100000"/>
              <a:buChar char="•"/>
            </a:pPr>
            <a:r>
              <a:rPr lang="en-US" sz="1700" dirty="0">
                <a:solidFill>
                  <a:srgbClr val="273449"/>
                </a:solidFill>
                <a:latin typeface="Calibri" pitchFamily="34" charset="0"/>
                <a:ea typeface="Calibri" pitchFamily="34" charset="-122"/>
                <a:cs typeface="Calibri" pitchFamily="34" charset="-120"/>
              </a:rPr>
              <a:t>Data augmentation can regularise models without collecting more data</a:t>
            </a:r>
            <a:endParaRPr lang="en-US" sz="1700" dirty="0"/>
          </a:p>
          <a:p>
            <a:pPr marL="342900" indent="-342900">
              <a:spcAft>
                <a:spcPts val="800"/>
              </a:spcAft>
              <a:buSzPct val="100000"/>
              <a:buChar char="•"/>
            </a:pPr>
            <a:r>
              <a:rPr lang="en-US" sz="1700" dirty="0">
                <a:solidFill>
                  <a:srgbClr val="273449"/>
                </a:solidFill>
                <a:latin typeface="Calibri" pitchFamily="34" charset="0"/>
                <a:ea typeface="Calibri" pitchFamily="34" charset="-122"/>
                <a:cs typeface="Calibri" pitchFamily="34" charset="-120"/>
              </a:rPr>
              <a:t>Mixup interpolates inputs and labels linearly, designed for classification</a:t>
            </a:r>
            <a:endParaRPr lang="en-US" sz="1700" dirty="0"/>
          </a:p>
        </p:txBody>
      </p:sp>
      <p:sp>
        <p:nvSpPr>
          <p:cNvPr id="6" name="Shape 3"/>
          <p:cNvSpPr/>
          <p:nvPr/>
        </p:nvSpPr>
        <p:spPr>
          <a:xfrm>
            <a:off x="5852160" y="1188720"/>
            <a:ext cx="2834640" cy="1371600"/>
          </a:xfrm>
          <a:prstGeom prst="rect">
            <a:avLst/>
          </a:prstGeom>
          <a:solidFill>
            <a:srgbClr val="FFFFFF"/>
          </a:solidFill>
          <a:ln w="9525">
            <a:solidFill>
              <a:srgbClr val="DDE3EA"/>
            </a:solidFill>
            <a:prstDash val="solid"/>
          </a:ln>
        </p:spPr>
      </p:sp>
      <p:sp>
        <p:nvSpPr>
          <p:cNvPr id="7" name="Shape 4"/>
          <p:cNvSpPr/>
          <p:nvPr/>
        </p:nvSpPr>
        <p:spPr>
          <a:xfrm>
            <a:off x="5852160" y="1188720"/>
            <a:ext cx="64008" cy="1371600"/>
          </a:xfrm>
          <a:prstGeom prst="rect">
            <a:avLst/>
          </a:prstGeom>
          <a:solidFill>
            <a:srgbClr val="0F766E"/>
          </a:solidFill>
          <a:ln w="12700">
            <a:solidFill>
              <a:srgbClr val="0F766E"/>
            </a:solidFill>
            <a:prstDash val="solid"/>
          </a:ln>
        </p:spPr>
      </p:sp>
      <p:sp>
        <p:nvSpPr>
          <p:cNvPr id="8" name="Text 5"/>
          <p:cNvSpPr txBox="1"/>
          <p:nvPr/>
        </p:nvSpPr>
        <p:spPr>
          <a:xfrm>
            <a:off x="6035040" y="1261872"/>
            <a:ext cx="2560320" cy="347472"/>
          </a:xfrm>
          <a:prstGeom prst="rect">
            <a:avLst/>
          </a:prstGeom>
          <a:noFill/>
          <a:ln/>
        </p:spPr>
        <p:txBody>
          <a:bodyPr wrap="square" lIns="0" tIns="0" rIns="0" bIns="0" rtlCol="0" anchor="ctr"/>
          <a:lstStyle/>
          <a:p>
            <a:pPr indent="0" marL="0">
              <a:buNone/>
            </a:pPr>
            <a:r>
              <a:rPr lang="en-US" sz="1500" b="1" dirty="0">
                <a:solidFill>
                  <a:srgbClr val="142D4E"/>
                </a:solidFill>
                <a:latin typeface="Calibri" pitchFamily="34" charset="0"/>
                <a:ea typeface="Calibri" pitchFamily="34" charset="-122"/>
                <a:cs typeface="Calibri" pitchFamily="34" charset="-120"/>
              </a:rPr>
              <a:t>Why it matters</a:t>
            </a:r>
            <a:endParaRPr lang="en-US" sz="1500" dirty="0"/>
          </a:p>
        </p:txBody>
      </p:sp>
      <p:sp>
        <p:nvSpPr>
          <p:cNvPr id="9" name="Text 6"/>
          <p:cNvSpPr txBox="1"/>
          <p:nvPr/>
        </p:nvSpPr>
        <p:spPr>
          <a:xfrm>
            <a:off x="6035040" y="1627632"/>
            <a:ext cx="2560320" cy="859536"/>
          </a:xfrm>
          <a:prstGeom prst="rect">
            <a:avLst/>
          </a:prstGeom>
          <a:noFill/>
          <a:ln/>
        </p:spPr>
        <p:txBody>
          <a:bodyPr wrap="square" lIns="0" tIns="0" rIns="0" bIns="0" rtlCol="0" anchor="t"/>
          <a:lstStyle/>
          <a:p>
            <a:pPr indent="0" marL="0">
              <a:buNone/>
            </a:pPr>
            <a:r>
              <a:rPr lang="en-US" sz="1300" dirty="0">
                <a:solidFill>
                  <a:srgbClr val="273449"/>
                </a:solidFill>
                <a:latin typeface="Calibri" pitchFamily="34" charset="0"/>
                <a:ea typeface="Calibri" pitchFamily="34" charset="-122"/>
                <a:cs typeface="Calibri" pitchFamily="34" charset="-120"/>
              </a:rPr>
              <a:t>Better forecasts support fleet planning in systems such as Capital Bikeshare.</a:t>
            </a:r>
            <a:endParaRPr lang="en-US" sz="1300" dirty="0"/>
          </a:p>
        </p:txBody>
      </p:sp>
      <p:sp>
        <p:nvSpPr>
          <p:cNvPr id="10" name="Shape 7"/>
          <p:cNvSpPr/>
          <p:nvPr/>
        </p:nvSpPr>
        <p:spPr>
          <a:xfrm>
            <a:off x="5852160" y="2788920"/>
            <a:ext cx="2834640" cy="1554480"/>
          </a:xfrm>
          <a:prstGeom prst="rect">
            <a:avLst/>
          </a:prstGeom>
          <a:solidFill>
            <a:srgbClr val="FFFFFF"/>
          </a:solidFill>
          <a:ln w="9525">
            <a:solidFill>
              <a:srgbClr val="DDE3EA"/>
            </a:solidFill>
            <a:prstDash val="solid"/>
          </a:ln>
        </p:spPr>
      </p:sp>
      <p:sp>
        <p:nvSpPr>
          <p:cNvPr id="11" name="Shape 8"/>
          <p:cNvSpPr/>
          <p:nvPr/>
        </p:nvSpPr>
        <p:spPr>
          <a:xfrm>
            <a:off x="5852160" y="2788920"/>
            <a:ext cx="64008" cy="1554480"/>
          </a:xfrm>
          <a:prstGeom prst="rect">
            <a:avLst/>
          </a:prstGeom>
          <a:solidFill>
            <a:srgbClr val="D97706"/>
          </a:solidFill>
          <a:ln w="12700">
            <a:solidFill>
              <a:srgbClr val="D97706"/>
            </a:solidFill>
            <a:prstDash val="solid"/>
          </a:ln>
        </p:spPr>
      </p:sp>
      <p:sp>
        <p:nvSpPr>
          <p:cNvPr id="12" name="Text 9"/>
          <p:cNvSpPr txBox="1"/>
          <p:nvPr/>
        </p:nvSpPr>
        <p:spPr>
          <a:xfrm>
            <a:off x="6035040" y="2862072"/>
            <a:ext cx="2560320" cy="347472"/>
          </a:xfrm>
          <a:prstGeom prst="rect">
            <a:avLst/>
          </a:prstGeom>
          <a:noFill/>
          <a:ln/>
        </p:spPr>
        <p:txBody>
          <a:bodyPr wrap="square" lIns="0" tIns="0" rIns="0" bIns="0" rtlCol="0" anchor="ctr"/>
          <a:lstStyle/>
          <a:p>
            <a:pPr indent="0" marL="0">
              <a:buNone/>
            </a:pPr>
            <a:r>
              <a:rPr lang="en-US" sz="1500" b="1" dirty="0">
                <a:solidFill>
                  <a:srgbClr val="142D4E"/>
                </a:solidFill>
                <a:latin typeface="Calibri" pitchFamily="34" charset="0"/>
                <a:ea typeface="Calibri" pitchFamily="34" charset="-122"/>
                <a:cs typeface="Calibri" pitchFamily="34" charset="-120"/>
              </a:rPr>
              <a:t>Data used</a:t>
            </a:r>
            <a:endParaRPr lang="en-US" sz="1500" dirty="0"/>
          </a:p>
        </p:txBody>
      </p:sp>
      <p:sp>
        <p:nvSpPr>
          <p:cNvPr id="13" name="Text 10"/>
          <p:cNvSpPr txBox="1"/>
          <p:nvPr/>
        </p:nvSpPr>
        <p:spPr>
          <a:xfrm>
            <a:off x="6035040" y="3227832"/>
            <a:ext cx="2560320" cy="1042416"/>
          </a:xfrm>
          <a:prstGeom prst="rect">
            <a:avLst/>
          </a:prstGeom>
          <a:noFill/>
          <a:ln/>
        </p:spPr>
        <p:txBody>
          <a:bodyPr wrap="square" lIns="0" tIns="0" rIns="0" bIns="0" rtlCol="0" anchor="t"/>
          <a:lstStyle/>
          <a:p>
            <a:pPr indent="0" marL="0">
              <a:buNone/>
            </a:pPr>
            <a:r>
              <a:rPr lang="en-US" sz="1300" dirty="0">
                <a:solidFill>
                  <a:srgbClr val="273449"/>
                </a:solidFill>
                <a:latin typeface="Calibri" pitchFamily="34" charset="0"/>
                <a:ea typeface="Calibri" pitchFamily="34" charset="-122"/>
                <a:cs typeface="Calibri" pitchFamily="34" charset="-120"/>
              </a:rPr>
              <a:t>UCI Bike Sharing, hourly file: 17,379 rows, 2011–2012, target cnt (mean 189.5, std 181.4 bikes/h).</a:t>
            </a:r>
            <a:endParaRPr lang="en-US" sz="1300" dirty="0"/>
          </a:p>
        </p:txBody>
      </p:sp>
      <p:sp>
        <p:nvSpPr>
          <p:cNvPr id="14" name="Text 11"/>
          <p:cNvSpPr txBox="1"/>
          <p:nvPr/>
        </p:nvSpPr>
        <p:spPr>
          <a:xfrm>
            <a:off x="457200" y="4736592"/>
            <a:ext cx="7772400" cy="274320"/>
          </a:xfrm>
          <a:prstGeom prst="rect">
            <a:avLst/>
          </a:prstGeom>
          <a:noFill/>
          <a:ln/>
        </p:spPr>
        <p:txBody>
          <a:bodyPr wrap="square" lIns="0" tIns="0" rIns="0" bIns="0" rtlCol="0" anchor="ctr"/>
          <a:lstStyle/>
          <a:p>
            <a:pPr indent="0" marL="0">
              <a:buNone/>
            </a:pPr>
            <a:r>
              <a:rPr lang="en-US" sz="1000" dirty="0">
                <a:solidFill>
                  <a:srgbClr val="64748B"/>
                </a:solidFill>
                <a:latin typeface="Calibri" pitchFamily="34" charset="0"/>
                <a:ea typeface="Calibri" pitchFamily="34" charset="-122"/>
                <a:cs typeface="Calibri" pitchFamily="34" charset="-120"/>
              </a:rPr>
              <a:t>Sources: [1]–[3] bike-sharing demand; [4]–[7] augmentation; [8] Mixup; [20], [21] dataset</a:t>
            </a:r>
            <a:endParaRPr lang="en-US" sz="1000" dirty="0"/>
          </a:p>
        </p:txBody>
      </p:sp>
      <p:sp>
        <p:nvSpPr>
          <p:cNvPr id="25" name="Slide Number Placeholder 0"/>
          <p:cNvSpPr>
            <a:spLocks noGrp="1"/>
          </p:cNvSpPr>
          <p:nvPr>
            <p:ph type="sldNum" sz="quarter" idx="4294967295"/>
          </p:nvPr>
        </p:nvSpPr>
        <p:spPr>
          <a:xfrm>
            <a:off x="8412480" y="4773168"/>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4748B"/>
                </a:solidFill>
                <a:latin typeface="Calibri"/>
                <a:ea typeface="Calibri"/>
                <a:cs typeface="Calibri"/>
              </a:defRPr>
            </a:lvl1pPr>
          </a:lstStyle>
          <a:p>
            <a:pPr algn="l"/>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txBox="1"/>
          <p:nvPr/>
        </p:nvSpPr>
        <p:spPr>
          <a:xfrm>
            <a:off x="457200" y="256032"/>
            <a:ext cx="8229600" cy="594360"/>
          </a:xfrm>
          <a:prstGeom prst="rect">
            <a:avLst/>
          </a:prstGeom>
          <a:noFill/>
          <a:ln/>
        </p:spPr>
        <p:txBody>
          <a:bodyPr wrap="square" lIns="0" tIns="0" rIns="0" bIns="0" rtlCol="0" anchor="ctr"/>
          <a:lstStyle/>
          <a:p>
            <a:pPr indent="0" marL="0">
              <a:buNone/>
            </a:pPr>
            <a:r>
              <a:rPr lang="en-US" sz="2800" b="1" dirty="0">
                <a:solidFill>
                  <a:srgbClr val="142D4E"/>
                </a:solidFill>
                <a:latin typeface="Calibri" pitchFamily="34" charset="0"/>
                <a:ea typeface="Calibri" pitchFamily="34" charset="-122"/>
                <a:cs typeface="Calibri" pitchFamily="34" charset="-120"/>
              </a:rPr>
              <a:t>Problem Statement, Gap and Research Questions</a:t>
            </a:r>
            <a:endParaRPr lang="en-US" sz="2800" dirty="0"/>
          </a:p>
        </p:txBody>
      </p:sp>
      <p:sp>
        <p:nvSpPr>
          <p:cNvPr id="3" name="Shape 1"/>
          <p:cNvSpPr/>
          <p:nvPr/>
        </p:nvSpPr>
        <p:spPr>
          <a:xfrm>
            <a:off x="457200" y="896112"/>
            <a:ext cx="822960" cy="45720"/>
          </a:xfrm>
          <a:prstGeom prst="rect">
            <a:avLst/>
          </a:prstGeom>
          <a:solidFill>
            <a:srgbClr val="0F766E"/>
          </a:solidFill>
          <a:ln w="12700">
            <a:solidFill>
              <a:srgbClr val="0F766E"/>
            </a:solidFill>
            <a:prstDash val="solid"/>
          </a:ln>
        </p:spPr>
      </p:sp>
      <p:sp>
        <p:nvSpPr>
          <p:cNvPr id="5" name="Shape 2"/>
          <p:cNvSpPr/>
          <p:nvPr/>
        </p:nvSpPr>
        <p:spPr>
          <a:xfrm>
            <a:off x="457200" y="1143000"/>
            <a:ext cx="3977640" cy="1600200"/>
          </a:xfrm>
          <a:prstGeom prst="rect">
            <a:avLst/>
          </a:prstGeom>
          <a:solidFill>
            <a:srgbClr val="FFFFFF"/>
          </a:solidFill>
          <a:ln w="9525">
            <a:solidFill>
              <a:srgbClr val="DDE3EA"/>
            </a:solidFill>
            <a:prstDash val="solid"/>
          </a:ln>
        </p:spPr>
      </p:sp>
      <p:sp>
        <p:nvSpPr>
          <p:cNvPr id="6" name="Shape 3"/>
          <p:cNvSpPr/>
          <p:nvPr/>
        </p:nvSpPr>
        <p:spPr>
          <a:xfrm>
            <a:off x="457200" y="1143000"/>
            <a:ext cx="64008" cy="1600200"/>
          </a:xfrm>
          <a:prstGeom prst="rect">
            <a:avLst/>
          </a:prstGeom>
          <a:solidFill>
            <a:srgbClr val="142D4E"/>
          </a:solidFill>
          <a:ln w="12700">
            <a:solidFill>
              <a:srgbClr val="142D4E"/>
            </a:solidFill>
            <a:prstDash val="solid"/>
          </a:ln>
        </p:spPr>
      </p:sp>
      <p:sp>
        <p:nvSpPr>
          <p:cNvPr id="7" name="Text 4"/>
          <p:cNvSpPr txBox="1"/>
          <p:nvPr/>
        </p:nvSpPr>
        <p:spPr>
          <a:xfrm>
            <a:off x="640080" y="1216152"/>
            <a:ext cx="3703320" cy="347472"/>
          </a:xfrm>
          <a:prstGeom prst="rect">
            <a:avLst/>
          </a:prstGeom>
          <a:noFill/>
          <a:ln/>
        </p:spPr>
        <p:txBody>
          <a:bodyPr wrap="square" lIns="0" tIns="0" rIns="0" bIns="0" rtlCol="0" anchor="ctr"/>
          <a:lstStyle/>
          <a:p>
            <a:pPr indent="0" marL="0">
              <a:buNone/>
            </a:pPr>
            <a:r>
              <a:rPr lang="en-US" sz="1500" b="1" dirty="0">
                <a:solidFill>
                  <a:srgbClr val="142D4E"/>
                </a:solidFill>
                <a:latin typeface="Calibri" pitchFamily="34" charset="0"/>
                <a:ea typeface="Calibri" pitchFamily="34" charset="-122"/>
                <a:cs typeface="Calibri" pitchFamily="34" charset="-120"/>
              </a:rPr>
              <a:t>Problem</a:t>
            </a:r>
            <a:endParaRPr lang="en-US" sz="1500" dirty="0"/>
          </a:p>
        </p:txBody>
      </p:sp>
      <p:sp>
        <p:nvSpPr>
          <p:cNvPr id="8" name="Text 5"/>
          <p:cNvSpPr txBox="1"/>
          <p:nvPr/>
        </p:nvSpPr>
        <p:spPr>
          <a:xfrm>
            <a:off x="640080" y="1581912"/>
            <a:ext cx="3703320" cy="1088136"/>
          </a:xfrm>
          <a:prstGeom prst="rect">
            <a:avLst/>
          </a:prstGeom>
          <a:noFill/>
          <a:ln/>
        </p:spPr>
        <p:txBody>
          <a:bodyPr wrap="square" lIns="0" tIns="0" rIns="0" bIns="0" rtlCol="0" anchor="t"/>
          <a:lstStyle/>
          <a:p>
            <a:pPr indent="0" marL="0">
              <a:buNone/>
            </a:pPr>
            <a:r>
              <a:rPr lang="en-US" sz="1300" dirty="0">
                <a:solidFill>
                  <a:srgbClr val="273449"/>
                </a:solidFill>
                <a:latin typeface="Calibri" pitchFamily="34" charset="0"/>
                <a:ea typeface="Calibri" pitchFamily="34" charset="-122"/>
                <a:cs typeface="Calibri" pitchFamily="34" charset="-120"/>
              </a:rPr>
              <a:t>Mixup in a continuous label space can create misleading targets when mixed examples are far apart (manifold intrusion).</a:t>
            </a:r>
            <a:endParaRPr lang="en-US" sz="1300" dirty="0"/>
          </a:p>
        </p:txBody>
      </p:sp>
      <p:sp>
        <p:nvSpPr>
          <p:cNvPr id="9" name="Shape 6"/>
          <p:cNvSpPr/>
          <p:nvPr/>
        </p:nvSpPr>
        <p:spPr>
          <a:xfrm>
            <a:off x="457200" y="2926080"/>
            <a:ext cx="3977640" cy="1600200"/>
          </a:xfrm>
          <a:prstGeom prst="rect">
            <a:avLst/>
          </a:prstGeom>
          <a:solidFill>
            <a:srgbClr val="FFFFFF"/>
          </a:solidFill>
          <a:ln w="9525">
            <a:solidFill>
              <a:srgbClr val="DDE3EA"/>
            </a:solidFill>
            <a:prstDash val="solid"/>
          </a:ln>
        </p:spPr>
      </p:sp>
      <p:sp>
        <p:nvSpPr>
          <p:cNvPr id="10" name="Shape 7"/>
          <p:cNvSpPr/>
          <p:nvPr/>
        </p:nvSpPr>
        <p:spPr>
          <a:xfrm>
            <a:off x="457200" y="2926080"/>
            <a:ext cx="64008" cy="1600200"/>
          </a:xfrm>
          <a:prstGeom prst="rect">
            <a:avLst/>
          </a:prstGeom>
          <a:solidFill>
            <a:srgbClr val="D97706"/>
          </a:solidFill>
          <a:ln w="12700">
            <a:solidFill>
              <a:srgbClr val="D97706"/>
            </a:solidFill>
            <a:prstDash val="solid"/>
          </a:ln>
        </p:spPr>
      </p:sp>
      <p:sp>
        <p:nvSpPr>
          <p:cNvPr id="11" name="Text 8"/>
          <p:cNvSpPr txBox="1"/>
          <p:nvPr/>
        </p:nvSpPr>
        <p:spPr>
          <a:xfrm>
            <a:off x="640080" y="2999232"/>
            <a:ext cx="3703320" cy="347472"/>
          </a:xfrm>
          <a:prstGeom prst="rect">
            <a:avLst/>
          </a:prstGeom>
          <a:noFill/>
          <a:ln/>
        </p:spPr>
        <p:txBody>
          <a:bodyPr wrap="square" lIns="0" tIns="0" rIns="0" bIns="0" rtlCol="0" anchor="ctr"/>
          <a:lstStyle/>
          <a:p>
            <a:pPr indent="0" marL="0">
              <a:buNone/>
            </a:pPr>
            <a:r>
              <a:rPr lang="en-US" sz="1500" b="1" dirty="0">
                <a:solidFill>
                  <a:srgbClr val="142D4E"/>
                </a:solidFill>
                <a:latin typeface="Calibri" pitchFamily="34" charset="0"/>
                <a:ea typeface="Calibri" pitchFamily="34" charset="-122"/>
                <a:cs typeface="Calibri" pitchFamily="34" charset="-120"/>
              </a:rPr>
              <a:t>Research gap</a:t>
            </a:r>
            <a:endParaRPr lang="en-US" sz="1500" dirty="0"/>
          </a:p>
        </p:txBody>
      </p:sp>
      <p:sp>
        <p:nvSpPr>
          <p:cNvPr id="12" name="Text 9"/>
          <p:cNvSpPr txBox="1"/>
          <p:nvPr/>
        </p:nvSpPr>
        <p:spPr>
          <a:xfrm>
            <a:off x="640080" y="3364992"/>
            <a:ext cx="3703320" cy="1088136"/>
          </a:xfrm>
          <a:prstGeom prst="rect">
            <a:avLst/>
          </a:prstGeom>
          <a:noFill/>
          <a:ln/>
        </p:spPr>
        <p:txBody>
          <a:bodyPr wrap="square" lIns="0" tIns="0" rIns="0" bIns="0" rtlCol="0" anchor="t"/>
          <a:lstStyle/>
          <a:p>
            <a:pPr indent="0" marL="0">
              <a:buNone/>
            </a:pPr>
            <a:r>
              <a:rPr lang="en-US" sz="1300" dirty="0">
                <a:solidFill>
                  <a:srgbClr val="273449"/>
                </a:solidFill>
                <a:latin typeface="Calibri" pitchFamily="34" charset="0"/>
                <a:ea typeface="Calibri" pitchFamily="34" charset="-122"/>
                <a:cs typeface="Calibri" pitchFamily="34" charset="-120"/>
              </a:rPr>
              <a:t>RegMix [15] used 300 train / 200 val random Bike examples and no chronological evaluation; its cost is hours.</a:t>
            </a:r>
            <a:endParaRPr lang="en-US" sz="1300" dirty="0"/>
          </a:p>
        </p:txBody>
      </p:sp>
      <p:sp>
        <p:nvSpPr>
          <p:cNvPr id="13" name="Text 10"/>
          <p:cNvSpPr txBox="1"/>
          <p:nvPr/>
        </p:nvSpPr>
        <p:spPr>
          <a:xfrm>
            <a:off x="4709160" y="1143000"/>
            <a:ext cx="4023360" cy="3383280"/>
          </a:xfrm>
          <a:prstGeom prst="rect">
            <a:avLst/>
          </a:prstGeom>
          <a:noFill/>
          <a:ln/>
        </p:spPr>
        <p:txBody>
          <a:bodyPr wrap="square" lIns="635" tIns="635" rIns="635" bIns="635" rtlCol="0" anchor="t"/>
          <a:lstStyle/>
          <a:p>
            <a:pPr marL="342900" indent="-342900">
              <a:spcAft>
                <a:spcPts val="800"/>
              </a:spcAft>
              <a:buSzPct val="100000"/>
              <a:buChar char="•"/>
            </a:pPr>
            <a:r>
              <a:rPr lang="en-US" sz="1500" dirty="0">
                <a:solidFill>
                  <a:srgbClr val="273449"/>
                </a:solidFill>
                <a:latin typeface="Calibri" pitchFamily="34" charset="0"/>
                <a:ea typeface="Calibri" pitchFamily="34" charset="-122"/>
                <a:cs typeface="Calibri" pitchFamily="34" charset="-120"/>
              </a:rPr>
              <a:t>RQ1: Does augmentation beat training without it?</a:t>
            </a:r>
            <a:endParaRPr lang="en-US" sz="1500" dirty="0"/>
          </a:p>
          <a:p>
            <a:pPr marL="342900" indent="-342900">
              <a:spcAft>
                <a:spcPts val="800"/>
              </a:spcAft>
              <a:buSzPct val="100000"/>
              <a:buChar char="•"/>
            </a:pPr>
            <a:r>
              <a:rPr lang="en-US" sz="1500" dirty="0">
                <a:solidFill>
                  <a:srgbClr val="273449"/>
                </a:solidFill>
                <a:latin typeface="Calibri" pitchFamily="34" charset="0"/>
                <a:ea typeface="Calibri" pitchFamily="34" charset="-122"/>
                <a:cs typeface="Calibri" pitchFamily="34" charset="-120"/>
              </a:rPr>
              <a:t>RQ2: Does selective neighbour mixing beat unrestricted Mixup?</a:t>
            </a:r>
            <a:endParaRPr lang="en-US" sz="1500" dirty="0"/>
          </a:p>
          <a:p>
            <a:pPr marL="342900" indent="-342900">
              <a:spcAft>
                <a:spcPts val="800"/>
              </a:spcAft>
              <a:buSzPct val="100000"/>
              <a:buChar char="•"/>
            </a:pPr>
            <a:r>
              <a:rPr lang="en-US" sz="1500" dirty="0">
                <a:solidFill>
                  <a:srgbClr val="273449"/>
                </a:solidFill>
                <a:latin typeface="Calibri" pitchFamily="34" charset="0"/>
                <a:ea typeface="Calibri" pitchFamily="34" charset="-122"/>
                <a:cs typeface="Calibri" pitchFamily="34" charset="-120"/>
              </a:rPr>
              <a:t>RQ3: How does the answer change with training-set size?</a:t>
            </a:r>
            <a:endParaRPr lang="en-US" sz="1500" dirty="0"/>
          </a:p>
          <a:p>
            <a:pPr marL="342900" indent="-342900">
              <a:spcAft>
                <a:spcPts val="800"/>
              </a:spcAft>
              <a:buSzPct val="100000"/>
              <a:buChar char="•"/>
            </a:pPr>
            <a:r>
              <a:rPr lang="en-US" sz="1500" dirty="0">
                <a:solidFill>
                  <a:srgbClr val="273449"/>
                </a:solidFill>
                <a:latin typeface="Calibri" pitchFamily="34" charset="0"/>
                <a:ea typeface="Calibri" pitchFamily="34" charset="-122"/>
                <a:cs typeface="Calibri" pitchFamily="34" charset="-120"/>
              </a:rPr>
              <a:t>RQ4: Is it consistent across seeds and chronological testing?</a:t>
            </a:r>
            <a:endParaRPr lang="en-US" sz="1500" dirty="0"/>
          </a:p>
          <a:p>
            <a:pPr marL="342900" indent="-342900">
              <a:spcAft>
                <a:spcPts val="800"/>
              </a:spcAft>
              <a:buSzPct val="100000"/>
              <a:buChar char="•"/>
            </a:pPr>
            <a:r>
              <a:rPr lang="en-US" sz="1500" dirty="0">
                <a:solidFill>
                  <a:srgbClr val="273449"/>
                </a:solidFill>
                <a:latin typeface="Calibri" pitchFamily="34" charset="0"/>
                <a:ea typeface="Calibri" pitchFamily="34" charset="-122"/>
                <a:cs typeface="Calibri" pitchFamily="34" charset="-120"/>
              </a:rPr>
              <a:t>RQ5: What cost does the learned policy add?</a:t>
            </a:r>
            <a:endParaRPr lang="en-US" sz="1500" dirty="0"/>
          </a:p>
        </p:txBody>
      </p:sp>
      <p:sp>
        <p:nvSpPr>
          <p:cNvPr id="25" name="Slide Number Placeholder 0"/>
          <p:cNvSpPr>
            <a:spLocks noGrp="1"/>
          </p:cNvSpPr>
          <p:nvPr>
            <p:ph type="sldNum" sz="quarter" idx="4294967295"/>
          </p:nvPr>
        </p:nvSpPr>
        <p:spPr>
          <a:xfrm>
            <a:off x="8412480" y="4773168"/>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4748B"/>
                </a:solidFill>
                <a:latin typeface="Calibri"/>
                <a:ea typeface="Calibri"/>
                <a:cs typeface="Calibri"/>
              </a:defRPr>
            </a:lvl1pPr>
          </a:lstStyle>
          <a:p>
            <a:pPr algn="l"/>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txBox="1"/>
          <p:nvPr/>
        </p:nvSpPr>
        <p:spPr>
          <a:xfrm>
            <a:off x="457200" y="256032"/>
            <a:ext cx="8229600" cy="594360"/>
          </a:xfrm>
          <a:prstGeom prst="rect">
            <a:avLst/>
          </a:prstGeom>
          <a:noFill/>
          <a:ln/>
        </p:spPr>
        <p:txBody>
          <a:bodyPr wrap="square" lIns="0" tIns="0" rIns="0" bIns="0" rtlCol="0" anchor="ctr"/>
          <a:lstStyle/>
          <a:p>
            <a:pPr indent="0" marL="0">
              <a:buNone/>
            </a:pPr>
            <a:r>
              <a:rPr lang="en-US" sz="2800" b="1" dirty="0">
                <a:solidFill>
                  <a:srgbClr val="142D4E"/>
                </a:solidFill>
                <a:latin typeface="Calibri" pitchFamily="34" charset="0"/>
                <a:ea typeface="Calibri" pitchFamily="34" charset="-122"/>
                <a:cs typeface="Calibri" pitchFamily="34" charset="-120"/>
              </a:rPr>
              <a:t>Related Work</a:t>
            </a:r>
            <a:endParaRPr lang="en-US" sz="2800" dirty="0"/>
          </a:p>
        </p:txBody>
      </p:sp>
      <p:sp>
        <p:nvSpPr>
          <p:cNvPr id="3" name="Shape 1"/>
          <p:cNvSpPr/>
          <p:nvPr/>
        </p:nvSpPr>
        <p:spPr>
          <a:xfrm>
            <a:off x="457200" y="896112"/>
            <a:ext cx="822960" cy="45720"/>
          </a:xfrm>
          <a:prstGeom prst="rect">
            <a:avLst/>
          </a:prstGeom>
          <a:solidFill>
            <a:srgbClr val="0F766E"/>
          </a:solidFill>
          <a:ln w="12700">
            <a:solidFill>
              <a:srgbClr val="0F766E"/>
            </a:solidFill>
            <a:prstDash val="solid"/>
          </a:ln>
        </p:spPr>
      </p:sp>
      <p:graphicFrame>
        <p:nvGraphicFramePr>
          <p:cNvPr id="5" name="Table 0"/>
          <p:cNvGraphicFramePr>
            <a:graphicFrameLocks noGrp="1"/>
          </p:cNvGraphicFramePr>
          <p:nvPr>
            <p:extLst>
              <p:ext uri="{D42A27DB-BD31-4B8C-83A1-F6EECF244321}">
                <p14:modId xmlns:p14="http://schemas.microsoft.com/office/powerpoint/2010/main" val="1579011935"/>
              </p:ext>
            </p:extLst>
          </p:nvPr>
        </p:nvGraphicFramePr>
        <p:xfrm>
          <a:off x="457200" y="1188720"/>
          <a:ext cx="8229600" cy="914400"/>
        </p:xfrm>
        <a:graphic>
          <a:graphicData uri="http://schemas.openxmlformats.org/drawingml/2006/table">
            <a:tbl>
              <a:tblPr/>
              <a:tblGrid>
                <a:gridCol w="2011680"/>
                <a:gridCol w="3383280"/>
                <a:gridCol w="2834640"/>
              </a:tblGrid>
              <a:tr h="457200">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Method</a:t>
                      </a:r>
                      <a:endParaRPr lang="en-US" sz="1200" dirty="0">
                        <a:latin typeface="Calibri" charset="0"/>
                        <a:ea typeface="Calibri" charset="0"/>
                        <a:cs typeface="Calibri" charset="0"/>
                      </a:endParaRPr>
                    </a:p>
                  </a:txBody>
                  <a:tcPr marL="91440" marR="91440" marT="45720" marB="45720" anchor="ctr">
                    <a:lnL w="9525" cap="flat" cmpd="sng" algn="ctr">
                      <a:solidFill>
                        <a:srgbClr val="DDE3EA"/>
                      </a:solidFill>
                      <a:prstDash val="solid"/>
                      <a:round/>
                      <a:headEnd type="none" w="med" len="med"/>
                      <a:tailEnd type="none" w="med" len="med"/>
                    </a:lnL>
                    <a:lnR w="9525" cap="flat" cmpd="sng" algn="ctr">
                      <a:solidFill>
                        <a:srgbClr val="DDE3EA"/>
                      </a:solidFill>
                      <a:prstDash val="solid"/>
                      <a:round/>
                      <a:headEnd type="none" w="med" len="med"/>
                      <a:tailEnd type="none" w="med" len="med"/>
                    </a:lnR>
                    <a:lnT w="9525" cap="flat" cmpd="sng" algn="ctr">
                      <a:solidFill>
                        <a:srgbClr val="DDE3EA"/>
                      </a:solidFill>
                      <a:prstDash val="solid"/>
                      <a:round/>
                      <a:headEnd type="none" w="med" len="med"/>
                      <a:tailEnd type="none" w="med" len="med"/>
                    </a:lnT>
                    <a:lnB w="9525" cap="flat" cmpd="sng" algn="ctr">
                      <a:solidFill>
                        <a:srgbClr val="DDE3EA"/>
                      </a:solidFill>
                      <a:prstDash val="solid"/>
                      <a:round/>
                      <a:headEnd type="none" w="med" len="med"/>
                      <a:tailEnd type="none" w="med" len="med"/>
                    </a:lnB>
                    <a:solidFill>
                      <a:srgbClr val="142D4E"/>
                    </a:solidFill>
                  </a:tcPr>
                </a:tc>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Idea</a:t>
                      </a:r>
                      <a:endParaRPr lang="en-US" sz="1200" dirty="0">
                        <a:latin typeface="Calibri" charset="0"/>
                        <a:ea typeface="Calibri" charset="0"/>
                        <a:cs typeface="Calibri" charset="0"/>
                      </a:endParaRPr>
                    </a:p>
                  </a:txBody>
                  <a:tcPr marL="91440" marR="91440" marT="45720" marB="45720" anchor="ctr">
                    <a:lnL w="9525" cap="flat" cmpd="sng" algn="ctr">
                      <a:solidFill>
                        <a:srgbClr val="DDE3EA"/>
                      </a:solidFill>
                      <a:prstDash val="solid"/>
                      <a:round/>
                      <a:headEnd type="none" w="med" len="med"/>
                      <a:tailEnd type="none" w="med" len="med"/>
                    </a:lnL>
                    <a:lnR w="9525" cap="flat" cmpd="sng" algn="ctr">
                      <a:solidFill>
                        <a:srgbClr val="DDE3EA"/>
                      </a:solidFill>
                      <a:prstDash val="solid"/>
                      <a:round/>
                      <a:headEnd type="none" w="med" len="med"/>
                      <a:tailEnd type="none" w="med" len="med"/>
                    </a:lnR>
                    <a:lnT w="9525" cap="flat" cmpd="sng" algn="ctr">
                      <a:solidFill>
                        <a:srgbClr val="DDE3EA"/>
                      </a:solidFill>
                      <a:prstDash val="solid"/>
                      <a:round/>
                      <a:headEnd type="none" w="med" len="med"/>
                      <a:tailEnd type="none" w="med" len="med"/>
                    </a:lnT>
                    <a:lnB w="9525" cap="flat" cmpd="sng" algn="ctr">
                      <a:solidFill>
                        <a:srgbClr val="DDE3EA"/>
                      </a:solidFill>
                      <a:prstDash val="solid"/>
                      <a:round/>
                      <a:headEnd type="none" w="med" len="med"/>
                      <a:tailEnd type="none" w="med" len="med"/>
                    </a:lnB>
                    <a:solidFill>
                      <a:srgbClr val="142D4E"/>
                    </a:solidFill>
                  </a:tcPr>
                </a:tc>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Relevance to this study</a:t>
                      </a:r>
                      <a:endParaRPr lang="en-US" sz="1200" dirty="0">
                        <a:latin typeface="Calibri" charset="0"/>
                        <a:ea typeface="Calibri" charset="0"/>
                        <a:cs typeface="Calibri" charset="0"/>
                      </a:endParaRPr>
                    </a:p>
                  </a:txBody>
                  <a:tcPr marL="91440" marR="91440" marT="45720" marB="45720" anchor="ctr">
                    <a:lnL w="9525" cap="flat" cmpd="sng" algn="ctr">
                      <a:solidFill>
                        <a:srgbClr val="DDE3EA"/>
                      </a:solidFill>
                      <a:prstDash val="solid"/>
                      <a:round/>
                      <a:headEnd type="none" w="med" len="med"/>
                      <a:tailEnd type="none" w="med" len="med"/>
                    </a:lnL>
                    <a:lnR w="9525" cap="flat" cmpd="sng" algn="ctr">
                      <a:solidFill>
                        <a:srgbClr val="DDE3EA"/>
                      </a:solidFill>
                      <a:prstDash val="solid"/>
                      <a:round/>
                      <a:headEnd type="none" w="med" len="med"/>
                      <a:tailEnd type="none" w="med" len="med"/>
                    </a:lnR>
                    <a:lnT w="9525" cap="flat" cmpd="sng" algn="ctr">
                      <a:solidFill>
                        <a:srgbClr val="DDE3EA"/>
                      </a:solidFill>
                      <a:prstDash val="solid"/>
                      <a:round/>
                      <a:headEnd type="none" w="med" len="med"/>
                      <a:tailEnd type="none" w="med" len="med"/>
                    </a:lnT>
                    <a:lnB w="9525" cap="flat" cmpd="sng" algn="ctr">
                      <a:solidFill>
                        <a:srgbClr val="DDE3EA"/>
                      </a:solidFill>
                      <a:prstDash val="solid"/>
                      <a:round/>
                      <a:headEnd type="none" w="med" len="med"/>
                      <a:tailEnd type="none" w="med" len="med"/>
                    </a:lnB>
                    <a:solidFill>
                      <a:srgbClr val="142D4E"/>
                    </a:solidFill>
                  </a:tcPr>
                </a:tc>
              </a:tr>
              <a:tr h="457200">
                <a:tc>
                  <a:txBody>
                    <a:bodyPr/>
                    <a:lstStyle/>
                    <a:p>
                      <a:pPr indent="0" marL="0">
                        <a:buNone/>
                      </a:pPr>
                      <a:r>
                        <a:rPr lang="en-US" sz="1200" b="1" dirty="0">
                          <a:solidFill>
                            <a:srgbClr val="273449"/>
                          </a:solidFill>
                          <a:latin typeface="Calibri" pitchFamily="34" charset="0"/>
                          <a:ea typeface="Calibri" pitchFamily="34" charset="-122"/>
                          <a:cs typeface="Calibri" pitchFamily="34" charset="-120"/>
                        </a:rPr>
                        <a:t>Mixup [8]</a:t>
                      </a:r>
                      <a:endParaRPr lang="en-US" sz="1200" dirty="0">
                        <a:latin typeface="Calibri" charset="0"/>
                        <a:ea typeface="Calibri" charset="0"/>
                        <a:cs typeface="Calibri" charset="0"/>
                      </a:endParaRPr>
                    </a:p>
                  </a:txBody>
                  <a:tcPr marL="91440" marR="91440" marT="45720" marB="45720" anchor="ctr">
                    <a:lnL w="9525" cap="flat" cmpd="sng" algn="ctr">
                      <a:solidFill>
                        <a:srgbClr val="DDE3EA"/>
                      </a:solidFill>
                      <a:prstDash val="solid"/>
                      <a:round/>
                      <a:headEnd type="none" w="med" len="med"/>
                      <a:tailEnd type="none" w="med" len="med"/>
                    </a:lnL>
                    <a:lnR w="9525" cap="flat" cmpd="sng" algn="ctr">
                      <a:solidFill>
                        <a:srgbClr val="DDE3EA"/>
                      </a:solidFill>
                      <a:prstDash val="solid"/>
                      <a:round/>
                      <a:headEnd type="none" w="med" len="med"/>
                      <a:tailEnd type="none" w="med" len="med"/>
                    </a:lnR>
                    <a:lnT w="9525" cap="flat" cmpd="sng" algn="ctr">
                      <a:solidFill>
                        <a:srgbClr val="DDE3EA"/>
                      </a:solidFill>
                      <a:prstDash val="solid"/>
                      <a:round/>
                      <a:headEnd type="none" w="med" len="med"/>
                      <a:tailEnd type="none" w="med" len="med"/>
                    </a:lnT>
                    <a:lnB w="9525" cap="flat" cmpd="sng" algn="ctr">
                      <a:solidFill>
                        <a:srgbClr val="DDE3EA"/>
                      </a:solidFill>
                      <a:prstDash val="solid"/>
                      <a:round/>
                      <a:headEnd type="none" w="med" len="med"/>
                      <a:tailEnd type="none" w="med" len="med"/>
                    </a:lnB>
                    <a:solidFill>
                      <a:srgbClr val="FFFFFF"/>
                    </a:solidFill>
                  </a:tcPr>
                </a:tc>
                <a:tc>
                  <a:txBody>
                    <a:bodyPr/>
                    <a:lstStyle/>
                    <a:p>
                      <a:pPr indent="0" marL="0">
                        <a:buNone/>
                      </a:pPr>
                      <a:r>
                        <a:rPr lang="en-US" sz="1200" dirty="0">
                          <a:solidFill>
                            <a:srgbClr val="273449"/>
                          </a:solidFill>
                          <a:latin typeface="Calibri" pitchFamily="34" charset="0"/>
                          <a:ea typeface="Calibri" pitchFamily="34" charset="-122"/>
                          <a:cs typeface="Calibri" pitchFamily="34" charset="-120"/>
                        </a:rPr>
                        <a:t>Linear interpolation of two inputs and labels, λ ~ Beta</a:t>
                      </a:r>
                      <a:endParaRPr lang="en-US" sz="1200" dirty="0">
                        <a:latin typeface="Calibri" charset="0"/>
                        <a:ea typeface="Calibri" charset="0"/>
                        <a:cs typeface="Calibri" charset="0"/>
                      </a:endParaRPr>
                    </a:p>
                  </a:txBody>
                  <a:tcPr marL="91440" marR="91440" marT="45720" marB="45720" anchor="ctr">
                    <a:lnL w="9525" cap="flat" cmpd="sng" algn="ctr">
                      <a:solidFill>
                        <a:srgbClr val="DDE3EA"/>
                      </a:solidFill>
                      <a:prstDash val="solid"/>
                      <a:round/>
                      <a:headEnd type="none" w="med" len="med"/>
                      <a:tailEnd type="none" w="med" len="med"/>
                    </a:lnL>
                    <a:lnR w="9525" cap="flat" cmpd="sng" algn="ctr">
                      <a:solidFill>
                        <a:srgbClr val="DDE3EA"/>
                      </a:solidFill>
                      <a:prstDash val="solid"/>
                      <a:round/>
                      <a:headEnd type="none" w="med" len="med"/>
                      <a:tailEnd type="none" w="med" len="med"/>
                    </a:lnR>
                    <a:lnT w="9525" cap="flat" cmpd="sng" algn="ctr">
                      <a:solidFill>
                        <a:srgbClr val="DDE3EA"/>
                      </a:solidFill>
                      <a:prstDash val="solid"/>
                      <a:round/>
                      <a:headEnd type="none" w="med" len="med"/>
                      <a:tailEnd type="none" w="med" len="med"/>
                    </a:lnT>
                    <a:lnB w="9525" cap="flat" cmpd="sng" algn="ctr">
                      <a:solidFill>
                        <a:srgbClr val="DDE3EA"/>
                      </a:solidFill>
                      <a:prstDash val="solid"/>
                      <a:round/>
                      <a:headEnd type="none" w="med" len="med"/>
                      <a:tailEnd type="none" w="med" len="med"/>
                    </a:lnB>
                    <a:solidFill>
                      <a:srgbClr val="FFFFFF"/>
                    </a:solidFill>
                  </a:tcPr>
                </a:tc>
                <a:tc>
                  <a:txBody>
                    <a:bodyPr/>
                    <a:lstStyle/>
                    <a:p>
                      <a:pPr indent="0" marL="0">
                        <a:buNone/>
                      </a:pPr>
                      <a:r>
                        <a:rPr lang="en-US" sz="1200" dirty="0">
                          <a:solidFill>
                            <a:srgbClr val="273449"/>
                          </a:solidFill>
                          <a:latin typeface="Calibri" pitchFamily="34" charset="0"/>
                          <a:ea typeface="Calibri" pitchFamily="34" charset="-122"/>
                          <a:cs typeface="Calibri" pitchFamily="34" charset="-120"/>
                        </a:rPr>
                        <a:t>Baseline; designed for classification</a:t>
                      </a:r>
                      <a:endParaRPr lang="en-US" sz="1200" dirty="0">
                        <a:latin typeface="Calibri" charset="0"/>
                        <a:ea typeface="Calibri" charset="0"/>
                        <a:cs typeface="Calibri" charset="0"/>
                      </a:endParaRPr>
                    </a:p>
                  </a:txBody>
                  <a:tcPr marL="91440" marR="91440" marT="45720" marB="45720" anchor="ctr">
                    <a:lnL w="9525" cap="flat" cmpd="sng" algn="ctr">
                      <a:solidFill>
                        <a:srgbClr val="DDE3EA"/>
                      </a:solidFill>
                      <a:prstDash val="solid"/>
                      <a:round/>
                      <a:headEnd type="none" w="med" len="med"/>
                      <a:tailEnd type="none" w="med" len="med"/>
                    </a:lnL>
                    <a:lnR w="9525" cap="flat" cmpd="sng" algn="ctr">
                      <a:solidFill>
                        <a:srgbClr val="DDE3EA"/>
                      </a:solidFill>
                      <a:prstDash val="solid"/>
                      <a:round/>
                      <a:headEnd type="none" w="med" len="med"/>
                      <a:tailEnd type="none" w="med" len="med"/>
                    </a:lnR>
                    <a:lnT w="9525" cap="flat" cmpd="sng" algn="ctr">
                      <a:solidFill>
                        <a:srgbClr val="DDE3EA"/>
                      </a:solidFill>
                      <a:prstDash val="solid"/>
                      <a:round/>
                      <a:headEnd type="none" w="med" len="med"/>
                      <a:tailEnd type="none" w="med" len="med"/>
                    </a:lnT>
                    <a:lnB w="9525" cap="flat" cmpd="sng" algn="ctr">
                      <a:solidFill>
                        <a:srgbClr val="DDE3EA"/>
                      </a:solidFill>
                      <a:prstDash val="solid"/>
                      <a:round/>
                      <a:headEnd type="none" w="med" len="med"/>
                      <a:tailEnd type="none" w="med" len="med"/>
                    </a:lnB>
                    <a:solidFill>
                      <a:srgbClr val="FFFFFF"/>
                    </a:solidFill>
                  </a:tcPr>
                </a:tc>
              </a:tr>
              <a:tr h="457200">
                <a:tc>
                  <a:txBody>
                    <a:bodyPr/>
                    <a:lstStyle/>
                    <a:p>
                      <a:pPr indent="0" marL="0">
                        <a:buNone/>
                      </a:pPr>
                      <a:r>
                        <a:rPr lang="en-US" sz="1200" b="1" dirty="0">
                          <a:solidFill>
                            <a:srgbClr val="273449"/>
                          </a:solidFill>
                          <a:latin typeface="Calibri" pitchFamily="34" charset="0"/>
                          <a:ea typeface="Calibri" pitchFamily="34" charset="-122"/>
                          <a:cs typeface="Calibri" pitchFamily="34" charset="-120"/>
                        </a:rPr>
                        <a:t>Manifold intrusion [14]</a:t>
                      </a:r>
                      <a:endParaRPr lang="en-US" sz="1200" dirty="0">
                        <a:latin typeface="Calibri" charset="0"/>
                        <a:ea typeface="Calibri" charset="0"/>
                        <a:cs typeface="Calibri" charset="0"/>
                      </a:endParaRPr>
                    </a:p>
                  </a:txBody>
                  <a:tcPr marL="91440" marR="91440" marT="45720" marB="45720" anchor="ctr">
                    <a:lnL w="9525" cap="flat" cmpd="sng" algn="ctr">
                      <a:solidFill>
                        <a:srgbClr val="DDE3EA"/>
                      </a:solidFill>
                      <a:prstDash val="solid"/>
                      <a:round/>
                      <a:headEnd type="none" w="med" len="med"/>
                      <a:tailEnd type="none" w="med" len="med"/>
                    </a:lnL>
                    <a:lnR w="9525" cap="flat" cmpd="sng" algn="ctr">
                      <a:solidFill>
                        <a:srgbClr val="DDE3EA"/>
                      </a:solidFill>
                      <a:prstDash val="solid"/>
                      <a:round/>
                      <a:headEnd type="none" w="med" len="med"/>
                      <a:tailEnd type="none" w="med" len="med"/>
                    </a:lnR>
                    <a:lnT w="9525" cap="flat" cmpd="sng" algn="ctr">
                      <a:solidFill>
                        <a:srgbClr val="DDE3EA"/>
                      </a:solidFill>
                      <a:prstDash val="solid"/>
                      <a:round/>
                      <a:headEnd type="none" w="med" len="med"/>
                      <a:tailEnd type="none" w="med" len="med"/>
                    </a:lnT>
                    <a:lnB w="9525" cap="flat" cmpd="sng" algn="ctr">
                      <a:solidFill>
                        <a:srgbClr val="DDE3EA"/>
                      </a:solidFill>
                      <a:prstDash val="solid"/>
                      <a:round/>
                      <a:headEnd type="none" w="med" len="med"/>
                      <a:tailEnd type="none" w="med" len="med"/>
                    </a:lnB>
                    <a:solidFill>
                      <a:srgbClr val="FFFFFF"/>
                    </a:solidFill>
                  </a:tcPr>
                </a:tc>
                <a:tc>
                  <a:txBody>
                    <a:bodyPr/>
                    <a:lstStyle/>
                    <a:p>
                      <a:pPr indent="0" marL="0">
                        <a:buNone/>
                      </a:pPr>
                      <a:r>
                        <a:rPr lang="en-US" sz="1200" dirty="0">
                          <a:solidFill>
                            <a:srgbClr val="273449"/>
                          </a:solidFill>
                          <a:latin typeface="Calibri" pitchFamily="34" charset="0"/>
                          <a:ea typeface="Calibri" pitchFamily="34" charset="-122"/>
                          <a:cs typeface="Calibri" pitchFamily="34" charset="-120"/>
                        </a:rPr>
                        <a:t>Mixed label falls on the wrong label manifold</a:t>
                      </a:r>
                      <a:endParaRPr lang="en-US" sz="1200" dirty="0">
                        <a:latin typeface="Calibri" charset="0"/>
                        <a:ea typeface="Calibri" charset="0"/>
                        <a:cs typeface="Calibri" charset="0"/>
                      </a:endParaRPr>
                    </a:p>
                  </a:txBody>
                  <a:tcPr marL="91440" marR="91440" marT="45720" marB="45720" anchor="ctr">
                    <a:lnL w="9525" cap="flat" cmpd="sng" algn="ctr">
                      <a:solidFill>
                        <a:srgbClr val="DDE3EA"/>
                      </a:solidFill>
                      <a:prstDash val="solid"/>
                      <a:round/>
                      <a:headEnd type="none" w="med" len="med"/>
                      <a:tailEnd type="none" w="med" len="med"/>
                    </a:lnL>
                    <a:lnR w="9525" cap="flat" cmpd="sng" algn="ctr">
                      <a:solidFill>
                        <a:srgbClr val="DDE3EA"/>
                      </a:solidFill>
                      <a:prstDash val="solid"/>
                      <a:round/>
                      <a:headEnd type="none" w="med" len="med"/>
                      <a:tailEnd type="none" w="med" len="med"/>
                    </a:lnR>
                    <a:lnT w="9525" cap="flat" cmpd="sng" algn="ctr">
                      <a:solidFill>
                        <a:srgbClr val="DDE3EA"/>
                      </a:solidFill>
                      <a:prstDash val="solid"/>
                      <a:round/>
                      <a:headEnd type="none" w="med" len="med"/>
                      <a:tailEnd type="none" w="med" len="med"/>
                    </a:lnT>
                    <a:lnB w="9525" cap="flat" cmpd="sng" algn="ctr">
                      <a:solidFill>
                        <a:srgbClr val="DDE3EA"/>
                      </a:solidFill>
                      <a:prstDash val="solid"/>
                      <a:round/>
                      <a:headEnd type="none" w="med" len="med"/>
                      <a:tailEnd type="none" w="med" len="med"/>
                    </a:lnB>
                    <a:solidFill>
                      <a:srgbClr val="FFFFFF"/>
                    </a:solidFill>
                  </a:tcPr>
                </a:tc>
                <a:tc>
                  <a:txBody>
                    <a:bodyPr/>
                    <a:lstStyle/>
                    <a:p>
                      <a:pPr indent="0" marL="0">
                        <a:buNone/>
                      </a:pPr>
                      <a:r>
                        <a:rPr lang="en-US" sz="1200" dirty="0">
                          <a:solidFill>
                            <a:srgbClr val="273449"/>
                          </a:solidFill>
                          <a:latin typeface="Calibri" pitchFamily="34" charset="0"/>
                          <a:ea typeface="Calibri" pitchFamily="34" charset="-122"/>
                          <a:cs typeface="Calibri" pitchFamily="34" charset="-120"/>
                        </a:rPr>
                        <a:t>Explains harm from distant mixing</a:t>
                      </a:r>
                      <a:endParaRPr lang="en-US" sz="1200" dirty="0">
                        <a:latin typeface="Calibri" charset="0"/>
                        <a:ea typeface="Calibri" charset="0"/>
                        <a:cs typeface="Calibri" charset="0"/>
                      </a:endParaRPr>
                    </a:p>
                  </a:txBody>
                  <a:tcPr marL="91440" marR="91440" marT="45720" marB="45720" anchor="ctr">
                    <a:lnL w="9525" cap="flat" cmpd="sng" algn="ctr">
                      <a:solidFill>
                        <a:srgbClr val="DDE3EA"/>
                      </a:solidFill>
                      <a:prstDash val="solid"/>
                      <a:round/>
                      <a:headEnd type="none" w="med" len="med"/>
                      <a:tailEnd type="none" w="med" len="med"/>
                    </a:lnL>
                    <a:lnR w="9525" cap="flat" cmpd="sng" algn="ctr">
                      <a:solidFill>
                        <a:srgbClr val="DDE3EA"/>
                      </a:solidFill>
                      <a:prstDash val="solid"/>
                      <a:round/>
                      <a:headEnd type="none" w="med" len="med"/>
                      <a:tailEnd type="none" w="med" len="med"/>
                    </a:lnR>
                    <a:lnT w="9525" cap="flat" cmpd="sng" algn="ctr">
                      <a:solidFill>
                        <a:srgbClr val="DDE3EA"/>
                      </a:solidFill>
                      <a:prstDash val="solid"/>
                      <a:round/>
                      <a:headEnd type="none" w="med" len="med"/>
                      <a:tailEnd type="none" w="med" len="med"/>
                    </a:lnT>
                    <a:lnB w="9525" cap="flat" cmpd="sng" algn="ctr">
                      <a:solidFill>
                        <a:srgbClr val="DDE3EA"/>
                      </a:solidFill>
                      <a:prstDash val="solid"/>
                      <a:round/>
                      <a:headEnd type="none" w="med" len="med"/>
                      <a:tailEnd type="none" w="med" len="med"/>
                    </a:lnB>
                    <a:solidFill>
                      <a:srgbClr val="FFFFFF"/>
                    </a:solidFill>
                  </a:tcPr>
                </a:tc>
              </a:tr>
              <a:tr h="457200">
                <a:tc>
                  <a:txBody>
                    <a:bodyPr/>
                    <a:lstStyle/>
                    <a:p>
                      <a:pPr indent="0" marL="0">
                        <a:buNone/>
                      </a:pPr>
                      <a:r>
                        <a:rPr lang="en-US" sz="1200" b="1" dirty="0">
                          <a:solidFill>
                            <a:srgbClr val="273449"/>
                          </a:solidFill>
                          <a:latin typeface="Calibri" pitchFamily="34" charset="0"/>
                          <a:ea typeface="Calibri" pitchFamily="34" charset="-122"/>
                          <a:cs typeface="Calibri" pitchFamily="34" charset="-120"/>
                        </a:rPr>
                        <a:t>RegMix [15]</a:t>
                      </a:r>
                      <a:endParaRPr lang="en-US" sz="1200" dirty="0">
                        <a:latin typeface="Calibri" charset="0"/>
                        <a:ea typeface="Calibri" charset="0"/>
                        <a:cs typeface="Calibri" charset="0"/>
                      </a:endParaRPr>
                    </a:p>
                  </a:txBody>
                  <a:tcPr marL="91440" marR="91440" marT="45720" marB="45720" anchor="ctr">
                    <a:lnL w="9525" cap="flat" cmpd="sng" algn="ctr">
                      <a:solidFill>
                        <a:srgbClr val="DDE3EA"/>
                      </a:solidFill>
                      <a:prstDash val="solid"/>
                      <a:round/>
                      <a:headEnd type="none" w="med" len="med"/>
                      <a:tailEnd type="none" w="med" len="med"/>
                    </a:lnL>
                    <a:lnR w="9525" cap="flat" cmpd="sng" algn="ctr">
                      <a:solidFill>
                        <a:srgbClr val="DDE3EA"/>
                      </a:solidFill>
                      <a:prstDash val="solid"/>
                      <a:round/>
                      <a:headEnd type="none" w="med" len="med"/>
                      <a:tailEnd type="none" w="med" len="med"/>
                    </a:lnR>
                    <a:lnT w="9525" cap="flat" cmpd="sng" algn="ctr">
                      <a:solidFill>
                        <a:srgbClr val="DDE3EA"/>
                      </a:solidFill>
                      <a:prstDash val="solid"/>
                      <a:round/>
                      <a:headEnd type="none" w="med" len="med"/>
                      <a:tailEnd type="none" w="med" len="med"/>
                    </a:lnT>
                    <a:lnB w="9525" cap="flat" cmpd="sng" algn="ctr">
                      <a:solidFill>
                        <a:srgbClr val="DDE3EA"/>
                      </a:solidFill>
                      <a:prstDash val="solid"/>
                      <a:round/>
                      <a:headEnd type="none" w="med" len="med"/>
                      <a:tailEnd type="none" w="med" len="med"/>
                    </a:lnB>
                    <a:solidFill>
                      <a:srgbClr val="FFFFFF"/>
                    </a:solidFill>
                  </a:tcPr>
                </a:tc>
                <a:tc>
                  <a:txBody>
                    <a:bodyPr/>
                    <a:lstStyle/>
                    <a:p>
                      <a:pPr indent="0" marL="0">
                        <a:buNone/>
                      </a:pPr>
                      <a:r>
                        <a:rPr lang="en-US" sz="1200" dirty="0">
                          <a:solidFill>
                            <a:srgbClr val="273449"/>
                          </a:solidFill>
                          <a:latin typeface="Calibri" pitchFamily="34" charset="0"/>
                          <a:ea typeface="Calibri" pitchFamily="34" charset="-122"/>
                          <a:cs typeface="Calibri" pitchFamily="34" charset="-120"/>
                        </a:rPr>
                        <a:t>RL controller picks k nearest neighbours per example</a:t>
                      </a:r>
                      <a:endParaRPr lang="en-US" sz="1200" dirty="0">
                        <a:latin typeface="Calibri" charset="0"/>
                        <a:ea typeface="Calibri" charset="0"/>
                        <a:cs typeface="Calibri" charset="0"/>
                      </a:endParaRPr>
                    </a:p>
                  </a:txBody>
                  <a:tcPr marL="91440" marR="91440" marT="45720" marB="45720" anchor="ctr">
                    <a:lnL w="9525" cap="flat" cmpd="sng" algn="ctr">
                      <a:solidFill>
                        <a:srgbClr val="DDE3EA"/>
                      </a:solidFill>
                      <a:prstDash val="solid"/>
                      <a:round/>
                      <a:headEnd type="none" w="med" len="med"/>
                      <a:tailEnd type="none" w="med" len="med"/>
                    </a:lnL>
                    <a:lnR w="9525" cap="flat" cmpd="sng" algn="ctr">
                      <a:solidFill>
                        <a:srgbClr val="DDE3EA"/>
                      </a:solidFill>
                      <a:prstDash val="solid"/>
                      <a:round/>
                      <a:headEnd type="none" w="med" len="med"/>
                      <a:tailEnd type="none" w="med" len="med"/>
                    </a:lnR>
                    <a:lnT w="9525" cap="flat" cmpd="sng" algn="ctr">
                      <a:solidFill>
                        <a:srgbClr val="DDE3EA"/>
                      </a:solidFill>
                      <a:prstDash val="solid"/>
                      <a:round/>
                      <a:headEnd type="none" w="med" len="med"/>
                      <a:tailEnd type="none" w="med" len="med"/>
                    </a:lnT>
                    <a:lnB w="9525" cap="flat" cmpd="sng" algn="ctr">
                      <a:solidFill>
                        <a:srgbClr val="DDE3EA"/>
                      </a:solidFill>
                      <a:prstDash val="solid"/>
                      <a:round/>
                      <a:headEnd type="none" w="med" len="med"/>
                      <a:tailEnd type="none" w="med" len="med"/>
                    </a:lnB>
                    <a:solidFill>
                      <a:srgbClr val="FFFFFF"/>
                    </a:solidFill>
                  </a:tcPr>
                </a:tc>
                <a:tc>
                  <a:txBody>
                    <a:bodyPr/>
                    <a:lstStyle/>
                    <a:p>
                      <a:pPr indent="0" marL="0">
                        <a:buNone/>
                      </a:pPr>
                      <a:r>
                        <a:rPr lang="en-US" sz="1200" dirty="0">
                          <a:solidFill>
                            <a:srgbClr val="273449"/>
                          </a:solidFill>
                          <a:latin typeface="Calibri" pitchFamily="34" charset="0"/>
                          <a:ea typeface="Calibri" pitchFamily="34" charset="-122"/>
                          <a:cs typeface="Calibri" pitchFamily="34" charset="-120"/>
                        </a:rPr>
                        <a:t>Re-implemented here with reduced budget</a:t>
                      </a:r>
                      <a:endParaRPr lang="en-US" sz="1200" dirty="0">
                        <a:latin typeface="Calibri" charset="0"/>
                        <a:ea typeface="Calibri" charset="0"/>
                        <a:cs typeface="Calibri" charset="0"/>
                      </a:endParaRPr>
                    </a:p>
                  </a:txBody>
                  <a:tcPr marL="91440" marR="91440" marT="45720" marB="45720" anchor="ctr">
                    <a:lnL w="9525" cap="flat" cmpd="sng" algn="ctr">
                      <a:solidFill>
                        <a:srgbClr val="DDE3EA"/>
                      </a:solidFill>
                      <a:prstDash val="solid"/>
                      <a:round/>
                      <a:headEnd type="none" w="med" len="med"/>
                      <a:tailEnd type="none" w="med" len="med"/>
                    </a:lnL>
                    <a:lnR w="9525" cap="flat" cmpd="sng" algn="ctr">
                      <a:solidFill>
                        <a:srgbClr val="DDE3EA"/>
                      </a:solidFill>
                      <a:prstDash val="solid"/>
                      <a:round/>
                      <a:headEnd type="none" w="med" len="med"/>
                      <a:tailEnd type="none" w="med" len="med"/>
                    </a:lnR>
                    <a:lnT w="9525" cap="flat" cmpd="sng" algn="ctr">
                      <a:solidFill>
                        <a:srgbClr val="DDE3EA"/>
                      </a:solidFill>
                      <a:prstDash val="solid"/>
                      <a:round/>
                      <a:headEnd type="none" w="med" len="med"/>
                      <a:tailEnd type="none" w="med" len="med"/>
                    </a:lnT>
                    <a:lnB w="9525" cap="flat" cmpd="sng" algn="ctr">
                      <a:solidFill>
                        <a:srgbClr val="DDE3EA"/>
                      </a:solidFill>
                      <a:prstDash val="solid"/>
                      <a:round/>
                      <a:headEnd type="none" w="med" len="med"/>
                      <a:tailEnd type="none" w="med" len="med"/>
                    </a:lnB>
                    <a:solidFill>
                      <a:srgbClr val="FFFFFF"/>
                    </a:solidFill>
                  </a:tcPr>
                </a:tc>
              </a:tr>
              <a:tr h="457200">
                <a:tc>
                  <a:txBody>
                    <a:bodyPr/>
                    <a:lstStyle/>
                    <a:p>
                      <a:pPr indent="0" marL="0">
                        <a:buNone/>
                      </a:pPr>
                      <a:r>
                        <a:rPr lang="en-US" sz="1200" b="1" dirty="0">
                          <a:solidFill>
                            <a:srgbClr val="273449"/>
                          </a:solidFill>
                          <a:latin typeface="Calibri" pitchFamily="34" charset="0"/>
                          <a:ea typeface="Calibri" pitchFamily="34" charset="-122"/>
                          <a:cs typeface="Calibri" pitchFamily="34" charset="-120"/>
                        </a:rPr>
                        <a:t>C-Mixup [19]</a:t>
                      </a:r>
                      <a:endParaRPr lang="en-US" sz="1200" dirty="0">
                        <a:latin typeface="Calibri" charset="0"/>
                        <a:ea typeface="Calibri" charset="0"/>
                        <a:cs typeface="Calibri" charset="0"/>
                      </a:endParaRPr>
                    </a:p>
                  </a:txBody>
                  <a:tcPr marL="91440" marR="91440" marT="45720" marB="45720" anchor="ctr">
                    <a:lnL w="9525" cap="flat" cmpd="sng" algn="ctr">
                      <a:solidFill>
                        <a:srgbClr val="DDE3EA"/>
                      </a:solidFill>
                      <a:prstDash val="solid"/>
                      <a:round/>
                      <a:headEnd type="none" w="med" len="med"/>
                      <a:tailEnd type="none" w="med" len="med"/>
                    </a:lnL>
                    <a:lnR w="9525" cap="flat" cmpd="sng" algn="ctr">
                      <a:solidFill>
                        <a:srgbClr val="DDE3EA"/>
                      </a:solidFill>
                      <a:prstDash val="solid"/>
                      <a:round/>
                      <a:headEnd type="none" w="med" len="med"/>
                      <a:tailEnd type="none" w="med" len="med"/>
                    </a:lnR>
                    <a:lnT w="9525" cap="flat" cmpd="sng" algn="ctr">
                      <a:solidFill>
                        <a:srgbClr val="DDE3EA"/>
                      </a:solidFill>
                      <a:prstDash val="solid"/>
                      <a:round/>
                      <a:headEnd type="none" w="med" len="med"/>
                      <a:tailEnd type="none" w="med" len="med"/>
                    </a:lnT>
                    <a:lnB w="9525" cap="flat" cmpd="sng" algn="ctr">
                      <a:solidFill>
                        <a:srgbClr val="DDE3EA"/>
                      </a:solidFill>
                      <a:prstDash val="solid"/>
                      <a:round/>
                      <a:headEnd type="none" w="med" len="med"/>
                      <a:tailEnd type="none" w="med" len="med"/>
                    </a:lnB>
                    <a:solidFill>
                      <a:srgbClr val="FFFFFF"/>
                    </a:solidFill>
                  </a:tcPr>
                </a:tc>
                <a:tc>
                  <a:txBody>
                    <a:bodyPr/>
                    <a:lstStyle/>
                    <a:p>
                      <a:pPr indent="0" marL="0">
                        <a:buNone/>
                      </a:pPr>
                      <a:r>
                        <a:rPr lang="en-US" sz="1200" dirty="0">
                          <a:solidFill>
                            <a:srgbClr val="273449"/>
                          </a:solidFill>
                          <a:latin typeface="Calibri" pitchFamily="34" charset="0"/>
                          <a:ea typeface="Calibri" pitchFamily="34" charset="-122"/>
                          <a:cs typeface="Calibri" pitchFamily="34" charset="-120"/>
                        </a:rPr>
                        <a:t>Samples mixing partners by label similarity</a:t>
                      </a:r>
                      <a:endParaRPr lang="en-US" sz="1200" dirty="0">
                        <a:latin typeface="Calibri" charset="0"/>
                        <a:ea typeface="Calibri" charset="0"/>
                        <a:cs typeface="Calibri" charset="0"/>
                      </a:endParaRPr>
                    </a:p>
                  </a:txBody>
                  <a:tcPr marL="91440" marR="91440" marT="45720" marB="45720" anchor="ctr">
                    <a:lnL w="9525" cap="flat" cmpd="sng" algn="ctr">
                      <a:solidFill>
                        <a:srgbClr val="DDE3EA"/>
                      </a:solidFill>
                      <a:prstDash val="solid"/>
                      <a:round/>
                      <a:headEnd type="none" w="med" len="med"/>
                      <a:tailEnd type="none" w="med" len="med"/>
                    </a:lnL>
                    <a:lnR w="9525" cap="flat" cmpd="sng" algn="ctr">
                      <a:solidFill>
                        <a:srgbClr val="DDE3EA"/>
                      </a:solidFill>
                      <a:prstDash val="solid"/>
                      <a:round/>
                      <a:headEnd type="none" w="med" len="med"/>
                      <a:tailEnd type="none" w="med" len="med"/>
                    </a:lnR>
                    <a:lnT w="9525" cap="flat" cmpd="sng" algn="ctr">
                      <a:solidFill>
                        <a:srgbClr val="DDE3EA"/>
                      </a:solidFill>
                      <a:prstDash val="solid"/>
                      <a:round/>
                      <a:headEnd type="none" w="med" len="med"/>
                      <a:tailEnd type="none" w="med" len="med"/>
                    </a:lnT>
                    <a:lnB w="9525" cap="flat" cmpd="sng" algn="ctr">
                      <a:solidFill>
                        <a:srgbClr val="DDE3EA"/>
                      </a:solidFill>
                      <a:prstDash val="solid"/>
                      <a:round/>
                      <a:headEnd type="none" w="med" len="med"/>
                      <a:tailEnd type="none" w="med" len="med"/>
                    </a:lnB>
                    <a:solidFill>
                      <a:srgbClr val="FFFFFF"/>
                    </a:solidFill>
                  </a:tcPr>
                </a:tc>
                <a:tc>
                  <a:txBody>
                    <a:bodyPr/>
                    <a:lstStyle/>
                    <a:p>
                      <a:pPr indent="0" marL="0">
                        <a:buNone/>
                      </a:pPr>
                      <a:r>
                        <a:rPr lang="en-US" sz="1200" dirty="0">
                          <a:solidFill>
                            <a:srgbClr val="273449"/>
                          </a:solidFill>
                          <a:latin typeface="Calibri" pitchFamily="34" charset="0"/>
                          <a:ea typeface="Calibri" pitchFamily="34" charset="-122"/>
                          <a:cs typeface="Calibri" pitchFamily="34" charset="-120"/>
                        </a:rPr>
                        <a:t>Related alternative; future work</a:t>
                      </a:r>
                      <a:endParaRPr lang="en-US" sz="1200" dirty="0">
                        <a:latin typeface="Calibri" charset="0"/>
                        <a:ea typeface="Calibri" charset="0"/>
                        <a:cs typeface="Calibri" charset="0"/>
                      </a:endParaRPr>
                    </a:p>
                  </a:txBody>
                  <a:tcPr marL="91440" marR="91440" marT="45720" marB="45720" anchor="ctr">
                    <a:lnL w="9525" cap="flat" cmpd="sng" algn="ctr">
                      <a:solidFill>
                        <a:srgbClr val="DDE3EA"/>
                      </a:solidFill>
                      <a:prstDash val="solid"/>
                      <a:round/>
                      <a:headEnd type="none" w="med" len="med"/>
                      <a:tailEnd type="none" w="med" len="med"/>
                    </a:lnL>
                    <a:lnR w="9525" cap="flat" cmpd="sng" algn="ctr">
                      <a:solidFill>
                        <a:srgbClr val="DDE3EA"/>
                      </a:solidFill>
                      <a:prstDash val="solid"/>
                      <a:round/>
                      <a:headEnd type="none" w="med" len="med"/>
                      <a:tailEnd type="none" w="med" len="med"/>
                    </a:lnR>
                    <a:lnT w="9525" cap="flat" cmpd="sng" algn="ctr">
                      <a:solidFill>
                        <a:srgbClr val="DDE3EA"/>
                      </a:solidFill>
                      <a:prstDash val="solid"/>
                      <a:round/>
                      <a:headEnd type="none" w="med" len="med"/>
                      <a:tailEnd type="none" w="med" len="med"/>
                    </a:lnT>
                    <a:lnB w="9525" cap="flat" cmpd="sng" algn="ctr">
                      <a:solidFill>
                        <a:srgbClr val="DDE3EA"/>
                      </a:solidFill>
                      <a:prstDash val="solid"/>
                      <a:round/>
                      <a:headEnd type="none" w="med" len="med"/>
                      <a:tailEnd type="none" w="med" len="med"/>
                    </a:lnB>
                    <a:solidFill>
                      <a:srgbClr val="FFFFFF"/>
                    </a:solidFill>
                  </a:tcPr>
                </a:tc>
              </a:tr>
              <a:tr h="457200">
                <a:tc>
                  <a:txBody>
                    <a:bodyPr/>
                    <a:lstStyle/>
                    <a:p>
                      <a:pPr indent="0" marL="0">
                        <a:buNone/>
                      </a:pPr>
                      <a:r>
                        <a:rPr lang="en-US" sz="1200" b="1" dirty="0">
                          <a:solidFill>
                            <a:srgbClr val="273449"/>
                          </a:solidFill>
                          <a:latin typeface="Calibri" pitchFamily="34" charset="0"/>
                          <a:ea typeface="Calibri" pitchFamily="34" charset="-122"/>
                          <a:cs typeface="Calibri" pitchFamily="34" charset="-120"/>
                        </a:rPr>
                        <a:t>Manifold Mixup [11], CutMix [12]</a:t>
                      </a:r>
                      <a:endParaRPr lang="en-US" sz="1200" dirty="0">
                        <a:latin typeface="Calibri" charset="0"/>
                        <a:ea typeface="Calibri" charset="0"/>
                        <a:cs typeface="Calibri" charset="0"/>
                      </a:endParaRPr>
                    </a:p>
                  </a:txBody>
                  <a:tcPr marL="91440" marR="91440" marT="45720" marB="45720" anchor="ctr">
                    <a:lnL w="9525" cap="flat" cmpd="sng" algn="ctr">
                      <a:solidFill>
                        <a:srgbClr val="DDE3EA"/>
                      </a:solidFill>
                      <a:prstDash val="solid"/>
                      <a:round/>
                      <a:headEnd type="none" w="med" len="med"/>
                      <a:tailEnd type="none" w="med" len="med"/>
                    </a:lnL>
                    <a:lnR w="9525" cap="flat" cmpd="sng" algn="ctr">
                      <a:solidFill>
                        <a:srgbClr val="DDE3EA"/>
                      </a:solidFill>
                      <a:prstDash val="solid"/>
                      <a:round/>
                      <a:headEnd type="none" w="med" len="med"/>
                      <a:tailEnd type="none" w="med" len="med"/>
                    </a:lnR>
                    <a:lnT w="9525" cap="flat" cmpd="sng" algn="ctr">
                      <a:solidFill>
                        <a:srgbClr val="DDE3EA"/>
                      </a:solidFill>
                      <a:prstDash val="solid"/>
                      <a:round/>
                      <a:headEnd type="none" w="med" len="med"/>
                      <a:tailEnd type="none" w="med" len="med"/>
                    </a:lnT>
                    <a:lnB w="9525" cap="flat" cmpd="sng" algn="ctr">
                      <a:solidFill>
                        <a:srgbClr val="DDE3EA"/>
                      </a:solidFill>
                      <a:prstDash val="solid"/>
                      <a:round/>
                      <a:headEnd type="none" w="med" len="med"/>
                      <a:tailEnd type="none" w="med" len="med"/>
                    </a:lnB>
                    <a:solidFill>
                      <a:srgbClr val="FFFFFF"/>
                    </a:solidFill>
                  </a:tcPr>
                </a:tc>
                <a:tc>
                  <a:txBody>
                    <a:bodyPr/>
                    <a:lstStyle/>
                    <a:p>
                      <a:pPr indent="0" marL="0">
                        <a:buNone/>
                      </a:pPr>
                      <a:r>
                        <a:rPr lang="en-US" sz="1200" dirty="0">
                          <a:solidFill>
                            <a:srgbClr val="273449"/>
                          </a:solidFill>
                          <a:latin typeface="Calibri" pitchFamily="34" charset="0"/>
                          <a:ea typeface="Calibri" pitchFamily="34" charset="-122"/>
                          <a:cs typeface="Calibri" pitchFamily="34" charset="-120"/>
                        </a:rPr>
                        <a:t>Mix hidden states; cut-and-paste image patches</a:t>
                      </a:r>
                      <a:endParaRPr lang="en-US" sz="1200" dirty="0">
                        <a:latin typeface="Calibri" charset="0"/>
                        <a:ea typeface="Calibri" charset="0"/>
                        <a:cs typeface="Calibri" charset="0"/>
                      </a:endParaRPr>
                    </a:p>
                  </a:txBody>
                  <a:tcPr marL="91440" marR="91440" marT="45720" marB="45720" anchor="ctr">
                    <a:lnL w="9525" cap="flat" cmpd="sng" algn="ctr">
                      <a:solidFill>
                        <a:srgbClr val="DDE3EA"/>
                      </a:solidFill>
                      <a:prstDash val="solid"/>
                      <a:round/>
                      <a:headEnd type="none" w="med" len="med"/>
                      <a:tailEnd type="none" w="med" len="med"/>
                    </a:lnL>
                    <a:lnR w="9525" cap="flat" cmpd="sng" algn="ctr">
                      <a:solidFill>
                        <a:srgbClr val="DDE3EA"/>
                      </a:solidFill>
                      <a:prstDash val="solid"/>
                      <a:round/>
                      <a:headEnd type="none" w="med" len="med"/>
                      <a:tailEnd type="none" w="med" len="med"/>
                    </a:lnR>
                    <a:lnT w="9525" cap="flat" cmpd="sng" algn="ctr">
                      <a:solidFill>
                        <a:srgbClr val="DDE3EA"/>
                      </a:solidFill>
                      <a:prstDash val="solid"/>
                      <a:round/>
                      <a:headEnd type="none" w="med" len="med"/>
                      <a:tailEnd type="none" w="med" len="med"/>
                    </a:lnT>
                    <a:lnB w="9525" cap="flat" cmpd="sng" algn="ctr">
                      <a:solidFill>
                        <a:srgbClr val="DDE3EA"/>
                      </a:solidFill>
                      <a:prstDash val="solid"/>
                      <a:round/>
                      <a:headEnd type="none" w="med" len="med"/>
                      <a:tailEnd type="none" w="med" len="med"/>
                    </a:lnB>
                    <a:solidFill>
                      <a:srgbClr val="FFFFFF"/>
                    </a:solidFill>
                  </a:tcPr>
                </a:tc>
                <a:tc>
                  <a:txBody>
                    <a:bodyPr/>
                    <a:lstStyle/>
                    <a:p>
                      <a:pPr indent="0" marL="0">
                        <a:buNone/>
                      </a:pPr>
                      <a:r>
                        <a:rPr lang="en-US" sz="1200" dirty="0">
                          <a:solidFill>
                            <a:srgbClr val="273449"/>
                          </a:solidFill>
                          <a:latin typeface="Calibri" pitchFamily="34" charset="0"/>
                          <a:ea typeface="Calibri" pitchFamily="34" charset="-122"/>
                          <a:cs typeface="Calibri" pitchFamily="34" charset="-120"/>
                        </a:rPr>
                        <a:t>Classification variants of the same idea</a:t>
                      </a:r>
                      <a:endParaRPr lang="en-US" sz="1200" dirty="0">
                        <a:latin typeface="Calibri" charset="0"/>
                        <a:ea typeface="Calibri" charset="0"/>
                        <a:cs typeface="Calibri" charset="0"/>
                      </a:endParaRPr>
                    </a:p>
                  </a:txBody>
                  <a:tcPr marL="91440" marR="91440" marT="45720" marB="45720" anchor="ctr">
                    <a:lnL w="9525" cap="flat" cmpd="sng" algn="ctr">
                      <a:solidFill>
                        <a:srgbClr val="DDE3EA"/>
                      </a:solidFill>
                      <a:prstDash val="solid"/>
                      <a:round/>
                      <a:headEnd type="none" w="med" len="med"/>
                      <a:tailEnd type="none" w="med" len="med"/>
                    </a:lnL>
                    <a:lnR w="9525" cap="flat" cmpd="sng" algn="ctr">
                      <a:solidFill>
                        <a:srgbClr val="DDE3EA"/>
                      </a:solidFill>
                      <a:prstDash val="solid"/>
                      <a:round/>
                      <a:headEnd type="none" w="med" len="med"/>
                      <a:tailEnd type="none" w="med" len="med"/>
                    </a:lnR>
                    <a:lnT w="9525" cap="flat" cmpd="sng" algn="ctr">
                      <a:solidFill>
                        <a:srgbClr val="DDE3EA"/>
                      </a:solidFill>
                      <a:prstDash val="solid"/>
                      <a:round/>
                      <a:headEnd type="none" w="med" len="med"/>
                      <a:tailEnd type="none" w="med" len="med"/>
                    </a:lnT>
                    <a:lnB w="9525" cap="flat" cmpd="sng" algn="ctr">
                      <a:solidFill>
                        <a:srgbClr val="DDE3EA"/>
                      </a:solidFill>
                      <a:prstDash val="solid"/>
                      <a:round/>
                      <a:headEnd type="none" w="med" len="med"/>
                      <a:tailEnd type="none" w="med" len="med"/>
                    </a:lnB>
                    <a:solidFill>
                      <a:srgbClr val="FFFFFF"/>
                    </a:solidFill>
                  </a:tcPr>
                </a:tc>
              </a:tr>
              <a:tr h="457200">
                <a:tc>
                  <a:txBody>
                    <a:bodyPr/>
                    <a:lstStyle/>
                    <a:p>
                      <a:pPr indent="0" marL="0">
                        <a:buNone/>
                      </a:pPr>
                      <a:r>
                        <a:rPr lang="en-US" sz="1200" b="1" dirty="0">
                          <a:solidFill>
                            <a:srgbClr val="273449"/>
                          </a:solidFill>
                          <a:latin typeface="Calibri" pitchFamily="34" charset="0"/>
                          <a:ea typeface="Calibri" pitchFamily="34" charset="-122"/>
                          <a:cs typeface="Calibri" pitchFamily="34" charset="-120"/>
                        </a:rPr>
                        <a:t>AutoAugment [16], NAS [18]</a:t>
                      </a:r>
                      <a:endParaRPr lang="en-US" sz="1200" dirty="0">
                        <a:latin typeface="Calibri" charset="0"/>
                        <a:ea typeface="Calibri" charset="0"/>
                        <a:cs typeface="Calibri" charset="0"/>
                      </a:endParaRPr>
                    </a:p>
                  </a:txBody>
                  <a:tcPr marL="91440" marR="91440" marT="45720" marB="45720" anchor="ctr">
                    <a:lnL w="9525" cap="flat" cmpd="sng" algn="ctr">
                      <a:solidFill>
                        <a:srgbClr val="DDE3EA"/>
                      </a:solidFill>
                      <a:prstDash val="solid"/>
                      <a:round/>
                      <a:headEnd type="none" w="med" len="med"/>
                      <a:tailEnd type="none" w="med" len="med"/>
                    </a:lnL>
                    <a:lnR w="9525" cap="flat" cmpd="sng" algn="ctr">
                      <a:solidFill>
                        <a:srgbClr val="DDE3EA"/>
                      </a:solidFill>
                      <a:prstDash val="solid"/>
                      <a:round/>
                      <a:headEnd type="none" w="med" len="med"/>
                      <a:tailEnd type="none" w="med" len="med"/>
                    </a:lnR>
                    <a:lnT w="9525" cap="flat" cmpd="sng" algn="ctr">
                      <a:solidFill>
                        <a:srgbClr val="DDE3EA"/>
                      </a:solidFill>
                      <a:prstDash val="solid"/>
                      <a:round/>
                      <a:headEnd type="none" w="med" len="med"/>
                      <a:tailEnd type="none" w="med" len="med"/>
                    </a:lnT>
                    <a:lnB w="9525" cap="flat" cmpd="sng" algn="ctr">
                      <a:solidFill>
                        <a:srgbClr val="DDE3EA"/>
                      </a:solidFill>
                      <a:prstDash val="solid"/>
                      <a:round/>
                      <a:headEnd type="none" w="med" len="med"/>
                      <a:tailEnd type="none" w="med" len="med"/>
                    </a:lnB>
                    <a:solidFill>
                      <a:srgbClr val="FFFFFF"/>
                    </a:solidFill>
                  </a:tcPr>
                </a:tc>
                <a:tc>
                  <a:txBody>
                    <a:bodyPr/>
                    <a:lstStyle/>
                    <a:p>
                      <a:pPr indent="0" marL="0">
                        <a:buNone/>
                      </a:pPr>
                      <a:r>
                        <a:rPr lang="en-US" sz="1200" dirty="0">
                          <a:solidFill>
                            <a:srgbClr val="273449"/>
                          </a:solidFill>
                          <a:latin typeface="Calibri" pitchFamily="34" charset="0"/>
                          <a:ea typeface="Calibri" pitchFamily="34" charset="-122"/>
                          <a:cs typeface="Calibri" pitchFamily="34" charset="-120"/>
                        </a:rPr>
                        <a:t>Learned controller searches augmentation policies or architectures</a:t>
                      </a:r>
                      <a:endParaRPr lang="en-US" sz="1200" dirty="0">
                        <a:latin typeface="Calibri" charset="0"/>
                        <a:ea typeface="Calibri" charset="0"/>
                        <a:cs typeface="Calibri" charset="0"/>
                      </a:endParaRPr>
                    </a:p>
                  </a:txBody>
                  <a:tcPr marL="91440" marR="91440" marT="45720" marB="45720" anchor="ctr">
                    <a:lnL w="9525" cap="flat" cmpd="sng" algn="ctr">
                      <a:solidFill>
                        <a:srgbClr val="DDE3EA"/>
                      </a:solidFill>
                      <a:prstDash val="solid"/>
                      <a:round/>
                      <a:headEnd type="none" w="med" len="med"/>
                      <a:tailEnd type="none" w="med" len="med"/>
                    </a:lnL>
                    <a:lnR w="9525" cap="flat" cmpd="sng" algn="ctr">
                      <a:solidFill>
                        <a:srgbClr val="DDE3EA"/>
                      </a:solidFill>
                      <a:prstDash val="solid"/>
                      <a:round/>
                      <a:headEnd type="none" w="med" len="med"/>
                      <a:tailEnd type="none" w="med" len="med"/>
                    </a:lnR>
                    <a:lnT w="9525" cap="flat" cmpd="sng" algn="ctr">
                      <a:solidFill>
                        <a:srgbClr val="DDE3EA"/>
                      </a:solidFill>
                      <a:prstDash val="solid"/>
                      <a:round/>
                      <a:headEnd type="none" w="med" len="med"/>
                      <a:tailEnd type="none" w="med" len="med"/>
                    </a:lnT>
                    <a:lnB w="9525" cap="flat" cmpd="sng" algn="ctr">
                      <a:solidFill>
                        <a:srgbClr val="DDE3EA"/>
                      </a:solidFill>
                      <a:prstDash val="solid"/>
                      <a:round/>
                      <a:headEnd type="none" w="med" len="med"/>
                      <a:tailEnd type="none" w="med" len="med"/>
                    </a:lnB>
                    <a:solidFill>
                      <a:srgbClr val="FFFFFF"/>
                    </a:solidFill>
                  </a:tcPr>
                </a:tc>
                <a:tc>
                  <a:txBody>
                    <a:bodyPr/>
                    <a:lstStyle/>
                    <a:p>
                      <a:pPr indent="0" marL="0">
                        <a:buNone/>
                      </a:pPr>
                      <a:r>
                        <a:rPr lang="en-US" sz="1200" dirty="0">
                          <a:solidFill>
                            <a:srgbClr val="273449"/>
                          </a:solidFill>
                          <a:latin typeface="Calibri" pitchFamily="34" charset="0"/>
                          <a:ea typeface="Calibri" pitchFamily="34" charset="-122"/>
                          <a:cs typeface="Calibri" pitchFamily="34" charset="-120"/>
                        </a:rPr>
                        <a:t>Inspiration for the RegMix controller</a:t>
                      </a:r>
                      <a:endParaRPr lang="en-US" sz="1200" dirty="0">
                        <a:latin typeface="Calibri" charset="0"/>
                        <a:ea typeface="Calibri" charset="0"/>
                        <a:cs typeface="Calibri" charset="0"/>
                      </a:endParaRPr>
                    </a:p>
                  </a:txBody>
                  <a:tcPr marL="91440" marR="91440" marT="45720" marB="45720" anchor="ctr">
                    <a:lnL w="9525" cap="flat" cmpd="sng" algn="ctr">
                      <a:solidFill>
                        <a:srgbClr val="DDE3EA"/>
                      </a:solidFill>
                      <a:prstDash val="solid"/>
                      <a:round/>
                      <a:headEnd type="none" w="med" len="med"/>
                      <a:tailEnd type="none" w="med" len="med"/>
                    </a:lnL>
                    <a:lnR w="9525" cap="flat" cmpd="sng" algn="ctr">
                      <a:solidFill>
                        <a:srgbClr val="DDE3EA"/>
                      </a:solidFill>
                      <a:prstDash val="solid"/>
                      <a:round/>
                      <a:headEnd type="none" w="med" len="med"/>
                      <a:tailEnd type="none" w="med" len="med"/>
                    </a:lnR>
                    <a:lnT w="9525" cap="flat" cmpd="sng" algn="ctr">
                      <a:solidFill>
                        <a:srgbClr val="DDE3EA"/>
                      </a:solidFill>
                      <a:prstDash val="solid"/>
                      <a:round/>
                      <a:headEnd type="none" w="med" len="med"/>
                      <a:tailEnd type="none" w="med" len="med"/>
                    </a:lnT>
                    <a:lnB w="9525" cap="flat" cmpd="sng" algn="ctr">
                      <a:solidFill>
                        <a:srgbClr val="DDE3EA"/>
                      </a:solidFill>
                      <a:prstDash val="solid"/>
                      <a:round/>
                      <a:headEnd type="none" w="med" len="med"/>
                      <a:tailEnd type="none" w="med" len="med"/>
                    </a:lnB>
                    <a:solidFill>
                      <a:srgbClr val="FFFFFF"/>
                    </a:solidFill>
                  </a:tcPr>
                </a:tc>
              </a:tr>
            </a:tbl>
          </a:graphicData>
        </a:graphic>
      </p:graphicFrame>
      <p:sp>
        <p:nvSpPr>
          <p:cNvPr id="6" name="Text 2"/>
          <p:cNvSpPr txBox="1"/>
          <p:nvPr/>
        </p:nvSpPr>
        <p:spPr>
          <a:xfrm>
            <a:off x="457200" y="4389120"/>
            <a:ext cx="8229600" cy="320040"/>
          </a:xfrm>
          <a:prstGeom prst="rect">
            <a:avLst/>
          </a:prstGeom>
          <a:noFill/>
          <a:ln/>
        </p:spPr>
        <p:txBody>
          <a:bodyPr wrap="square" lIns="0" tIns="0" rIns="0" bIns="0" rtlCol="0" anchor="ctr"/>
          <a:lstStyle/>
          <a:p>
            <a:pPr indent="0" marL="0">
              <a:buNone/>
            </a:pPr>
            <a:r>
              <a:rPr lang="en-US" sz="1400" b="1" dirty="0">
                <a:solidFill>
                  <a:srgbClr val="0F766E"/>
                </a:solidFill>
                <a:latin typeface="Calibri" pitchFamily="34" charset="0"/>
                <a:ea typeface="Calibri" pitchFamily="34" charset="-122"/>
                <a:cs typeface="Calibri" pitchFamily="34" charset="-120"/>
              </a:rPr>
              <a:t>Contribution: a controlled evaluation under one protocol, not a new algorithm.</a:t>
            </a:r>
            <a:endParaRPr lang="en-US" sz="1400" dirty="0"/>
          </a:p>
        </p:txBody>
      </p:sp>
      <p:sp>
        <p:nvSpPr>
          <p:cNvPr id="25" name="Slide Number Placeholder 0"/>
          <p:cNvSpPr>
            <a:spLocks noGrp="1"/>
          </p:cNvSpPr>
          <p:nvPr>
            <p:ph type="sldNum" sz="quarter" idx="4294967295"/>
          </p:nvPr>
        </p:nvSpPr>
        <p:spPr>
          <a:xfrm>
            <a:off x="8412480" y="4773168"/>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4748B"/>
                </a:solidFill>
                <a:latin typeface="Calibri"/>
                <a:ea typeface="Calibri"/>
                <a:cs typeface="Calibri"/>
              </a:defRPr>
            </a:lvl1pPr>
          </a:lstStyle>
          <a:p>
            <a:pPr algn="l"/>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txBox="1"/>
          <p:nvPr/>
        </p:nvSpPr>
        <p:spPr>
          <a:xfrm>
            <a:off x="457200" y="256032"/>
            <a:ext cx="8229600" cy="594360"/>
          </a:xfrm>
          <a:prstGeom prst="rect">
            <a:avLst/>
          </a:prstGeom>
          <a:noFill/>
          <a:ln/>
        </p:spPr>
        <p:txBody>
          <a:bodyPr wrap="square" lIns="0" tIns="0" rIns="0" bIns="0" rtlCol="0" anchor="ctr"/>
          <a:lstStyle/>
          <a:p>
            <a:pPr indent="0" marL="0">
              <a:buNone/>
            </a:pPr>
            <a:r>
              <a:rPr lang="en-US" sz="2800" b="1" dirty="0">
                <a:solidFill>
                  <a:srgbClr val="142D4E"/>
                </a:solidFill>
                <a:latin typeface="Calibri" pitchFamily="34" charset="0"/>
                <a:ea typeface="Calibri" pitchFamily="34" charset="-122"/>
                <a:cs typeface="Calibri" pitchFamily="34" charset="-120"/>
              </a:rPr>
              <a:t>Study Design: How the Experiment Was Run</a:t>
            </a:r>
            <a:endParaRPr lang="en-US" sz="2800" dirty="0"/>
          </a:p>
        </p:txBody>
      </p:sp>
      <p:sp>
        <p:nvSpPr>
          <p:cNvPr id="3" name="Shape 1"/>
          <p:cNvSpPr/>
          <p:nvPr/>
        </p:nvSpPr>
        <p:spPr>
          <a:xfrm>
            <a:off x="457200" y="896112"/>
            <a:ext cx="822960" cy="45720"/>
          </a:xfrm>
          <a:prstGeom prst="rect">
            <a:avLst/>
          </a:prstGeom>
          <a:solidFill>
            <a:srgbClr val="0F766E"/>
          </a:solidFill>
          <a:ln w="12700">
            <a:solidFill>
              <a:srgbClr val="0F766E"/>
            </a:solidFill>
            <a:prstDash val="solid"/>
          </a:ln>
        </p:spPr>
      </p:sp>
      <p:sp>
        <p:nvSpPr>
          <p:cNvPr id="5" name="Shape 2"/>
          <p:cNvSpPr/>
          <p:nvPr/>
        </p:nvSpPr>
        <p:spPr>
          <a:xfrm>
            <a:off x="457200" y="1325880"/>
            <a:ext cx="1828800" cy="1005840"/>
          </a:xfrm>
          <a:prstGeom prst="roundRect">
            <a:avLst>
              <a:gd name="adj" fmla="val 5455"/>
            </a:avLst>
          </a:prstGeom>
          <a:solidFill>
            <a:srgbClr val="142D4E"/>
          </a:solidFill>
          <a:ln w="12700">
            <a:solidFill>
              <a:srgbClr val="142D4E"/>
            </a:solidFill>
            <a:prstDash val="solid"/>
          </a:ln>
        </p:spPr>
      </p:sp>
      <p:sp>
        <p:nvSpPr>
          <p:cNvPr id="6" name="Text 3"/>
          <p:cNvSpPr txBox="1"/>
          <p:nvPr/>
        </p:nvSpPr>
        <p:spPr>
          <a:xfrm>
            <a:off x="502920" y="1325880"/>
            <a:ext cx="1737360" cy="1005840"/>
          </a:xfrm>
          <a:prstGeom prst="rect">
            <a:avLst/>
          </a:prstGeom>
          <a:noFill/>
          <a:ln/>
        </p:spPr>
        <p:txBody>
          <a:bodyPr wrap="square" lIns="381" tIns="381" rIns="381" bIns="381"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1. Data</a:t>
            </a:r>
            <a:endParaRPr lang="en-US" sz="1300" dirty="0"/>
          </a:p>
          <a:p>
            <a:pPr algn="ctr" indent="0" marL="0">
              <a:buNone/>
            </a:pPr>
            <a:r>
              <a:rPr lang="en-US" sz="1100" dirty="0">
                <a:solidFill>
                  <a:srgbClr val="FFFFFF"/>
                </a:solidFill>
                <a:latin typeface="Calibri" pitchFamily="34" charset="0"/>
                <a:ea typeface="Calibri" pitchFamily="34" charset="-122"/>
                <a:cs typeface="Calibri" pitchFamily="34" charset="-120"/>
              </a:rPr>
              <a:t>UCI hour.csv, 17,379 rows</a:t>
            </a:r>
            <a:endParaRPr lang="en-US" sz="1300" dirty="0"/>
          </a:p>
        </p:txBody>
      </p:sp>
      <p:sp>
        <p:nvSpPr>
          <p:cNvPr id="7" name="Shape 4"/>
          <p:cNvSpPr/>
          <p:nvPr/>
        </p:nvSpPr>
        <p:spPr>
          <a:xfrm>
            <a:off x="2286000" y="1828800"/>
            <a:ext cx="301752" cy="0"/>
          </a:xfrm>
          <a:prstGeom prst="line">
            <a:avLst/>
          </a:prstGeom>
          <a:noFill/>
          <a:ln w="22225">
            <a:solidFill>
              <a:srgbClr val="0F766E"/>
            </a:solidFill>
            <a:prstDash val="solid"/>
            <a:tailEnd type="triangle"/>
          </a:ln>
        </p:spPr>
      </p:sp>
      <p:sp>
        <p:nvSpPr>
          <p:cNvPr id="8" name="Shape 5"/>
          <p:cNvSpPr/>
          <p:nvPr/>
        </p:nvSpPr>
        <p:spPr>
          <a:xfrm>
            <a:off x="2587752" y="1325880"/>
            <a:ext cx="1828800" cy="1005840"/>
          </a:xfrm>
          <a:prstGeom prst="roundRect">
            <a:avLst>
              <a:gd name="adj" fmla="val 5455"/>
            </a:avLst>
          </a:prstGeom>
          <a:solidFill>
            <a:srgbClr val="142D4E"/>
          </a:solidFill>
          <a:ln w="12700">
            <a:solidFill>
              <a:srgbClr val="142D4E"/>
            </a:solidFill>
            <a:prstDash val="solid"/>
          </a:ln>
        </p:spPr>
      </p:sp>
      <p:sp>
        <p:nvSpPr>
          <p:cNvPr id="9" name="Text 6"/>
          <p:cNvSpPr txBox="1"/>
          <p:nvPr/>
        </p:nvSpPr>
        <p:spPr>
          <a:xfrm>
            <a:off x="2633472" y="1325880"/>
            <a:ext cx="1737360" cy="1005840"/>
          </a:xfrm>
          <a:prstGeom prst="rect">
            <a:avLst/>
          </a:prstGeom>
          <a:noFill/>
          <a:ln/>
        </p:spPr>
        <p:txBody>
          <a:bodyPr wrap="square" lIns="381" tIns="381" rIns="381" bIns="381"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2. Preprocessing</a:t>
            </a:r>
            <a:endParaRPr lang="en-US" sz="1300" dirty="0"/>
          </a:p>
          <a:p>
            <a:pPr algn="ctr" indent="0" marL="0">
              <a:buNone/>
            </a:pPr>
            <a:r>
              <a:rPr lang="en-US" sz="1100" dirty="0">
                <a:solidFill>
                  <a:srgbClr val="FFFFFF"/>
                </a:solidFill>
                <a:latin typeface="Calibri" pitchFamily="34" charset="0"/>
                <a:ea typeface="Calibri" pitchFamily="34" charset="-122"/>
                <a:cs typeface="Calibri" pitchFamily="34" charset="-120"/>
              </a:rPr>
              <a:t>cyclic and one-hot; 21 inputs</a:t>
            </a:r>
            <a:endParaRPr lang="en-US" sz="1300" dirty="0"/>
          </a:p>
        </p:txBody>
      </p:sp>
      <p:sp>
        <p:nvSpPr>
          <p:cNvPr id="10" name="Shape 7"/>
          <p:cNvSpPr/>
          <p:nvPr/>
        </p:nvSpPr>
        <p:spPr>
          <a:xfrm>
            <a:off x="4416552" y="1828800"/>
            <a:ext cx="301752" cy="0"/>
          </a:xfrm>
          <a:prstGeom prst="line">
            <a:avLst/>
          </a:prstGeom>
          <a:noFill/>
          <a:ln w="22225">
            <a:solidFill>
              <a:srgbClr val="0F766E"/>
            </a:solidFill>
            <a:prstDash val="solid"/>
            <a:tailEnd type="triangle"/>
          </a:ln>
        </p:spPr>
      </p:sp>
      <p:sp>
        <p:nvSpPr>
          <p:cNvPr id="11" name="Shape 8"/>
          <p:cNvSpPr/>
          <p:nvPr/>
        </p:nvSpPr>
        <p:spPr>
          <a:xfrm>
            <a:off x="4718304" y="1325880"/>
            <a:ext cx="1828800" cy="1005840"/>
          </a:xfrm>
          <a:prstGeom prst="roundRect">
            <a:avLst>
              <a:gd name="adj" fmla="val 5455"/>
            </a:avLst>
          </a:prstGeom>
          <a:solidFill>
            <a:srgbClr val="142D4E"/>
          </a:solidFill>
          <a:ln w="12700">
            <a:solidFill>
              <a:srgbClr val="142D4E"/>
            </a:solidFill>
            <a:prstDash val="solid"/>
          </a:ln>
        </p:spPr>
      </p:sp>
      <p:sp>
        <p:nvSpPr>
          <p:cNvPr id="12" name="Text 9"/>
          <p:cNvSpPr txBox="1"/>
          <p:nvPr/>
        </p:nvSpPr>
        <p:spPr>
          <a:xfrm>
            <a:off x="4764024" y="1325880"/>
            <a:ext cx="1737360" cy="1005840"/>
          </a:xfrm>
          <a:prstGeom prst="rect">
            <a:avLst/>
          </a:prstGeom>
          <a:noFill/>
          <a:ln/>
        </p:spPr>
        <p:txBody>
          <a:bodyPr wrap="square" lIns="381" tIns="381" rIns="381" bIns="381"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3. Protocols</a:t>
            </a:r>
            <a:endParaRPr lang="en-US" sz="1300" dirty="0"/>
          </a:p>
          <a:p>
            <a:pPr algn="ctr" indent="0" marL="0">
              <a:buNone/>
            </a:pPr>
            <a:r>
              <a:rPr lang="en-US" sz="1100" dirty="0">
                <a:solidFill>
                  <a:srgbClr val="FFFFFF"/>
                </a:solidFill>
                <a:latin typeface="Calibri" pitchFamily="34" charset="0"/>
                <a:ea typeface="Calibri" pitchFamily="34" charset="-122"/>
                <a:cs typeface="Calibri" pitchFamily="34" charset="-120"/>
              </a:rPr>
              <a:t>random 300/200/rest; chronological 60/20/20</a:t>
            </a:r>
            <a:endParaRPr lang="en-US" sz="1300" dirty="0"/>
          </a:p>
        </p:txBody>
      </p:sp>
      <p:sp>
        <p:nvSpPr>
          <p:cNvPr id="13" name="Shape 10"/>
          <p:cNvSpPr/>
          <p:nvPr/>
        </p:nvSpPr>
        <p:spPr>
          <a:xfrm>
            <a:off x="6547104" y="1828800"/>
            <a:ext cx="301752" cy="0"/>
          </a:xfrm>
          <a:prstGeom prst="line">
            <a:avLst/>
          </a:prstGeom>
          <a:noFill/>
          <a:ln w="22225">
            <a:solidFill>
              <a:srgbClr val="0F766E"/>
            </a:solidFill>
            <a:prstDash val="solid"/>
            <a:tailEnd type="triangle"/>
          </a:ln>
        </p:spPr>
      </p:sp>
      <p:sp>
        <p:nvSpPr>
          <p:cNvPr id="14" name="Shape 11"/>
          <p:cNvSpPr/>
          <p:nvPr/>
        </p:nvSpPr>
        <p:spPr>
          <a:xfrm>
            <a:off x="6848856" y="1325880"/>
            <a:ext cx="1828800" cy="1005840"/>
          </a:xfrm>
          <a:prstGeom prst="roundRect">
            <a:avLst>
              <a:gd name="adj" fmla="val 5455"/>
            </a:avLst>
          </a:prstGeom>
          <a:solidFill>
            <a:srgbClr val="142D4E"/>
          </a:solidFill>
          <a:ln w="12700">
            <a:solidFill>
              <a:srgbClr val="142D4E"/>
            </a:solidFill>
            <a:prstDash val="solid"/>
          </a:ln>
        </p:spPr>
      </p:sp>
      <p:sp>
        <p:nvSpPr>
          <p:cNvPr id="15" name="Text 12"/>
          <p:cNvSpPr txBox="1"/>
          <p:nvPr/>
        </p:nvSpPr>
        <p:spPr>
          <a:xfrm>
            <a:off x="6894576" y="1325880"/>
            <a:ext cx="1737360" cy="1005840"/>
          </a:xfrm>
          <a:prstGeom prst="rect">
            <a:avLst/>
          </a:prstGeom>
          <a:noFill/>
          <a:ln/>
        </p:spPr>
        <p:txBody>
          <a:bodyPr wrap="square" lIns="381" tIns="381" rIns="381" bIns="381"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4. Subsets</a:t>
            </a:r>
            <a:endParaRPr lang="en-US" sz="1300" dirty="0"/>
          </a:p>
          <a:p>
            <a:pPr algn="ctr" indent="0" marL="0">
              <a:buNone/>
            </a:pPr>
            <a:r>
              <a:rPr lang="en-US" sz="1100" dirty="0">
                <a:solidFill>
                  <a:srgbClr val="FFFFFF"/>
                </a:solidFill>
                <a:latin typeface="Calibri" pitchFamily="34" charset="0"/>
                <a:ea typeface="Calibri" pitchFamily="34" charset="-122"/>
                <a:cs typeface="Calibri" pitchFamily="34" charset="-120"/>
              </a:rPr>
              <a:t>10–100% of train pool; 5 seeds</a:t>
            </a:r>
            <a:endParaRPr lang="en-US" sz="1300" dirty="0"/>
          </a:p>
        </p:txBody>
      </p:sp>
      <p:sp>
        <p:nvSpPr>
          <p:cNvPr id="16" name="Shape 13"/>
          <p:cNvSpPr/>
          <p:nvPr/>
        </p:nvSpPr>
        <p:spPr>
          <a:xfrm>
            <a:off x="6848856" y="3154680"/>
            <a:ext cx="1828800" cy="1005840"/>
          </a:xfrm>
          <a:prstGeom prst="roundRect">
            <a:avLst>
              <a:gd name="adj" fmla="val 5455"/>
            </a:avLst>
          </a:prstGeom>
          <a:solidFill>
            <a:srgbClr val="0F766E"/>
          </a:solidFill>
          <a:ln w="12700">
            <a:solidFill>
              <a:srgbClr val="0F766E"/>
            </a:solidFill>
            <a:prstDash val="solid"/>
          </a:ln>
        </p:spPr>
      </p:sp>
      <p:sp>
        <p:nvSpPr>
          <p:cNvPr id="17" name="Text 14"/>
          <p:cNvSpPr txBox="1"/>
          <p:nvPr/>
        </p:nvSpPr>
        <p:spPr>
          <a:xfrm>
            <a:off x="6894576" y="3154680"/>
            <a:ext cx="1737360" cy="1005840"/>
          </a:xfrm>
          <a:prstGeom prst="rect">
            <a:avLst/>
          </a:prstGeom>
          <a:noFill/>
          <a:ln/>
        </p:spPr>
        <p:txBody>
          <a:bodyPr wrap="square" lIns="381" tIns="381" rIns="381" bIns="381"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5. Methods</a:t>
            </a:r>
            <a:endParaRPr lang="en-US" sz="1300" dirty="0"/>
          </a:p>
          <a:p>
            <a:pPr algn="ctr" indent="0" marL="0">
              <a:buNone/>
            </a:pPr>
            <a:r>
              <a:rPr lang="en-US" sz="1100" dirty="0">
                <a:solidFill>
                  <a:srgbClr val="FFFFFF"/>
                </a:solidFill>
                <a:latin typeface="Calibri" pitchFamily="34" charset="0"/>
                <a:ea typeface="Calibri" pitchFamily="34" charset="-122"/>
                <a:cs typeface="Calibri" pitchFamily="34" charset="-120"/>
              </a:rPr>
              <a:t>Vanilla, Mixup, global kNN, RegMix</a:t>
            </a:r>
            <a:endParaRPr lang="en-US" sz="1300" dirty="0"/>
          </a:p>
        </p:txBody>
      </p:sp>
      <p:sp>
        <p:nvSpPr>
          <p:cNvPr id="18" name="Shape 15"/>
          <p:cNvSpPr/>
          <p:nvPr/>
        </p:nvSpPr>
        <p:spPr>
          <a:xfrm flipH="1">
            <a:off x="6547104" y="3657600"/>
            <a:ext cx="301752" cy="0"/>
          </a:xfrm>
          <a:prstGeom prst="line">
            <a:avLst/>
          </a:prstGeom>
          <a:noFill/>
          <a:ln w="22225">
            <a:solidFill>
              <a:srgbClr val="0F766E"/>
            </a:solidFill>
            <a:prstDash val="solid"/>
            <a:tailEnd type="triangle"/>
          </a:ln>
        </p:spPr>
      </p:sp>
      <p:sp>
        <p:nvSpPr>
          <p:cNvPr id="19" name="Shape 16"/>
          <p:cNvSpPr/>
          <p:nvPr/>
        </p:nvSpPr>
        <p:spPr>
          <a:xfrm>
            <a:off x="4718304" y="3154680"/>
            <a:ext cx="1828800" cy="1005840"/>
          </a:xfrm>
          <a:prstGeom prst="roundRect">
            <a:avLst>
              <a:gd name="adj" fmla="val 5455"/>
            </a:avLst>
          </a:prstGeom>
          <a:solidFill>
            <a:srgbClr val="142D4E"/>
          </a:solidFill>
          <a:ln w="12700">
            <a:solidFill>
              <a:srgbClr val="142D4E"/>
            </a:solidFill>
            <a:prstDash val="solid"/>
          </a:ln>
        </p:spPr>
      </p:sp>
      <p:sp>
        <p:nvSpPr>
          <p:cNvPr id="20" name="Text 17"/>
          <p:cNvSpPr txBox="1"/>
          <p:nvPr/>
        </p:nvSpPr>
        <p:spPr>
          <a:xfrm>
            <a:off x="4764024" y="3154680"/>
            <a:ext cx="1737360" cy="1005840"/>
          </a:xfrm>
          <a:prstGeom prst="rect">
            <a:avLst/>
          </a:prstGeom>
          <a:noFill/>
          <a:ln/>
        </p:spPr>
        <p:txBody>
          <a:bodyPr wrap="square" lIns="381" tIns="381" rIns="381" bIns="381"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6. Training</a:t>
            </a:r>
            <a:endParaRPr lang="en-US" sz="1300" dirty="0"/>
          </a:p>
          <a:p>
            <a:pPr algn="ctr" indent="0" marL="0">
              <a:buNone/>
            </a:pPr>
            <a:r>
              <a:rPr lang="en-US" sz="1100" dirty="0">
                <a:solidFill>
                  <a:srgbClr val="FFFFFF"/>
                </a:solidFill>
                <a:latin typeface="Calibri" pitchFamily="34" charset="0"/>
                <a:ea typeface="Calibri" pitchFamily="34" charset="-122"/>
                <a:cs typeface="Calibri" pitchFamily="34" charset="-120"/>
              </a:rPr>
              <a:t>same MLP 512-256, Adam, early stopping</a:t>
            </a:r>
            <a:endParaRPr lang="en-US" sz="1300" dirty="0"/>
          </a:p>
        </p:txBody>
      </p:sp>
      <p:sp>
        <p:nvSpPr>
          <p:cNvPr id="21" name="Shape 18"/>
          <p:cNvSpPr/>
          <p:nvPr/>
        </p:nvSpPr>
        <p:spPr>
          <a:xfrm flipH="1">
            <a:off x="4416552" y="3657600"/>
            <a:ext cx="301752" cy="0"/>
          </a:xfrm>
          <a:prstGeom prst="line">
            <a:avLst/>
          </a:prstGeom>
          <a:noFill/>
          <a:ln w="22225">
            <a:solidFill>
              <a:srgbClr val="0F766E"/>
            </a:solidFill>
            <a:prstDash val="solid"/>
            <a:tailEnd type="triangle"/>
          </a:ln>
        </p:spPr>
      </p:sp>
      <p:sp>
        <p:nvSpPr>
          <p:cNvPr id="22" name="Shape 19"/>
          <p:cNvSpPr/>
          <p:nvPr/>
        </p:nvSpPr>
        <p:spPr>
          <a:xfrm>
            <a:off x="2587752" y="3154680"/>
            <a:ext cx="1828800" cy="1005840"/>
          </a:xfrm>
          <a:prstGeom prst="roundRect">
            <a:avLst>
              <a:gd name="adj" fmla="val 5455"/>
            </a:avLst>
          </a:prstGeom>
          <a:solidFill>
            <a:srgbClr val="142D4E"/>
          </a:solidFill>
          <a:ln w="12700">
            <a:solidFill>
              <a:srgbClr val="142D4E"/>
            </a:solidFill>
            <a:prstDash val="solid"/>
          </a:ln>
        </p:spPr>
      </p:sp>
      <p:sp>
        <p:nvSpPr>
          <p:cNvPr id="23" name="Text 20"/>
          <p:cNvSpPr txBox="1"/>
          <p:nvPr/>
        </p:nvSpPr>
        <p:spPr>
          <a:xfrm>
            <a:off x="2633472" y="3154680"/>
            <a:ext cx="1737360" cy="1005840"/>
          </a:xfrm>
          <a:prstGeom prst="rect">
            <a:avLst/>
          </a:prstGeom>
          <a:noFill/>
          <a:ln/>
        </p:spPr>
        <p:txBody>
          <a:bodyPr wrap="square" lIns="381" tIns="381" rIns="381" bIns="381"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7. Test</a:t>
            </a:r>
            <a:endParaRPr lang="en-US" sz="1300" dirty="0"/>
          </a:p>
          <a:p>
            <a:pPr algn="ctr" indent="0" marL="0">
              <a:buNone/>
            </a:pPr>
            <a:r>
              <a:rPr lang="en-US" sz="1100" dirty="0">
                <a:solidFill>
                  <a:srgbClr val="FFFFFF"/>
                </a:solidFill>
                <a:latin typeface="Calibri" pitchFamily="34" charset="0"/>
                <a:ea typeface="Calibri" pitchFamily="34" charset="-122"/>
                <a:cs typeface="Calibri" pitchFamily="34" charset="-120"/>
              </a:rPr>
              <a:t>used once: RMSE, MAE, R², time</a:t>
            </a:r>
            <a:endParaRPr lang="en-US" sz="1300" dirty="0"/>
          </a:p>
        </p:txBody>
      </p:sp>
      <p:sp>
        <p:nvSpPr>
          <p:cNvPr id="24" name="Shape 21"/>
          <p:cNvSpPr/>
          <p:nvPr/>
        </p:nvSpPr>
        <p:spPr>
          <a:xfrm flipH="1">
            <a:off x="2286000" y="3657600"/>
            <a:ext cx="301752" cy="0"/>
          </a:xfrm>
          <a:prstGeom prst="line">
            <a:avLst/>
          </a:prstGeom>
          <a:noFill/>
          <a:ln w="22225">
            <a:solidFill>
              <a:srgbClr val="0F766E"/>
            </a:solidFill>
            <a:prstDash val="solid"/>
            <a:tailEnd type="triangle"/>
          </a:ln>
        </p:spPr>
      </p:sp>
      <p:sp>
        <p:nvSpPr>
          <p:cNvPr id="25" name="Shape 22"/>
          <p:cNvSpPr/>
          <p:nvPr/>
        </p:nvSpPr>
        <p:spPr>
          <a:xfrm>
            <a:off x="457200" y="3154680"/>
            <a:ext cx="1828800" cy="1005840"/>
          </a:xfrm>
          <a:prstGeom prst="roundRect">
            <a:avLst>
              <a:gd name="adj" fmla="val 5455"/>
            </a:avLst>
          </a:prstGeom>
          <a:solidFill>
            <a:srgbClr val="142D4E"/>
          </a:solidFill>
          <a:ln w="12700">
            <a:solidFill>
              <a:srgbClr val="142D4E"/>
            </a:solidFill>
            <a:prstDash val="solid"/>
          </a:ln>
        </p:spPr>
      </p:sp>
      <p:sp>
        <p:nvSpPr>
          <p:cNvPr id="26" name="Text 23"/>
          <p:cNvSpPr txBox="1"/>
          <p:nvPr/>
        </p:nvSpPr>
        <p:spPr>
          <a:xfrm>
            <a:off x="502920" y="3154680"/>
            <a:ext cx="1737360" cy="1005840"/>
          </a:xfrm>
          <a:prstGeom prst="rect">
            <a:avLst/>
          </a:prstGeom>
          <a:noFill/>
          <a:ln/>
        </p:spPr>
        <p:txBody>
          <a:bodyPr wrap="square" lIns="381" tIns="381" rIns="381" bIns="381"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8. Statistics</a:t>
            </a:r>
            <a:endParaRPr lang="en-US" sz="1300" dirty="0"/>
          </a:p>
          <a:p>
            <a:pPr algn="ctr" indent="0" marL="0">
              <a:buNone/>
            </a:pPr>
            <a:r>
              <a:rPr lang="en-US" sz="1100" dirty="0">
                <a:solidFill>
                  <a:srgbClr val="FFFFFF"/>
                </a:solidFill>
                <a:latin typeface="Calibri" pitchFamily="34" charset="0"/>
                <a:ea typeface="Calibri" pitchFamily="34" charset="-122"/>
                <a:cs typeface="Calibri" pitchFamily="34" charset="-120"/>
              </a:rPr>
              <a:t>paired tests, bootstrap CI, Holm</a:t>
            </a:r>
            <a:endParaRPr lang="en-US" sz="1300" dirty="0"/>
          </a:p>
        </p:txBody>
      </p:sp>
      <p:sp>
        <p:nvSpPr>
          <p:cNvPr id="27" name="Shape 24"/>
          <p:cNvSpPr/>
          <p:nvPr/>
        </p:nvSpPr>
        <p:spPr>
          <a:xfrm>
            <a:off x="7763256" y="2331720"/>
            <a:ext cx="0" cy="822960"/>
          </a:xfrm>
          <a:prstGeom prst="line">
            <a:avLst/>
          </a:prstGeom>
          <a:noFill/>
          <a:ln w="22225">
            <a:solidFill>
              <a:srgbClr val="0F766E"/>
            </a:solidFill>
            <a:prstDash val="solid"/>
            <a:tailEnd type="triangle"/>
          </a:ln>
        </p:spPr>
      </p:sp>
      <p:sp>
        <p:nvSpPr>
          <p:cNvPr id="25" name="Slide Number Placeholder 0"/>
          <p:cNvSpPr>
            <a:spLocks noGrp="1"/>
          </p:cNvSpPr>
          <p:nvPr>
            <p:ph type="sldNum" sz="quarter" idx="4294967295"/>
          </p:nvPr>
        </p:nvSpPr>
        <p:spPr>
          <a:xfrm>
            <a:off x="8412480" y="4773168"/>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4748B"/>
                </a:solidFill>
                <a:latin typeface="Calibri"/>
                <a:ea typeface="Calibri"/>
                <a:cs typeface="Calibri"/>
              </a:defRPr>
            </a:lvl1pPr>
          </a:lstStyle>
          <a:p>
            <a:pPr algn="l"/>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txBox="1"/>
          <p:nvPr/>
        </p:nvSpPr>
        <p:spPr>
          <a:xfrm>
            <a:off x="457200" y="256032"/>
            <a:ext cx="8229600" cy="594360"/>
          </a:xfrm>
          <a:prstGeom prst="rect">
            <a:avLst/>
          </a:prstGeom>
          <a:noFill/>
          <a:ln/>
        </p:spPr>
        <p:txBody>
          <a:bodyPr wrap="square" lIns="0" tIns="0" rIns="0" bIns="0" rtlCol="0" anchor="ctr"/>
          <a:lstStyle/>
          <a:p>
            <a:pPr indent="0" marL="0">
              <a:buNone/>
            </a:pPr>
            <a:r>
              <a:rPr lang="en-US" sz="2800" b="1" dirty="0">
                <a:solidFill>
                  <a:srgbClr val="142D4E"/>
                </a:solidFill>
                <a:latin typeface="Calibri" pitchFamily="34" charset="0"/>
                <a:ea typeface="Calibri" pitchFamily="34" charset="-122"/>
                <a:cs typeface="Calibri" pitchFamily="34" charset="-120"/>
              </a:rPr>
              <a:t>Methodology: Data and Evaluation Protocols</a:t>
            </a:r>
            <a:endParaRPr lang="en-US" sz="2800" dirty="0"/>
          </a:p>
        </p:txBody>
      </p:sp>
      <p:sp>
        <p:nvSpPr>
          <p:cNvPr id="3" name="Shape 1"/>
          <p:cNvSpPr/>
          <p:nvPr/>
        </p:nvSpPr>
        <p:spPr>
          <a:xfrm>
            <a:off x="457200" y="896112"/>
            <a:ext cx="822960" cy="45720"/>
          </a:xfrm>
          <a:prstGeom prst="rect">
            <a:avLst/>
          </a:prstGeom>
          <a:solidFill>
            <a:srgbClr val="0F766E"/>
          </a:solidFill>
          <a:ln w="12700">
            <a:solidFill>
              <a:srgbClr val="0F766E"/>
            </a:solidFill>
            <a:prstDash val="solid"/>
          </a:ln>
        </p:spPr>
      </p:sp>
      <p:sp>
        <p:nvSpPr>
          <p:cNvPr id="5" name="Shape 2"/>
          <p:cNvSpPr/>
          <p:nvPr/>
        </p:nvSpPr>
        <p:spPr>
          <a:xfrm>
            <a:off x="457200" y="1143000"/>
            <a:ext cx="2651760" cy="2468880"/>
          </a:xfrm>
          <a:prstGeom prst="rect">
            <a:avLst/>
          </a:prstGeom>
          <a:solidFill>
            <a:srgbClr val="FFFFFF"/>
          </a:solidFill>
          <a:ln w="9525">
            <a:solidFill>
              <a:srgbClr val="DDE3EA"/>
            </a:solidFill>
            <a:prstDash val="solid"/>
          </a:ln>
        </p:spPr>
      </p:sp>
      <p:sp>
        <p:nvSpPr>
          <p:cNvPr id="6" name="Shape 3"/>
          <p:cNvSpPr/>
          <p:nvPr/>
        </p:nvSpPr>
        <p:spPr>
          <a:xfrm>
            <a:off x="457200" y="1143000"/>
            <a:ext cx="64008" cy="2468880"/>
          </a:xfrm>
          <a:prstGeom prst="rect">
            <a:avLst/>
          </a:prstGeom>
          <a:solidFill>
            <a:srgbClr val="142D4E"/>
          </a:solidFill>
          <a:ln w="12700">
            <a:solidFill>
              <a:srgbClr val="142D4E"/>
            </a:solidFill>
            <a:prstDash val="solid"/>
          </a:ln>
        </p:spPr>
      </p:sp>
      <p:sp>
        <p:nvSpPr>
          <p:cNvPr id="7" name="Text 4"/>
          <p:cNvSpPr txBox="1"/>
          <p:nvPr/>
        </p:nvSpPr>
        <p:spPr>
          <a:xfrm>
            <a:off x="640080" y="1216152"/>
            <a:ext cx="2377440" cy="347472"/>
          </a:xfrm>
          <a:prstGeom prst="rect">
            <a:avLst/>
          </a:prstGeom>
          <a:noFill/>
          <a:ln/>
        </p:spPr>
        <p:txBody>
          <a:bodyPr wrap="square" lIns="0" tIns="0" rIns="0" bIns="0" rtlCol="0" anchor="ctr"/>
          <a:lstStyle/>
          <a:p>
            <a:pPr indent="0" marL="0">
              <a:buNone/>
            </a:pPr>
            <a:r>
              <a:rPr lang="en-US" sz="1400" b="1" dirty="0">
                <a:solidFill>
                  <a:srgbClr val="142D4E"/>
                </a:solidFill>
                <a:latin typeface="Calibri" pitchFamily="34" charset="0"/>
                <a:ea typeface="Calibri" pitchFamily="34" charset="-122"/>
                <a:cs typeface="Calibri" pitchFamily="34" charset="-120"/>
              </a:rPr>
              <a:t>Data and preprocessing</a:t>
            </a:r>
            <a:endParaRPr lang="en-US" sz="1400" dirty="0"/>
          </a:p>
        </p:txBody>
      </p:sp>
      <p:sp>
        <p:nvSpPr>
          <p:cNvPr id="8" name="Text 5"/>
          <p:cNvSpPr txBox="1"/>
          <p:nvPr/>
        </p:nvSpPr>
        <p:spPr>
          <a:xfrm>
            <a:off x="640080" y="1581912"/>
            <a:ext cx="2377440" cy="1956816"/>
          </a:xfrm>
          <a:prstGeom prst="rect">
            <a:avLst/>
          </a:prstGeom>
          <a:noFill/>
          <a:ln/>
        </p:spPr>
        <p:txBody>
          <a:bodyPr wrap="square" lIns="0" tIns="0" rIns="0" bIns="0" rtlCol="0" anchor="t"/>
          <a:lstStyle/>
          <a:p>
            <a:pPr indent="0" marL="0">
              <a:buNone/>
            </a:pPr>
            <a:r>
              <a:rPr lang="en-US" sz="1200" dirty="0">
                <a:solidFill>
                  <a:srgbClr val="273449"/>
                </a:solidFill>
                <a:latin typeface="Calibri" pitchFamily="34" charset="0"/>
                <a:ea typeface="Calibri" pitchFamily="34" charset="-122"/>
                <a:cs typeface="Calibri" pitchFamily="34" charset="-120"/>
              </a:rPr>
              <a:t>hour.csv; cnt target. casual and registered removed (leakage). Cyclic hour, month, weekday; one-hot season and weather; inputs standardised on train pool.</a:t>
            </a:r>
            <a:endParaRPr lang="en-US" sz="1200" dirty="0"/>
          </a:p>
        </p:txBody>
      </p:sp>
      <p:sp>
        <p:nvSpPr>
          <p:cNvPr id="9" name="Shape 6"/>
          <p:cNvSpPr/>
          <p:nvPr/>
        </p:nvSpPr>
        <p:spPr>
          <a:xfrm>
            <a:off x="3246120" y="1143000"/>
            <a:ext cx="2651760" cy="2468880"/>
          </a:xfrm>
          <a:prstGeom prst="rect">
            <a:avLst/>
          </a:prstGeom>
          <a:solidFill>
            <a:srgbClr val="FFFFFF"/>
          </a:solidFill>
          <a:ln w="9525">
            <a:solidFill>
              <a:srgbClr val="DDE3EA"/>
            </a:solidFill>
            <a:prstDash val="solid"/>
          </a:ln>
        </p:spPr>
      </p:sp>
      <p:sp>
        <p:nvSpPr>
          <p:cNvPr id="10" name="Shape 7"/>
          <p:cNvSpPr/>
          <p:nvPr/>
        </p:nvSpPr>
        <p:spPr>
          <a:xfrm>
            <a:off x="3246120" y="1143000"/>
            <a:ext cx="64008" cy="2468880"/>
          </a:xfrm>
          <a:prstGeom prst="rect">
            <a:avLst/>
          </a:prstGeom>
          <a:solidFill>
            <a:srgbClr val="0F766E"/>
          </a:solidFill>
          <a:ln w="12700">
            <a:solidFill>
              <a:srgbClr val="0F766E"/>
            </a:solidFill>
            <a:prstDash val="solid"/>
          </a:ln>
        </p:spPr>
      </p:sp>
      <p:sp>
        <p:nvSpPr>
          <p:cNvPr id="11" name="Text 8"/>
          <p:cNvSpPr txBox="1"/>
          <p:nvPr/>
        </p:nvSpPr>
        <p:spPr>
          <a:xfrm>
            <a:off x="3429000" y="1216152"/>
            <a:ext cx="2377440" cy="347472"/>
          </a:xfrm>
          <a:prstGeom prst="rect">
            <a:avLst/>
          </a:prstGeom>
          <a:noFill/>
          <a:ln/>
        </p:spPr>
        <p:txBody>
          <a:bodyPr wrap="square" lIns="0" tIns="0" rIns="0" bIns="0" rtlCol="0" anchor="ctr"/>
          <a:lstStyle/>
          <a:p>
            <a:pPr indent="0" marL="0">
              <a:buNone/>
            </a:pPr>
            <a:r>
              <a:rPr lang="en-US" sz="1400" b="1" dirty="0">
                <a:solidFill>
                  <a:srgbClr val="142D4E"/>
                </a:solidFill>
                <a:latin typeface="Calibri" pitchFamily="34" charset="0"/>
                <a:ea typeface="Calibri" pitchFamily="34" charset="-122"/>
                <a:cs typeface="Calibri" pitchFamily="34" charset="-120"/>
              </a:rPr>
              <a:t>Reproduction-style</a:t>
            </a:r>
            <a:endParaRPr lang="en-US" sz="1400" dirty="0"/>
          </a:p>
        </p:txBody>
      </p:sp>
      <p:sp>
        <p:nvSpPr>
          <p:cNvPr id="12" name="Text 9"/>
          <p:cNvSpPr txBox="1"/>
          <p:nvPr/>
        </p:nvSpPr>
        <p:spPr>
          <a:xfrm>
            <a:off x="3429000" y="1581912"/>
            <a:ext cx="2377440" cy="1956816"/>
          </a:xfrm>
          <a:prstGeom prst="rect">
            <a:avLst/>
          </a:prstGeom>
          <a:noFill/>
          <a:ln/>
        </p:spPr>
        <p:txBody>
          <a:bodyPr wrap="square" lIns="0" tIns="0" rIns="0" bIns="0" rtlCol="0" anchor="t"/>
          <a:lstStyle/>
          <a:p>
            <a:pPr indent="0" marL="0">
              <a:buNone/>
            </a:pPr>
            <a:r>
              <a:rPr lang="en-US" sz="1200" dirty="0">
                <a:solidFill>
                  <a:srgbClr val="273449"/>
                </a:solidFill>
                <a:latin typeface="Calibri" pitchFamily="34" charset="0"/>
                <a:ea typeface="Calibri" pitchFamily="34" charset="-122"/>
                <a:cs typeface="Calibri" pitchFamily="34" charset="-120"/>
              </a:rPr>
              <a:t>300 train, 200 validation, remaining 16,879 rows as test (assumption: test set not specified in [15]).</a:t>
            </a:r>
            <a:endParaRPr lang="en-US" sz="1200" dirty="0"/>
          </a:p>
        </p:txBody>
      </p:sp>
      <p:sp>
        <p:nvSpPr>
          <p:cNvPr id="13" name="Shape 10"/>
          <p:cNvSpPr/>
          <p:nvPr/>
        </p:nvSpPr>
        <p:spPr>
          <a:xfrm>
            <a:off x="6035040" y="1143000"/>
            <a:ext cx="2651760" cy="2468880"/>
          </a:xfrm>
          <a:prstGeom prst="rect">
            <a:avLst/>
          </a:prstGeom>
          <a:solidFill>
            <a:srgbClr val="FFFFFF"/>
          </a:solidFill>
          <a:ln w="9525">
            <a:solidFill>
              <a:srgbClr val="DDE3EA"/>
            </a:solidFill>
            <a:prstDash val="solid"/>
          </a:ln>
        </p:spPr>
      </p:sp>
      <p:sp>
        <p:nvSpPr>
          <p:cNvPr id="14" name="Shape 11"/>
          <p:cNvSpPr/>
          <p:nvPr/>
        </p:nvSpPr>
        <p:spPr>
          <a:xfrm>
            <a:off x="6035040" y="1143000"/>
            <a:ext cx="64008" cy="2468880"/>
          </a:xfrm>
          <a:prstGeom prst="rect">
            <a:avLst/>
          </a:prstGeom>
          <a:solidFill>
            <a:srgbClr val="0F766E"/>
          </a:solidFill>
          <a:ln w="12700">
            <a:solidFill>
              <a:srgbClr val="0F766E"/>
            </a:solidFill>
            <a:prstDash val="solid"/>
          </a:ln>
        </p:spPr>
      </p:sp>
      <p:sp>
        <p:nvSpPr>
          <p:cNvPr id="15" name="Text 12"/>
          <p:cNvSpPr txBox="1"/>
          <p:nvPr/>
        </p:nvSpPr>
        <p:spPr>
          <a:xfrm>
            <a:off x="6217920" y="1216152"/>
            <a:ext cx="2377440" cy="347472"/>
          </a:xfrm>
          <a:prstGeom prst="rect">
            <a:avLst/>
          </a:prstGeom>
          <a:noFill/>
          <a:ln/>
        </p:spPr>
        <p:txBody>
          <a:bodyPr wrap="square" lIns="0" tIns="0" rIns="0" bIns="0" rtlCol="0" anchor="ctr"/>
          <a:lstStyle/>
          <a:p>
            <a:pPr indent="0" marL="0">
              <a:buNone/>
            </a:pPr>
            <a:r>
              <a:rPr lang="en-US" sz="1400" b="1" dirty="0">
                <a:solidFill>
                  <a:srgbClr val="142D4E"/>
                </a:solidFill>
                <a:latin typeface="Calibri" pitchFamily="34" charset="0"/>
                <a:ea typeface="Calibri" pitchFamily="34" charset="-122"/>
                <a:cs typeface="Calibri" pitchFamily="34" charset="-120"/>
              </a:rPr>
              <a:t>Chronological</a:t>
            </a:r>
            <a:endParaRPr lang="en-US" sz="1400" dirty="0"/>
          </a:p>
        </p:txBody>
      </p:sp>
      <p:sp>
        <p:nvSpPr>
          <p:cNvPr id="16" name="Text 13"/>
          <p:cNvSpPr txBox="1"/>
          <p:nvPr/>
        </p:nvSpPr>
        <p:spPr>
          <a:xfrm>
            <a:off x="6217920" y="1581912"/>
            <a:ext cx="2377440" cy="1956816"/>
          </a:xfrm>
          <a:prstGeom prst="rect">
            <a:avLst/>
          </a:prstGeom>
          <a:noFill/>
          <a:ln/>
        </p:spPr>
        <p:txBody>
          <a:bodyPr wrap="square" lIns="0" tIns="0" rIns="0" bIns="0" rtlCol="0" anchor="t"/>
          <a:lstStyle/>
          <a:p>
            <a:pPr indent="0" marL="0">
              <a:buNone/>
            </a:pPr>
            <a:r>
              <a:rPr lang="en-US" sz="1200" dirty="0">
                <a:solidFill>
                  <a:srgbClr val="273449"/>
                </a:solidFill>
                <a:latin typeface="Calibri" pitchFamily="34" charset="0"/>
                <a:ea typeface="Calibri" pitchFamily="34" charset="-122"/>
                <a:cs typeface="Calibri" pitchFamily="34" charset="-120"/>
              </a:rPr>
              <a:t>First 60% (10,427 rows) train, next 20% validation, last 20% test: the test period follows training.</a:t>
            </a:r>
            <a:endParaRPr lang="en-US" sz="1200" dirty="0"/>
          </a:p>
        </p:txBody>
      </p:sp>
      <p:sp>
        <p:nvSpPr>
          <p:cNvPr id="17" name="Text 14"/>
          <p:cNvSpPr txBox="1"/>
          <p:nvPr/>
        </p:nvSpPr>
        <p:spPr>
          <a:xfrm>
            <a:off x="457200" y="3794760"/>
            <a:ext cx="8229600" cy="731520"/>
          </a:xfrm>
          <a:prstGeom prst="rect">
            <a:avLst/>
          </a:prstGeom>
          <a:noFill/>
          <a:ln/>
        </p:spPr>
        <p:txBody>
          <a:bodyPr wrap="square" lIns="0" tIns="0" rIns="0" bIns="0" rtlCol="0" anchor="ctr"/>
          <a:lstStyle/>
          <a:p>
            <a:pPr indent="0" marL="0">
              <a:buNone/>
            </a:pPr>
            <a:r>
              <a:rPr lang="en-US" sz="1500" dirty="0">
                <a:solidFill>
                  <a:srgbClr val="273449"/>
                </a:solidFill>
                <a:latin typeface="Calibri" pitchFamily="34" charset="0"/>
                <a:ea typeface="Calibri" pitchFamily="34" charset="-122"/>
                <a:cs typeface="Calibri" pitchFamily="34" charset="-120"/>
              </a:rPr>
              <a:t>Subsets of 10, 25, 50, 100% of the training pool, five seeds (0–4), same split for all methods. Learning rate 1×10⁻³ (random), 3×10⁻⁴ (chronological).</a:t>
            </a:r>
            <a:endParaRPr lang="en-US" sz="1500" dirty="0"/>
          </a:p>
        </p:txBody>
      </p:sp>
      <p:sp>
        <p:nvSpPr>
          <p:cNvPr id="18" name="Text 15"/>
          <p:cNvSpPr txBox="1"/>
          <p:nvPr/>
        </p:nvSpPr>
        <p:spPr>
          <a:xfrm>
            <a:off x="457200" y="4736592"/>
            <a:ext cx="7772400" cy="274320"/>
          </a:xfrm>
          <a:prstGeom prst="rect">
            <a:avLst/>
          </a:prstGeom>
          <a:noFill/>
          <a:ln/>
        </p:spPr>
        <p:txBody>
          <a:bodyPr wrap="square" lIns="0" tIns="0" rIns="0" bIns="0" rtlCol="0" anchor="ctr"/>
          <a:lstStyle/>
          <a:p>
            <a:pPr indent="0" marL="0">
              <a:buNone/>
            </a:pPr>
            <a:r>
              <a:rPr lang="en-US" sz="1000" dirty="0">
                <a:solidFill>
                  <a:srgbClr val="64748B"/>
                </a:solidFill>
                <a:latin typeface="Calibri" pitchFamily="34" charset="0"/>
                <a:ea typeface="Calibri" pitchFamily="34" charset="-122"/>
                <a:cs typeface="Calibri" pitchFamily="34" charset="-120"/>
              </a:rPr>
              <a:t>Sources: [15] original Bike setting; [22] time-series evaluation; [20], [21] dataset</a:t>
            </a:r>
            <a:endParaRPr lang="en-US" sz="1000" dirty="0"/>
          </a:p>
        </p:txBody>
      </p:sp>
      <p:sp>
        <p:nvSpPr>
          <p:cNvPr id="25" name="Slide Number Placeholder 0"/>
          <p:cNvSpPr>
            <a:spLocks noGrp="1"/>
          </p:cNvSpPr>
          <p:nvPr>
            <p:ph type="sldNum" sz="quarter" idx="4294967295"/>
          </p:nvPr>
        </p:nvSpPr>
        <p:spPr>
          <a:xfrm>
            <a:off x="8412480" y="4773168"/>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4748B"/>
                </a:solidFill>
                <a:latin typeface="Calibri"/>
                <a:ea typeface="Calibri"/>
                <a:cs typeface="Calibri"/>
              </a:defRPr>
            </a:lvl1pPr>
          </a:lstStyle>
          <a:p>
            <a:pPr algn="l"/>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txBox="1"/>
          <p:nvPr/>
        </p:nvSpPr>
        <p:spPr>
          <a:xfrm>
            <a:off x="457200" y="256032"/>
            <a:ext cx="8229600" cy="594360"/>
          </a:xfrm>
          <a:prstGeom prst="rect">
            <a:avLst/>
          </a:prstGeom>
          <a:noFill/>
          <a:ln/>
        </p:spPr>
        <p:txBody>
          <a:bodyPr wrap="square" lIns="0" tIns="0" rIns="0" bIns="0" rtlCol="0" anchor="ctr"/>
          <a:lstStyle/>
          <a:p>
            <a:pPr indent="0" marL="0">
              <a:buNone/>
            </a:pPr>
            <a:r>
              <a:rPr lang="en-US" sz="2800" b="1" dirty="0">
                <a:solidFill>
                  <a:srgbClr val="142D4E"/>
                </a:solidFill>
                <a:latin typeface="Calibri" pitchFamily="34" charset="0"/>
                <a:ea typeface="Calibri" pitchFamily="34" charset="-122"/>
                <a:cs typeface="Calibri" pitchFamily="34" charset="-120"/>
              </a:rPr>
              <a:t>Compared Methods and RegMix Search</a:t>
            </a:r>
            <a:endParaRPr lang="en-US" sz="2800" dirty="0"/>
          </a:p>
        </p:txBody>
      </p:sp>
      <p:sp>
        <p:nvSpPr>
          <p:cNvPr id="3" name="Shape 1"/>
          <p:cNvSpPr/>
          <p:nvPr/>
        </p:nvSpPr>
        <p:spPr>
          <a:xfrm>
            <a:off x="457200" y="896112"/>
            <a:ext cx="822960" cy="45720"/>
          </a:xfrm>
          <a:prstGeom prst="rect">
            <a:avLst/>
          </a:prstGeom>
          <a:solidFill>
            <a:srgbClr val="0F766E"/>
          </a:solidFill>
          <a:ln w="12700">
            <a:solidFill>
              <a:srgbClr val="0F766E"/>
            </a:solidFill>
            <a:prstDash val="solid"/>
          </a:ln>
        </p:spPr>
      </p:sp>
      <p:sp>
        <p:nvSpPr>
          <p:cNvPr id="5" name="Shape 2"/>
          <p:cNvSpPr/>
          <p:nvPr/>
        </p:nvSpPr>
        <p:spPr>
          <a:xfrm>
            <a:off x="457200" y="1097280"/>
            <a:ext cx="3749040" cy="585216"/>
          </a:xfrm>
          <a:prstGeom prst="roundRect">
            <a:avLst>
              <a:gd name="adj" fmla="val 9375"/>
            </a:avLst>
          </a:prstGeom>
          <a:solidFill>
            <a:srgbClr val="142D4E"/>
          </a:solidFill>
          <a:ln w="12700">
            <a:solidFill>
              <a:srgbClr val="142D4E"/>
            </a:solidFill>
            <a:prstDash val="solid"/>
          </a:ln>
        </p:spPr>
      </p:sp>
      <p:sp>
        <p:nvSpPr>
          <p:cNvPr id="6" name="Text 3"/>
          <p:cNvSpPr txBox="1"/>
          <p:nvPr/>
        </p:nvSpPr>
        <p:spPr>
          <a:xfrm>
            <a:off x="502920" y="1097280"/>
            <a:ext cx="3657600" cy="585216"/>
          </a:xfrm>
          <a:prstGeom prst="rect">
            <a:avLst/>
          </a:prstGeom>
          <a:noFill/>
          <a:ln/>
        </p:spPr>
        <p:txBody>
          <a:bodyPr wrap="square" lIns="381" tIns="381" rIns="381" bIns="381"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Controller</a:t>
            </a:r>
            <a:endParaRPr lang="en-US" sz="1300" dirty="0"/>
          </a:p>
          <a:p>
            <a:pPr algn="ctr" indent="0" marL="0">
              <a:buNone/>
            </a:pPr>
            <a:r>
              <a:rPr lang="en-US" sz="1100" dirty="0">
                <a:solidFill>
                  <a:srgbClr val="FFFFFF"/>
                </a:solidFill>
                <a:latin typeface="Calibri" pitchFamily="34" charset="0"/>
                <a:ea typeface="Calibri" pitchFamily="34" charset="-122"/>
                <a:cs typeface="Calibri" pitchFamily="34" charset="-120"/>
              </a:rPr>
              <a:t>MLP 4×100, input = ones; samples 20 policies</a:t>
            </a:r>
            <a:endParaRPr lang="en-US" sz="1300" dirty="0"/>
          </a:p>
        </p:txBody>
      </p:sp>
      <p:sp>
        <p:nvSpPr>
          <p:cNvPr id="7" name="Shape 4"/>
          <p:cNvSpPr/>
          <p:nvPr/>
        </p:nvSpPr>
        <p:spPr>
          <a:xfrm>
            <a:off x="2331720" y="1682496"/>
            <a:ext cx="0" cy="109728"/>
          </a:xfrm>
          <a:prstGeom prst="line">
            <a:avLst/>
          </a:prstGeom>
          <a:noFill/>
          <a:ln w="22225">
            <a:solidFill>
              <a:srgbClr val="0F766E"/>
            </a:solidFill>
            <a:prstDash val="solid"/>
            <a:tailEnd type="triangle"/>
          </a:ln>
        </p:spPr>
      </p:sp>
      <p:sp>
        <p:nvSpPr>
          <p:cNvPr id="8" name="Shape 5"/>
          <p:cNvSpPr/>
          <p:nvPr/>
        </p:nvSpPr>
        <p:spPr>
          <a:xfrm>
            <a:off x="457200" y="1792224"/>
            <a:ext cx="3749040" cy="585216"/>
          </a:xfrm>
          <a:prstGeom prst="roundRect">
            <a:avLst>
              <a:gd name="adj" fmla="val 9375"/>
            </a:avLst>
          </a:prstGeom>
          <a:solidFill>
            <a:srgbClr val="142D4E"/>
          </a:solidFill>
          <a:ln w="12700">
            <a:solidFill>
              <a:srgbClr val="142D4E"/>
            </a:solidFill>
            <a:prstDash val="solid"/>
          </a:ln>
        </p:spPr>
      </p:sp>
      <p:sp>
        <p:nvSpPr>
          <p:cNvPr id="9" name="Text 6"/>
          <p:cNvSpPr txBox="1"/>
          <p:nvPr/>
        </p:nvSpPr>
        <p:spPr>
          <a:xfrm>
            <a:off x="502920" y="1792224"/>
            <a:ext cx="3657600" cy="585216"/>
          </a:xfrm>
          <a:prstGeom prst="rect">
            <a:avLst/>
          </a:prstGeom>
          <a:noFill/>
          <a:ln/>
        </p:spPr>
        <p:txBody>
          <a:bodyPr wrap="square" lIns="381" tIns="381" rIns="381" bIns="381"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Mix and train</a:t>
            </a:r>
            <a:endParaRPr lang="en-US" sz="1300" dirty="0"/>
          </a:p>
          <a:p>
            <a:pPr algn="ctr" indent="0" marL="0">
              <a:buNone/>
            </a:pPr>
            <a:r>
              <a:rPr lang="en-US" sz="1100" dirty="0">
                <a:solidFill>
                  <a:srgbClr val="FFFFFF"/>
                </a:solidFill>
                <a:latin typeface="Calibri" pitchFamily="34" charset="0"/>
                <a:ea typeface="Calibri" pitchFamily="34" charset="-122"/>
                <a:cs typeface="Calibri" pitchFamily="34" charset="-120"/>
              </a:rPr>
              <a:t>k-NN partner, λ~Beta(100,100); MLP, 1,500 steps</a:t>
            </a:r>
            <a:endParaRPr lang="en-US" sz="1300" dirty="0"/>
          </a:p>
        </p:txBody>
      </p:sp>
      <p:sp>
        <p:nvSpPr>
          <p:cNvPr id="10" name="Shape 7"/>
          <p:cNvSpPr/>
          <p:nvPr/>
        </p:nvSpPr>
        <p:spPr>
          <a:xfrm>
            <a:off x="2331720" y="2377440"/>
            <a:ext cx="0" cy="109728"/>
          </a:xfrm>
          <a:prstGeom prst="line">
            <a:avLst/>
          </a:prstGeom>
          <a:noFill/>
          <a:ln w="22225">
            <a:solidFill>
              <a:srgbClr val="0F766E"/>
            </a:solidFill>
            <a:prstDash val="solid"/>
            <a:tailEnd type="triangle"/>
          </a:ln>
        </p:spPr>
      </p:sp>
      <p:sp>
        <p:nvSpPr>
          <p:cNvPr id="11" name="Shape 8"/>
          <p:cNvSpPr/>
          <p:nvPr/>
        </p:nvSpPr>
        <p:spPr>
          <a:xfrm>
            <a:off x="457200" y="2487168"/>
            <a:ext cx="3749040" cy="585216"/>
          </a:xfrm>
          <a:prstGeom prst="roundRect">
            <a:avLst>
              <a:gd name="adj" fmla="val 9375"/>
            </a:avLst>
          </a:prstGeom>
          <a:solidFill>
            <a:srgbClr val="142D4E"/>
          </a:solidFill>
          <a:ln w="12700">
            <a:solidFill>
              <a:srgbClr val="142D4E"/>
            </a:solidFill>
            <a:prstDash val="solid"/>
          </a:ln>
        </p:spPr>
      </p:sp>
      <p:sp>
        <p:nvSpPr>
          <p:cNvPr id="12" name="Text 9"/>
          <p:cNvSpPr txBox="1"/>
          <p:nvPr/>
        </p:nvSpPr>
        <p:spPr>
          <a:xfrm>
            <a:off x="502920" y="2487168"/>
            <a:ext cx="3657600" cy="585216"/>
          </a:xfrm>
          <a:prstGeom prst="rect">
            <a:avLst/>
          </a:prstGeom>
          <a:noFill/>
          <a:ln/>
        </p:spPr>
        <p:txBody>
          <a:bodyPr wrap="square" lIns="381" tIns="381" rIns="381" bIns="381"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Reward</a:t>
            </a:r>
            <a:endParaRPr lang="en-US" sz="1300" dirty="0"/>
          </a:p>
          <a:p>
            <a:pPr algn="ctr" indent="0" marL="0">
              <a:buNone/>
            </a:pPr>
            <a:r>
              <a:rPr lang="en-US" sz="1100" dirty="0">
                <a:solidFill>
                  <a:srgbClr val="FFFFFF"/>
                </a:solidFill>
                <a:latin typeface="Calibri" pitchFamily="34" charset="0"/>
                <a:ea typeface="Calibri" pitchFamily="34" charset="-122"/>
                <a:cs typeface="Calibri" pitchFamily="34" charset="-120"/>
              </a:rPr>
              <a:t>r = 1/(validation loss) − EMA baseline (0.95)</a:t>
            </a:r>
            <a:endParaRPr lang="en-US" sz="1300" dirty="0"/>
          </a:p>
        </p:txBody>
      </p:sp>
      <p:sp>
        <p:nvSpPr>
          <p:cNvPr id="13" name="Shape 10"/>
          <p:cNvSpPr/>
          <p:nvPr/>
        </p:nvSpPr>
        <p:spPr>
          <a:xfrm>
            <a:off x="2331720" y="3072384"/>
            <a:ext cx="0" cy="109728"/>
          </a:xfrm>
          <a:prstGeom prst="line">
            <a:avLst/>
          </a:prstGeom>
          <a:noFill/>
          <a:ln w="22225">
            <a:solidFill>
              <a:srgbClr val="0F766E"/>
            </a:solidFill>
            <a:prstDash val="solid"/>
            <a:tailEnd type="triangle"/>
          </a:ln>
        </p:spPr>
      </p:sp>
      <p:sp>
        <p:nvSpPr>
          <p:cNvPr id="14" name="Shape 11"/>
          <p:cNvSpPr/>
          <p:nvPr/>
        </p:nvSpPr>
        <p:spPr>
          <a:xfrm>
            <a:off x="457200" y="3182112"/>
            <a:ext cx="3749040" cy="585216"/>
          </a:xfrm>
          <a:prstGeom prst="roundRect">
            <a:avLst>
              <a:gd name="adj" fmla="val 9375"/>
            </a:avLst>
          </a:prstGeom>
          <a:solidFill>
            <a:srgbClr val="142D4E"/>
          </a:solidFill>
          <a:ln w="12700">
            <a:solidFill>
              <a:srgbClr val="142D4E"/>
            </a:solidFill>
            <a:prstDash val="solid"/>
          </a:ln>
        </p:spPr>
      </p:sp>
      <p:sp>
        <p:nvSpPr>
          <p:cNvPr id="15" name="Text 12"/>
          <p:cNvSpPr txBox="1"/>
          <p:nvPr/>
        </p:nvSpPr>
        <p:spPr>
          <a:xfrm>
            <a:off x="502920" y="3182112"/>
            <a:ext cx="3657600" cy="585216"/>
          </a:xfrm>
          <a:prstGeom prst="rect">
            <a:avLst/>
          </a:prstGeom>
          <a:noFill/>
          <a:ln/>
        </p:spPr>
        <p:txBody>
          <a:bodyPr wrap="square" lIns="381" tIns="381" rIns="381" bIns="381"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PPO update</a:t>
            </a:r>
            <a:endParaRPr lang="en-US" sz="1300" dirty="0"/>
          </a:p>
          <a:p>
            <a:pPr algn="ctr" indent="0" marL="0">
              <a:buNone/>
            </a:pPr>
            <a:r>
              <a:rPr lang="en-US" sz="1100" dirty="0">
                <a:solidFill>
                  <a:srgbClr val="FFFFFF"/>
                </a:solidFill>
                <a:latin typeface="Calibri" pitchFamily="34" charset="0"/>
                <a:ea typeface="Calibri" pitchFamily="34" charset="-122"/>
                <a:cs typeface="Calibri" pitchFamily="34" charset="-120"/>
              </a:rPr>
              <a:t>4 epochs, clip 0.2, entropy 0.01</a:t>
            </a:r>
            <a:endParaRPr lang="en-US" sz="1300" dirty="0"/>
          </a:p>
        </p:txBody>
      </p:sp>
      <p:sp>
        <p:nvSpPr>
          <p:cNvPr id="16" name="Shape 13"/>
          <p:cNvSpPr/>
          <p:nvPr/>
        </p:nvSpPr>
        <p:spPr>
          <a:xfrm>
            <a:off x="2331720" y="3767328"/>
            <a:ext cx="0" cy="109728"/>
          </a:xfrm>
          <a:prstGeom prst="line">
            <a:avLst/>
          </a:prstGeom>
          <a:noFill/>
          <a:ln w="22225">
            <a:solidFill>
              <a:srgbClr val="0F766E"/>
            </a:solidFill>
            <a:prstDash val="solid"/>
            <a:tailEnd type="triangle"/>
          </a:ln>
        </p:spPr>
      </p:sp>
      <p:sp>
        <p:nvSpPr>
          <p:cNvPr id="17" name="Shape 14"/>
          <p:cNvSpPr/>
          <p:nvPr/>
        </p:nvSpPr>
        <p:spPr>
          <a:xfrm>
            <a:off x="457200" y="3877056"/>
            <a:ext cx="3749040" cy="585216"/>
          </a:xfrm>
          <a:prstGeom prst="roundRect">
            <a:avLst>
              <a:gd name="adj" fmla="val 9375"/>
            </a:avLst>
          </a:prstGeom>
          <a:solidFill>
            <a:srgbClr val="0F766E"/>
          </a:solidFill>
          <a:ln w="12700">
            <a:solidFill>
              <a:srgbClr val="0F766E"/>
            </a:solidFill>
            <a:prstDash val="solid"/>
          </a:ln>
        </p:spPr>
      </p:sp>
      <p:sp>
        <p:nvSpPr>
          <p:cNvPr id="18" name="Text 15"/>
          <p:cNvSpPr txBox="1"/>
          <p:nvPr/>
        </p:nvSpPr>
        <p:spPr>
          <a:xfrm>
            <a:off x="502920" y="3877056"/>
            <a:ext cx="3657600" cy="585216"/>
          </a:xfrm>
          <a:prstGeom prst="rect">
            <a:avLst/>
          </a:prstGeom>
          <a:noFill/>
          <a:ln/>
        </p:spPr>
        <p:txBody>
          <a:bodyPr wrap="square" lIns="381" tIns="381" rIns="381" bIns="381"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Final model</a:t>
            </a:r>
            <a:endParaRPr lang="en-US" sz="1300" dirty="0"/>
          </a:p>
          <a:p>
            <a:pPr algn="ctr" indent="0" marL="0">
              <a:buNone/>
            </a:pPr>
            <a:r>
              <a:rPr lang="en-US" sz="1100" dirty="0">
                <a:solidFill>
                  <a:srgbClr val="FFFFFF"/>
                </a:solidFill>
                <a:latin typeface="Calibri" pitchFamily="34" charset="0"/>
                <a:ea typeface="Calibri" pitchFamily="34" charset="-122"/>
                <a:cs typeface="Calibri" pitchFamily="34" charset="-120"/>
              </a:rPr>
              <a:t>most probable option per example</a:t>
            </a:r>
            <a:endParaRPr lang="en-US" sz="1300" dirty="0"/>
          </a:p>
        </p:txBody>
      </p:sp>
      <p:sp>
        <p:nvSpPr>
          <p:cNvPr id="19" name="Text 16"/>
          <p:cNvSpPr txBox="1"/>
          <p:nvPr/>
        </p:nvSpPr>
        <p:spPr>
          <a:xfrm>
            <a:off x="4480560" y="1143000"/>
            <a:ext cx="4206240" cy="3383280"/>
          </a:xfrm>
          <a:prstGeom prst="rect">
            <a:avLst/>
          </a:prstGeom>
          <a:noFill/>
          <a:ln/>
        </p:spPr>
        <p:txBody>
          <a:bodyPr wrap="square" lIns="635" tIns="635" rIns="635" bIns="635" rtlCol="0" anchor="t"/>
          <a:lstStyle/>
          <a:p>
            <a:pPr marL="342900" indent="-342900">
              <a:spcAft>
                <a:spcPts val="800"/>
              </a:spcAft>
              <a:buSzPct val="100000"/>
              <a:buChar char="•"/>
            </a:pPr>
            <a:r>
              <a:rPr lang="en-US" sz="1500" dirty="0">
                <a:solidFill>
                  <a:srgbClr val="273449"/>
                </a:solidFill>
                <a:latin typeface="Calibri" pitchFamily="34" charset="0"/>
                <a:ea typeface="Calibri" pitchFamily="34" charset="-122"/>
                <a:cs typeface="Calibri" pitchFamily="34" charset="-120"/>
              </a:rPr>
              <a:t>Vanilla: no augmentation</a:t>
            </a:r>
            <a:endParaRPr lang="en-US" sz="1500" dirty="0"/>
          </a:p>
          <a:p>
            <a:pPr marL="342900" indent="-342900">
              <a:spcAft>
                <a:spcPts val="800"/>
              </a:spcAft>
              <a:buSzPct val="100000"/>
              <a:buChar char="•"/>
            </a:pPr>
            <a:r>
              <a:rPr lang="en-US" sz="1500" dirty="0">
                <a:solidFill>
                  <a:srgbClr val="273449"/>
                </a:solidFill>
                <a:latin typeface="Calibri" pitchFamily="34" charset="0"/>
                <a:ea typeface="Calibri" pitchFamily="34" charset="-122"/>
                <a:cs typeface="Calibri" pitchFamily="34" charset="-120"/>
              </a:rPr>
              <a:t>Mixup: α from {0.2, 1, 10, 100}</a:t>
            </a:r>
            <a:endParaRPr lang="en-US" sz="1500" dirty="0"/>
          </a:p>
          <a:p>
            <a:pPr marL="342900" indent="-342900">
              <a:spcAft>
                <a:spcPts val="800"/>
              </a:spcAft>
              <a:buSzPct val="100000"/>
              <a:buChar char="•"/>
            </a:pPr>
            <a:r>
              <a:rPr lang="en-US" sz="1500" dirty="0">
                <a:solidFill>
                  <a:srgbClr val="273449"/>
                </a:solidFill>
                <a:latin typeface="Calibri" pitchFamily="34" charset="0"/>
                <a:ea typeface="Calibri" pitchFamily="34" charset="-122"/>
                <a:cs typeface="Calibri" pitchFamily="34" charset="-120"/>
              </a:rPr>
              <a:t>Global kNN: one k from {1, 4, 16, 64, 256}</a:t>
            </a:r>
            <a:endParaRPr lang="en-US" sz="1500" dirty="0"/>
          </a:p>
          <a:p>
            <a:pPr marL="342900" indent="-342900">
              <a:spcAft>
                <a:spcPts val="800"/>
              </a:spcAft>
              <a:buSzPct val="100000"/>
              <a:buChar char="•"/>
            </a:pPr>
            <a:r>
              <a:rPr lang="en-US" sz="1500" dirty="0">
                <a:solidFill>
                  <a:srgbClr val="273449"/>
                </a:solidFill>
                <a:latin typeface="Calibri" pitchFamily="34" charset="0"/>
                <a:ea typeface="Calibri" pitchFamily="34" charset="-122"/>
                <a:cs typeface="Calibri" pitchFamily="34" charset="-120"/>
              </a:rPr>
              <a:t>RegMix: options {0, 1, 4, 16, 64, 256}; 40 iterations × 20 policies</a:t>
            </a:r>
            <a:endParaRPr lang="en-US" sz="1500" dirty="0"/>
          </a:p>
          <a:p>
            <a:pPr marL="342900" indent="-342900">
              <a:spcAft>
                <a:spcPts val="800"/>
              </a:spcAft>
              <a:buSzPct val="100000"/>
              <a:buChar char="•"/>
            </a:pPr>
            <a:r>
              <a:rPr lang="en-US" sz="1500" dirty="0">
                <a:solidFill>
                  <a:srgbClr val="273449"/>
                </a:solidFill>
                <a:latin typeface="Calibri" pitchFamily="34" charset="0"/>
                <a:ea typeface="Calibri" pitchFamily="34" charset="-122"/>
                <a:cs typeface="Calibri" pitchFamily="34" charset="-120"/>
              </a:rPr>
              <a:t>Reduced budget: re-implementation, not replication</a:t>
            </a:r>
            <a:endParaRPr lang="en-US" sz="1500" dirty="0"/>
          </a:p>
        </p:txBody>
      </p:sp>
      <p:sp>
        <p:nvSpPr>
          <p:cNvPr id="20" name="Text 17"/>
          <p:cNvSpPr txBox="1"/>
          <p:nvPr/>
        </p:nvSpPr>
        <p:spPr>
          <a:xfrm>
            <a:off x="457200" y="4736592"/>
            <a:ext cx="7772400" cy="274320"/>
          </a:xfrm>
          <a:prstGeom prst="rect">
            <a:avLst/>
          </a:prstGeom>
          <a:noFill/>
          <a:ln/>
        </p:spPr>
        <p:txBody>
          <a:bodyPr wrap="square" lIns="0" tIns="0" rIns="0" bIns="0" rtlCol="0" anchor="ctr"/>
          <a:lstStyle/>
          <a:p>
            <a:pPr indent="0" marL="0">
              <a:buNone/>
            </a:pPr>
            <a:r>
              <a:rPr lang="en-US" sz="1000" dirty="0">
                <a:solidFill>
                  <a:srgbClr val="64748B"/>
                </a:solidFill>
                <a:latin typeface="Calibri" pitchFamily="34" charset="0"/>
                <a:ea typeface="Calibri" pitchFamily="34" charset="-122"/>
                <a:cs typeface="Calibri" pitchFamily="34" charset="-120"/>
              </a:rPr>
              <a:t>Sources: [15] RegMix; [28] PPO; [23] Adam; [16]–[18] policy search; [24]–[27] alternative models</a:t>
            </a:r>
            <a:endParaRPr lang="en-US" sz="1000" dirty="0"/>
          </a:p>
        </p:txBody>
      </p:sp>
      <p:sp>
        <p:nvSpPr>
          <p:cNvPr id="25" name="Slide Number Placeholder 0"/>
          <p:cNvSpPr>
            <a:spLocks noGrp="1"/>
          </p:cNvSpPr>
          <p:nvPr>
            <p:ph type="sldNum" sz="quarter" idx="4294967295"/>
          </p:nvPr>
        </p:nvSpPr>
        <p:spPr>
          <a:xfrm>
            <a:off x="8412480" y="4773168"/>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4748B"/>
                </a:solidFill>
                <a:latin typeface="Calibri"/>
                <a:ea typeface="Calibri"/>
                <a:cs typeface="Calibri"/>
              </a:defRPr>
            </a:lvl1pPr>
          </a:lstStyle>
          <a:p>
            <a:pPr algn="l"/>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txBox="1"/>
          <p:nvPr/>
        </p:nvSpPr>
        <p:spPr>
          <a:xfrm>
            <a:off x="457200" y="256032"/>
            <a:ext cx="8229600" cy="594360"/>
          </a:xfrm>
          <a:prstGeom prst="rect">
            <a:avLst/>
          </a:prstGeom>
          <a:noFill/>
          <a:ln/>
        </p:spPr>
        <p:txBody>
          <a:bodyPr wrap="square" lIns="0" tIns="0" rIns="0" bIns="0" rtlCol="0" anchor="ctr"/>
          <a:lstStyle/>
          <a:p>
            <a:pPr indent="0" marL="0">
              <a:buNone/>
            </a:pPr>
            <a:r>
              <a:rPr lang="en-US" sz="2800" b="1" dirty="0">
                <a:solidFill>
                  <a:srgbClr val="142D4E"/>
                </a:solidFill>
                <a:latin typeface="Calibri" pitchFamily="34" charset="0"/>
                <a:ea typeface="Calibri" pitchFamily="34" charset="-122"/>
                <a:cs typeface="Calibri" pitchFamily="34" charset="-120"/>
              </a:rPr>
              <a:t>Results: Reproduction-Style Protocol</a:t>
            </a:r>
            <a:endParaRPr lang="en-US" sz="2800" dirty="0"/>
          </a:p>
        </p:txBody>
      </p:sp>
      <p:sp>
        <p:nvSpPr>
          <p:cNvPr id="3" name="Shape 1"/>
          <p:cNvSpPr/>
          <p:nvPr/>
        </p:nvSpPr>
        <p:spPr>
          <a:xfrm>
            <a:off x="457200" y="896112"/>
            <a:ext cx="822960" cy="45720"/>
          </a:xfrm>
          <a:prstGeom prst="rect">
            <a:avLst/>
          </a:prstGeom>
          <a:solidFill>
            <a:srgbClr val="0F766E"/>
          </a:solidFill>
          <a:ln w="12700">
            <a:solidFill>
              <a:srgbClr val="0F766E"/>
            </a:solidFill>
            <a:prstDash val="solid"/>
          </a:ln>
        </p:spPr>
      </p:sp>
      <p:graphicFrame>
        <p:nvGraphicFramePr>
          <p:cNvPr id="5" name="Chart 0" descr=""/>
          <p:cNvGraphicFramePr/>
          <p:nvPr/>
        </p:nvGraphicFramePr>
        <p:xfrm>
          <a:off x="365760" y="1097280"/>
          <a:ext cx="5394960" cy="3520440"/>
        </p:xfrm>
        <a:graphic xmlns:a="http://schemas.openxmlformats.org/drawingml/2006/main">
          <a:graphicData uri="http://schemas.openxmlformats.org/drawingml/2006/chart">
            <c:chart xmlns:c="http://schemas.openxmlformats.org/drawingml/2006/chart" r:id="rId1"/>
          </a:graphicData>
        </a:graphic>
      </p:graphicFrame>
      <p:sp>
        <p:nvSpPr>
          <p:cNvPr id="6" name="Shape 2"/>
          <p:cNvSpPr/>
          <p:nvPr/>
        </p:nvSpPr>
        <p:spPr>
          <a:xfrm>
            <a:off x="5943600" y="1143000"/>
            <a:ext cx="2743200" cy="1600200"/>
          </a:xfrm>
          <a:prstGeom prst="rect">
            <a:avLst/>
          </a:prstGeom>
          <a:solidFill>
            <a:srgbClr val="FFFFFF"/>
          </a:solidFill>
          <a:ln w="9525">
            <a:solidFill>
              <a:srgbClr val="DDE3EA"/>
            </a:solidFill>
            <a:prstDash val="solid"/>
          </a:ln>
        </p:spPr>
      </p:sp>
      <p:sp>
        <p:nvSpPr>
          <p:cNvPr id="7" name="Shape 3"/>
          <p:cNvSpPr/>
          <p:nvPr/>
        </p:nvSpPr>
        <p:spPr>
          <a:xfrm>
            <a:off x="5943600" y="1143000"/>
            <a:ext cx="64008" cy="1600200"/>
          </a:xfrm>
          <a:prstGeom prst="rect">
            <a:avLst/>
          </a:prstGeom>
          <a:solidFill>
            <a:srgbClr val="0F766E"/>
          </a:solidFill>
          <a:ln w="12700">
            <a:solidFill>
              <a:srgbClr val="0F766E"/>
            </a:solidFill>
            <a:prstDash val="solid"/>
          </a:ln>
        </p:spPr>
      </p:sp>
      <p:sp>
        <p:nvSpPr>
          <p:cNvPr id="8" name="Text 4"/>
          <p:cNvSpPr txBox="1"/>
          <p:nvPr/>
        </p:nvSpPr>
        <p:spPr>
          <a:xfrm>
            <a:off x="6126480" y="1216152"/>
            <a:ext cx="2468880" cy="347472"/>
          </a:xfrm>
          <a:prstGeom prst="rect">
            <a:avLst/>
          </a:prstGeom>
          <a:noFill/>
          <a:ln/>
        </p:spPr>
        <p:txBody>
          <a:bodyPr wrap="square" lIns="0" tIns="0" rIns="0" bIns="0" rtlCol="0" anchor="ctr"/>
          <a:lstStyle/>
          <a:p>
            <a:pPr indent="0" marL="0">
              <a:buNone/>
            </a:pPr>
            <a:r>
              <a:rPr lang="en-US" sz="1400" b="1" dirty="0">
                <a:solidFill>
                  <a:srgbClr val="142D4E"/>
                </a:solidFill>
                <a:latin typeface="Calibri" pitchFamily="34" charset="0"/>
                <a:ea typeface="Calibri" pitchFamily="34" charset="-122"/>
                <a:cs typeface="Calibri" pitchFamily="34" charset="-120"/>
              </a:rPr>
              <a:t>n = 30</a:t>
            </a:r>
            <a:endParaRPr lang="en-US" sz="1400" dirty="0"/>
          </a:p>
        </p:txBody>
      </p:sp>
      <p:sp>
        <p:nvSpPr>
          <p:cNvPr id="9" name="Text 5"/>
          <p:cNvSpPr txBox="1"/>
          <p:nvPr/>
        </p:nvSpPr>
        <p:spPr>
          <a:xfrm>
            <a:off x="6126480" y="1581912"/>
            <a:ext cx="2468880" cy="1088136"/>
          </a:xfrm>
          <a:prstGeom prst="rect">
            <a:avLst/>
          </a:prstGeom>
          <a:noFill/>
          <a:ln/>
        </p:spPr>
        <p:txBody>
          <a:bodyPr wrap="square" lIns="0" tIns="0" rIns="0" bIns="0" rtlCol="0" anchor="t"/>
          <a:lstStyle/>
          <a:p>
            <a:pPr indent="0" marL="0">
              <a:buNone/>
            </a:pPr>
            <a:r>
              <a:rPr lang="en-US" sz="1200" dirty="0">
                <a:solidFill>
                  <a:srgbClr val="273449"/>
                </a:solidFill>
                <a:latin typeface="Calibri" pitchFamily="34" charset="0"/>
                <a:ea typeface="Calibri" pitchFamily="34" charset="-122"/>
                <a:cs typeface="Calibri" pitchFamily="34" charset="-120"/>
              </a:rPr>
              <a:t>RegMix 144.4 vs Vanilla 153.6; won 5/5 seeds; Holm p = 0.80</a:t>
            </a:r>
            <a:endParaRPr lang="en-US" sz="1200" dirty="0"/>
          </a:p>
        </p:txBody>
      </p:sp>
      <p:sp>
        <p:nvSpPr>
          <p:cNvPr id="10" name="Shape 6"/>
          <p:cNvSpPr/>
          <p:nvPr/>
        </p:nvSpPr>
        <p:spPr>
          <a:xfrm>
            <a:off x="5943600" y="2926080"/>
            <a:ext cx="2743200" cy="1600200"/>
          </a:xfrm>
          <a:prstGeom prst="rect">
            <a:avLst/>
          </a:prstGeom>
          <a:solidFill>
            <a:srgbClr val="FFFFFF"/>
          </a:solidFill>
          <a:ln w="9525">
            <a:solidFill>
              <a:srgbClr val="DDE3EA"/>
            </a:solidFill>
            <a:prstDash val="solid"/>
          </a:ln>
        </p:spPr>
      </p:sp>
      <p:sp>
        <p:nvSpPr>
          <p:cNvPr id="11" name="Shape 7"/>
          <p:cNvSpPr/>
          <p:nvPr/>
        </p:nvSpPr>
        <p:spPr>
          <a:xfrm>
            <a:off x="5943600" y="2926080"/>
            <a:ext cx="64008" cy="1600200"/>
          </a:xfrm>
          <a:prstGeom prst="rect">
            <a:avLst/>
          </a:prstGeom>
          <a:solidFill>
            <a:srgbClr val="D97706"/>
          </a:solidFill>
          <a:ln w="12700">
            <a:solidFill>
              <a:srgbClr val="D97706"/>
            </a:solidFill>
            <a:prstDash val="solid"/>
          </a:ln>
        </p:spPr>
      </p:sp>
      <p:sp>
        <p:nvSpPr>
          <p:cNvPr id="12" name="Text 8"/>
          <p:cNvSpPr txBox="1"/>
          <p:nvPr/>
        </p:nvSpPr>
        <p:spPr>
          <a:xfrm>
            <a:off x="6126480" y="2999232"/>
            <a:ext cx="2468880" cy="347472"/>
          </a:xfrm>
          <a:prstGeom prst="rect">
            <a:avLst/>
          </a:prstGeom>
          <a:noFill/>
          <a:ln/>
        </p:spPr>
        <p:txBody>
          <a:bodyPr wrap="square" lIns="0" tIns="0" rIns="0" bIns="0" rtlCol="0" anchor="ctr"/>
          <a:lstStyle/>
          <a:p>
            <a:pPr indent="0" marL="0">
              <a:buNone/>
            </a:pPr>
            <a:r>
              <a:rPr lang="en-US" sz="1400" b="1" dirty="0">
                <a:solidFill>
                  <a:srgbClr val="142D4E"/>
                </a:solidFill>
                <a:latin typeface="Calibri" pitchFamily="34" charset="0"/>
                <a:ea typeface="Calibri" pitchFamily="34" charset="-122"/>
                <a:cs typeface="Calibri" pitchFamily="34" charset="-120"/>
              </a:rPr>
              <a:t>n = 300</a:t>
            </a:r>
            <a:endParaRPr lang="en-US" sz="1400" dirty="0"/>
          </a:p>
        </p:txBody>
      </p:sp>
      <p:sp>
        <p:nvSpPr>
          <p:cNvPr id="13" name="Text 9"/>
          <p:cNvSpPr txBox="1"/>
          <p:nvPr/>
        </p:nvSpPr>
        <p:spPr>
          <a:xfrm>
            <a:off x="6126480" y="3364992"/>
            <a:ext cx="2468880" cy="1088136"/>
          </a:xfrm>
          <a:prstGeom prst="rect">
            <a:avLst/>
          </a:prstGeom>
          <a:noFill/>
          <a:ln/>
        </p:spPr>
        <p:txBody>
          <a:bodyPr wrap="square" lIns="0" tIns="0" rIns="0" bIns="0" rtlCol="0" anchor="t"/>
          <a:lstStyle/>
          <a:p>
            <a:pPr indent="0" marL="0">
              <a:buNone/>
            </a:pPr>
            <a:r>
              <a:rPr lang="en-US" sz="1200" dirty="0">
                <a:solidFill>
                  <a:srgbClr val="273449"/>
                </a:solidFill>
                <a:latin typeface="Calibri" pitchFamily="34" charset="0"/>
                <a:ea typeface="Calibri" pitchFamily="34" charset="-122"/>
                <a:cs typeface="Calibri" pitchFamily="34" charset="-120"/>
              </a:rPr>
              <a:t>Vanilla 105.0 best; RegMix 115.7 worst; Holm p = 0.002</a:t>
            </a:r>
            <a:endParaRPr lang="en-US" sz="1200" dirty="0"/>
          </a:p>
        </p:txBody>
      </p:sp>
      <p:sp>
        <p:nvSpPr>
          <p:cNvPr id="25" name="Slide Number Placeholder 0"/>
          <p:cNvSpPr>
            <a:spLocks noGrp="1"/>
          </p:cNvSpPr>
          <p:nvPr>
            <p:ph type="sldNum" sz="quarter" idx="4294967295"/>
          </p:nvPr>
        </p:nvSpPr>
        <p:spPr>
          <a:xfrm>
            <a:off x="8412480" y="4773168"/>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4748B"/>
                </a:solidFill>
                <a:latin typeface="Calibri"/>
                <a:ea typeface="Calibri"/>
                <a:cs typeface="Calibri"/>
              </a:defRPr>
            </a:lvl1pPr>
          </a:lstStyle>
          <a:p>
            <a:pPr algn="l"/>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txBox="1"/>
          <p:nvPr/>
        </p:nvSpPr>
        <p:spPr>
          <a:xfrm>
            <a:off x="457200" y="256032"/>
            <a:ext cx="8229600" cy="594360"/>
          </a:xfrm>
          <a:prstGeom prst="rect">
            <a:avLst/>
          </a:prstGeom>
          <a:noFill/>
          <a:ln/>
        </p:spPr>
        <p:txBody>
          <a:bodyPr wrap="square" lIns="0" tIns="0" rIns="0" bIns="0" rtlCol="0" anchor="ctr"/>
          <a:lstStyle/>
          <a:p>
            <a:pPr indent="0" marL="0">
              <a:buNone/>
            </a:pPr>
            <a:r>
              <a:rPr lang="en-US" sz="2800" b="1" dirty="0">
                <a:solidFill>
                  <a:srgbClr val="142D4E"/>
                </a:solidFill>
                <a:latin typeface="Calibri" pitchFamily="34" charset="0"/>
                <a:ea typeface="Calibri" pitchFamily="34" charset="-122"/>
                <a:cs typeface="Calibri" pitchFamily="34" charset="-120"/>
              </a:rPr>
              <a:t>Results: Chronological Protocol</a:t>
            </a:r>
            <a:endParaRPr lang="en-US" sz="2800" dirty="0"/>
          </a:p>
        </p:txBody>
      </p:sp>
      <p:sp>
        <p:nvSpPr>
          <p:cNvPr id="3" name="Shape 1"/>
          <p:cNvSpPr/>
          <p:nvPr/>
        </p:nvSpPr>
        <p:spPr>
          <a:xfrm>
            <a:off x="457200" y="896112"/>
            <a:ext cx="822960" cy="45720"/>
          </a:xfrm>
          <a:prstGeom prst="rect">
            <a:avLst/>
          </a:prstGeom>
          <a:solidFill>
            <a:srgbClr val="0F766E"/>
          </a:solidFill>
          <a:ln w="12700">
            <a:solidFill>
              <a:srgbClr val="0F766E"/>
            </a:solidFill>
            <a:prstDash val="solid"/>
          </a:ln>
        </p:spPr>
      </p:sp>
      <p:graphicFrame>
        <p:nvGraphicFramePr>
          <p:cNvPr id="5" name="Chart 0" descr=""/>
          <p:cNvGraphicFramePr/>
          <p:nvPr/>
        </p:nvGraphicFramePr>
        <p:xfrm>
          <a:off x="365760" y="1097280"/>
          <a:ext cx="5394960" cy="3520440"/>
        </p:xfrm>
        <a:graphic xmlns:a="http://schemas.openxmlformats.org/drawingml/2006/main">
          <a:graphicData uri="http://schemas.openxmlformats.org/drawingml/2006/chart">
            <c:chart xmlns:c="http://schemas.openxmlformats.org/drawingml/2006/chart" r:id="rId1"/>
          </a:graphicData>
        </a:graphic>
      </p:graphicFrame>
      <p:sp>
        <p:nvSpPr>
          <p:cNvPr id="6" name="Text 2"/>
          <p:cNvSpPr txBox="1"/>
          <p:nvPr/>
        </p:nvSpPr>
        <p:spPr>
          <a:xfrm>
            <a:off x="5943600" y="1143000"/>
            <a:ext cx="2834640" cy="3474720"/>
          </a:xfrm>
          <a:prstGeom prst="rect">
            <a:avLst/>
          </a:prstGeom>
          <a:noFill/>
          <a:ln/>
        </p:spPr>
        <p:txBody>
          <a:bodyPr wrap="square" lIns="635" tIns="635" rIns="635" bIns="635" rtlCol="0" anchor="t"/>
          <a:lstStyle/>
          <a:p>
            <a:pPr marL="342900" indent="-342900">
              <a:spcAft>
                <a:spcPts val="800"/>
              </a:spcAft>
              <a:buSzPct val="100000"/>
              <a:buChar char="•"/>
            </a:pPr>
            <a:r>
              <a:rPr lang="en-US" sz="1300" dirty="0">
                <a:solidFill>
                  <a:srgbClr val="273449"/>
                </a:solidFill>
                <a:latin typeface="Calibri" pitchFamily="34" charset="0"/>
                <a:ea typeface="Calibri" pitchFamily="34" charset="-122"/>
                <a:cs typeface="Calibri" pitchFamily="34" charset="-120"/>
              </a:rPr>
              <a:t>Vanilla lowest at every size (88.6 at 10,427 rows)</a:t>
            </a:r>
            <a:endParaRPr lang="en-US" sz="1300" dirty="0"/>
          </a:p>
          <a:p>
            <a:pPr marL="342900" indent="-342900">
              <a:spcAft>
                <a:spcPts val="800"/>
              </a:spcAft>
              <a:buSzPct val="100000"/>
              <a:buChar char="•"/>
            </a:pPr>
            <a:r>
              <a:rPr lang="en-US" sz="1300" dirty="0">
                <a:solidFill>
                  <a:srgbClr val="273449"/>
                </a:solidFill>
                <a:latin typeface="Calibri" pitchFamily="34" charset="0"/>
                <a:ea typeface="Calibri" pitchFamily="34" charset="-122"/>
                <a:cs typeface="Calibri" pitchFamily="34" charset="-120"/>
              </a:rPr>
              <a:t>RegMix worse than Vanilla at all four sizes (95.05 vs 88.60 at 10,427); Holm p ≥ 0.52</a:t>
            </a:r>
            <a:endParaRPr lang="en-US" sz="1300" dirty="0"/>
          </a:p>
          <a:p>
            <a:pPr marL="342900" indent="-342900">
              <a:spcAft>
                <a:spcPts val="800"/>
              </a:spcAft>
              <a:buSzPct val="100000"/>
              <a:buChar char="•"/>
            </a:pPr>
            <a:r>
              <a:rPr lang="en-US" sz="1300" dirty="0">
                <a:solidFill>
                  <a:srgbClr val="273449"/>
                </a:solidFill>
                <a:latin typeface="Calibri" pitchFamily="34" charset="0"/>
                <a:ea typeface="Calibri" pitchFamily="34" charset="-122"/>
                <a:cs typeface="Calibri" pitchFamily="34" charset="-120"/>
              </a:rPr>
              <a:t>Mixup and kNN beat Vanilla in at most 1 of 5 seeds; RegMix in 0 of 5</a:t>
            </a:r>
            <a:endParaRPr lang="en-US" sz="1300" dirty="0"/>
          </a:p>
          <a:p>
            <a:pPr marL="342900" indent="-342900">
              <a:spcAft>
                <a:spcPts val="800"/>
              </a:spcAft>
              <a:buSzPct val="100000"/>
              <a:buChar char="•"/>
            </a:pPr>
            <a:r>
              <a:rPr lang="en-US" sz="1300" dirty="0">
                <a:solidFill>
                  <a:srgbClr val="273449"/>
                </a:solidFill>
                <a:latin typeface="Calibri" pitchFamily="34" charset="0"/>
                <a:ea typeface="Calibri" pitchFamily="34" charset="-122"/>
                <a:cs typeface="Calibri" pitchFamily="34" charset="-120"/>
              </a:rPr>
              <a:t>Only one comparison in the study survives Holm correction (p &lt; 0.05)</a:t>
            </a:r>
            <a:endParaRPr lang="en-US" sz="1300" dirty="0"/>
          </a:p>
        </p:txBody>
      </p:sp>
      <p:sp>
        <p:nvSpPr>
          <p:cNvPr id="7" name="Text 3"/>
          <p:cNvSpPr txBox="1"/>
          <p:nvPr/>
        </p:nvSpPr>
        <p:spPr>
          <a:xfrm>
            <a:off x="457200" y="4736592"/>
            <a:ext cx="7772400" cy="274320"/>
          </a:xfrm>
          <a:prstGeom prst="rect">
            <a:avLst/>
          </a:prstGeom>
          <a:noFill/>
          <a:ln/>
        </p:spPr>
        <p:txBody>
          <a:bodyPr wrap="square" lIns="0" tIns="0" rIns="0" bIns="0" rtlCol="0" anchor="ctr"/>
          <a:lstStyle/>
          <a:p>
            <a:pPr indent="0" marL="0">
              <a:buNone/>
            </a:pPr>
            <a:r>
              <a:rPr lang="en-US" sz="1000" dirty="0">
                <a:solidFill>
                  <a:srgbClr val="64748B"/>
                </a:solidFill>
                <a:latin typeface="Calibri" pitchFamily="34" charset="0"/>
                <a:ea typeface="Calibri" pitchFamily="34" charset="-122"/>
                <a:cs typeface="Calibri" pitchFamily="34" charset="-120"/>
              </a:rPr>
              <a:t>Statistics: [29] Wilcoxon; [30] bootstrap; [32] Holm; [31] comparing learners; software [33]–[35]</a:t>
            </a:r>
            <a:endParaRPr lang="en-US" sz="1000" dirty="0"/>
          </a:p>
        </p:txBody>
      </p:sp>
      <p:sp>
        <p:nvSpPr>
          <p:cNvPr id="25" name="Slide Number Placeholder 0"/>
          <p:cNvSpPr>
            <a:spLocks noGrp="1"/>
          </p:cNvSpPr>
          <p:nvPr>
            <p:ph type="sldNum" sz="quarter" idx="4294967295"/>
          </p:nvPr>
        </p:nvSpPr>
        <p:spPr>
          <a:xfrm>
            <a:off x="8412480" y="4773168"/>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4748B"/>
                </a:solidFill>
                <a:latin typeface="Calibri"/>
                <a:ea typeface="Calibri"/>
                <a:cs typeface="Calibri"/>
              </a:defRPr>
            </a:lvl1pPr>
          </a:lstStyle>
          <a:p>
            <a:pPr algn="l"/>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txBox="1"/>
          <p:nvPr/>
        </p:nvSpPr>
        <p:spPr>
          <a:xfrm>
            <a:off x="457200" y="256032"/>
            <a:ext cx="8229600" cy="594360"/>
          </a:xfrm>
          <a:prstGeom prst="rect">
            <a:avLst/>
          </a:prstGeom>
          <a:noFill/>
          <a:ln/>
        </p:spPr>
        <p:txBody>
          <a:bodyPr wrap="square" lIns="0" tIns="0" rIns="0" bIns="0" rtlCol="0" anchor="ctr"/>
          <a:lstStyle/>
          <a:p>
            <a:pPr indent="0" marL="0">
              <a:buNone/>
            </a:pPr>
            <a:r>
              <a:rPr lang="en-US" sz="2800" b="1" dirty="0">
                <a:solidFill>
                  <a:srgbClr val="142D4E"/>
                </a:solidFill>
                <a:latin typeface="Calibri" pitchFamily="34" charset="0"/>
                <a:ea typeface="Calibri" pitchFamily="34" charset="-122"/>
                <a:cs typeface="Calibri" pitchFamily="34" charset="-120"/>
              </a:rPr>
              <a:t>Computational Cost and the Learned Policy</a:t>
            </a:r>
            <a:endParaRPr lang="en-US" sz="2800" dirty="0"/>
          </a:p>
        </p:txBody>
      </p:sp>
      <p:sp>
        <p:nvSpPr>
          <p:cNvPr id="3" name="Shape 1"/>
          <p:cNvSpPr/>
          <p:nvPr/>
        </p:nvSpPr>
        <p:spPr>
          <a:xfrm>
            <a:off x="457200" y="896112"/>
            <a:ext cx="822960" cy="45720"/>
          </a:xfrm>
          <a:prstGeom prst="rect">
            <a:avLst/>
          </a:prstGeom>
          <a:solidFill>
            <a:srgbClr val="0F766E"/>
          </a:solidFill>
          <a:ln w="12700">
            <a:solidFill>
              <a:srgbClr val="0F766E"/>
            </a:solidFill>
            <a:prstDash val="solid"/>
          </a:ln>
        </p:spPr>
      </p:sp>
      <p:graphicFrame>
        <p:nvGraphicFramePr>
          <p:cNvPr id="5" name="Chart 0" descr=""/>
          <p:cNvGraphicFramePr/>
          <p:nvPr/>
        </p:nvGraphicFramePr>
        <p:xfrm>
          <a:off x="365760" y="1097280"/>
          <a:ext cx="4572000" cy="3520440"/>
        </p:xfrm>
        <a:graphic xmlns:a="http://schemas.openxmlformats.org/drawingml/2006/main">
          <a:graphicData uri="http://schemas.openxmlformats.org/drawingml/2006/chart">
            <c:chart xmlns:c="http://schemas.openxmlformats.org/drawingml/2006/chart" r:id="rId1"/>
          </a:graphicData>
        </a:graphic>
      </p:graphicFrame>
      <p:sp>
        <p:nvSpPr>
          <p:cNvPr id="6" name="Shape 2"/>
          <p:cNvSpPr/>
          <p:nvPr/>
        </p:nvSpPr>
        <p:spPr>
          <a:xfrm>
            <a:off x="5212080" y="1143000"/>
            <a:ext cx="3474720" cy="1554480"/>
          </a:xfrm>
          <a:prstGeom prst="rect">
            <a:avLst/>
          </a:prstGeom>
          <a:solidFill>
            <a:srgbClr val="FFFFFF"/>
          </a:solidFill>
          <a:ln w="9525">
            <a:solidFill>
              <a:srgbClr val="DDE3EA"/>
            </a:solidFill>
            <a:prstDash val="solid"/>
          </a:ln>
        </p:spPr>
      </p:sp>
      <p:sp>
        <p:nvSpPr>
          <p:cNvPr id="7" name="Shape 3"/>
          <p:cNvSpPr/>
          <p:nvPr/>
        </p:nvSpPr>
        <p:spPr>
          <a:xfrm>
            <a:off x="5212080" y="1143000"/>
            <a:ext cx="64008" cy="1554480"/>
          </a:xfrm>
          <a:prstGeom prst="rect">
            <a:avLst/>
          </a:prstGeom>
          <a:solidFill>
            <a:srgbClr val="D97706"/>
          </a:solidFill>
          <a:ln w="12700">
            <a:solidFill>
              <a:srgbClr val="D97706"/>
            </a:solidFill>
            <a:prstDash val="solid"/>
          </a:ln>
        </p:spPr>
      </p:sp>
      <p:sp>
        <p:nvSpPr>
          <p:cNvPr id="8" name="Text 4"/>
          <p:cNvSpPr txBox="1"/>
          <p:nvPr/>
        </p:nvSpPr>
        <p:spPr>
          <a:xfrm>
            <a:off x="5394960" y="1216152"/>
            <a:ext cx="3200400" cy="347472"/>
          </a:xfrm>
          <a:prstGeom prst="rect">
            <a:avLst/>
          </a:prstGeom>
          <a:noFill/>
          <a:ln/>
        </p:spPr>
        <p:txBody>
          <a:bodyPr wrap="square" lIns="0" tIns="0" rIns="0" bIns="0" rtlCol="0" anchor="ctr"/>
          <a:lstStyle/>
          <a:p>
            <a:pPr indent="0" marL="0">
              <a:buNone/>
            </a:pPr>
            <a:r>
              <a:rPr lang="en-US" sz="1500" b="1" dirty="0">
                <a:solidFill>
                  <a:srgbClr val="142D4E"/>
                </a:solidFill>
                <a:latin typeface="Calibri" pitchFamily="34" charset="0"/>
                <a:ea typeface="Calibri" pitchFamily="34" charset="-122"/>
                <a:cs typeface="Calibri" pitchFamily="34" charset="-120"/>
              </a:rPr>
              <a:t>Search cost</a:t>
            </a:r>
            <a:endParaRPr lang="en-US" sz="1500" dirty="0"/>
          </a:p>
        </p:txBody>
      </p:sp>
      <p:sp>
        <p:nvSpPr>
          <p:cNvPr id="9" name="Text 5"/>
          <p:cNvSpPr txBox="1"/>
          <p:nvPr/>
        </p:nvSpPr>
        <p:spPr>
          <a:xfrm>
            <a:off x="5394960" y="1581912"/>
            <a:ext cx="3200400" cy="1042416"/>
          </a:xfrm>
          <a:prstGeom prst="rect">
            <a:avLst/>
          </a:prstGeom>
          <a:noFill/>
          <a:ln/>
        </p:spPr>
        <p:txBody>
          <a:bodyPr wrap="square" lIns="0" tIns="0" rIns="0" bIns="0" rtlCol="0" anchor="t"/>
          <a:lstStyle/>
          <a:p>
            <a:pPr indent="0" marL="0">
              <a:buNone/>
            </a:pPr>
            <a:r>
              <a:rPr lang="en-US" sz="1300" dirty="0">
                <a:solidFill>
                  <a:srgbClr val="273449"/>
                </a:solidFill>
                <a:latin typeface="Calibri" pitchFamily="34" charset="0"/>
                <a:ea typeface="Calibri" pitchFamily="34" charset="-122"/>
                <a:cs typeface="Calibri" pitchFamily="34" charset="-120"/>
              </a:rPr>
              <a:t>≈154 s per run (≈3.9 s/iteration). n = 300: 163.8 s vs 20.7 s (≈8×). 10,427 rows: 172.7 s vs 12.0 s (≈14×).</a:t>
            </a:r>
            <a:endParaRPr lang="en-US" sz="1300" dirty="0"/>
          </a:p>
        </p:txBody>
      </p:sp>
      <p:sp>
        <p:nvSpPr>
          <p:cNvPr id="10" name="Shape 6"/>
          <p:cNvSpPr/>
          <p:nvPr/>
        </p:nvSpPr>
        <p:spPr>
          <a:xfrm>
            <a:off x="5212080" y="2880360"/>
            <a:ext cx="3474720" cy="1645920"/>
          </a:xfrm>
          <a:prstGeom prst="rect">
            <a:avLst/>
          </a:prstGeom>
          <a:solidFill>
            <a:srgbClr val="FFFFFF"/>
          </a:solidFill>
          <a:ln w="9525">
            <a:solidFill>
              <a:srgbClr val="DDE3EA"/>
            </a:solidFill>
            <a:prstDash val="solid"/>
          </a:ln>
        </p:spPr>
      </p:sp>
      <p:sp>
        <p:nvSpPr>
          <p:cNvPr id="11" name="Shape 7"/>
          <p:cNvSpPr/>
          <p:nvPr/>
        </p:nvSpPr>
        <p:spPr>
          <a:xfrm>
            <a:off x="5212080" y="2880360"/>
            <a:ext cx="64008" cy="1645920"/>
          </a:xfrm>
          <a:prstGeom prst="rect">
            <a:avLst/>
          </a:prstGeom>
          <a:solidFill>
            <a:srgbClr val="0F766E"/>
          </a:solidFill>
          <a:ln w="12700">
            <a:solidFill>
              <a:srgbClr val="0F766E"/>
            </a:solidFill>
            <a:prstDash val="solid"/>
          </a:ln>
        </p:spPr>
      </p:sp>
      <p:sp>
        <p:nvSpPr>
          <p:cNvPr id="12" name="Text 8"/>
          <p:cNvSpPr txBox="1"/>
          <p:nvPr/>
        </p:nvSpPr>
        <p:spPr>
          <a:xfrm>
            <a:off x="5394960" y="2953512"/>
            <a:ext cx="3200400" cy="347472"/>
          </a:xfrm>
          <a:prstGeom prst="rect">
            <a:avLst/>
          </a:prstGeom>
          <a:noFill/>
          <a:ln/>
        </p:spPr>
        <p:txBody>
          <a:bodyPr wrap="square" lIns="0" tIns="0" rIns="0" bIns="0" rtlCol="0" anchor="ctr"/>
          <a:lstStyle/>
          <a:p>
            <a:pPr indent="0" marL="0">
              <a:buNone/>
            </a:pPr>
            <a:r>
              <a:rPr lang="en-US" sz="1500" b="1" dirty="0">
                <a:solidFill>
                  <a:srgbClr val="142D4E"/>
                </a:solidFill>
                <a:latin typeface="Calibri" pitchFamily="34" charset="0"/>
                <a:ea typeface="Calibri" pitchFamily="34" charset="-122"/>
                <a:cs typeface="Calibri" pitchFamily="34" charset="-120"/>
              </a:rPr>
              <a:t>Near-uniform policy</a:t>
            </a:r>
            <a:endParaRPr lang="en-US" sz="1500" dirty="0"/>
          </a:p>
        </p:txBody>
      </p:sp>
      <p:sp>
        <p:nvSpPr>
          <p:cNvPr id="13" name="Text 9"/>
          <p:cNvSpPr txBox="1"/>
          <p:nvPr/>
        </p:nvSpPr>
        <p:spPr>
          <a:xfrm>
            <a:off x="5394960" y="3319272"/>
            <a:ext cx="3200400" cy="1133856"/>
          </a:xfrm>
          <a:prstGeom prst="rect">
            <a:avLst/>
          </a:prstGeom>
          <a:noFill/>
          <a:ln/>
        </p:spPr>
        <p:txBody>
          <a:bodyPr wrap="square" lIns="0" tIns="0" rIns="0" bIns="0" rtlCol="0" anchor="t"/>
          <a:lstStyle/>
          <a:p>
            <a:pPr indent="0" marL="0">
              <a:buNone/>
            </a:pPr>
            <a:r>
              <a:rPr lang="en-US" sz="1300" dirty="0">
                <a:solidFill>
                  <a:srgbClr val="273449"/>
                </a:solidFill>
                <a:latin typeface="Calibri" pitchFamily="34" charset="0"/>
                <a:ea typeface="Calibri" pitchFamily="34" charset="-122"/>
                <a:cs typeface="Calibri" pitchFamily="34" charset="-120"/>
              </a:rPr>
              <a:t>Most common option covers 21.2% of examples on average, least 13.6%; uniform would be 16.7%.</a:t>
            </a:r>
            <a:endParaRPr lang="en-US" sz="1300" dirty="0"/>
          </a:p>
        </p:txBody>
      </p:sp>
      <p:sp>
        <p:nvSpPr>
          <p:cNvPr id="25" name="Slide Number Placeholder 0"/>
          <p:cNvSpPr>
            <a:spLocks noGrp="1"/>
          </p:cNvSpPr>
          <p:nvPr>
            <p:ph type="sldNum" sz="quarter" idx="4294967295"/>
          </p:nvPr>
        </p:nvSpPr>
        <p:spPr>
          <a:xfrm>
            <a:off x="8412480" y="4773168"/>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4748B"/>
                </a:solidFill>
                <a:latin typeface="Calibri"/>
                <a:ea typeface="Calibri"/>
                <a:cs typeface="Calibri"/>
              </a:defRPr>
            </a:lvl1pPr>
          </a:lstStyle>
          <a:p>
            <a:pPr algn="l"/>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txBox="1"/>
          <p:nvPr/>
        </p:nvSpPr>
        <p:spPr>
          <a:xfrm>
            <a:off x="457200" y="256032"/>
            <a:ext cx="8229600" cy="594360"/>
          </a:xfrm>
          <a:prstGeom prst="rect">
            <a:avLst/>
          </a:prstGeom>
          <a:noFill/>
          <a:ln/>
        </p:spPr>
        <p:txBody>
          <a:bodyPr wrap="square" lIns="0" tIns="0" rIns="0" bIns="0" rtlCol="0" anchor="ctr"/>
          <a:lstStyle/>
          <a:p>
            <a:pPr indent="0" marL="0">
              <a:buNone/>
            </a:pPr>
            <a:r>
              <a:rPr lang="en-US" sz="2800" b="1" dirty="0">
                <a:solidFill>
                  <a:srgbClr val="142D4E"/>
                </a:solidFill>
                <a:latin typeface="Calibri" pitchFamily="34" charset="0"/>
                <a:ea typeface="Calibri" pitchFamily="34" charset="-122"/>
                <a:cs typeface="Calibri" pitchFamily="34" charset="-120"/>
              </a:rPr>
              <a:t>Results Analysis: Answers to the Research Questions</a:t>
            </a:r>
            <a:endParaRPr lang="en-US" sz="2800" dirty="0"/>
          </a:p>
        </p:txBody>
      </p:sp>
      <p:sp>
        <p:nvSpPr>
          <p:cNvPr id="3" name="Shape 1"/>
          <p:cNvSpPr/>
          <p:nvPr/>
        </p:nvSpPr>
        <p:spPr>
          <a:xfrm>
            <a:off x="457200" y="896112"/>
            <a:ext cx="822960" cy="45720"/>
          </a:xfrm>
          <a:prstGeom prst="rect">
            <a:avLst/>
          </a:prstGeom>
          <a:solidFill>
            <a:srgbClr val="0F766E"/>
          </a:solidFill>
          <a:ln w="12700">
            <a:solidFill>
              <a:srgbClr val="0F766E"/>
            </a:solidFill>
            <a:prstDash val="solid"/>
          </a:ln>
        </p:spPr>
      </p:sp>
      <p:sp>
        <p:nvSpPr>
          <p:cNvPr id="5" name="Shape 2"/>
          <p:cNvSpPr/>
          <p:nvPr/>
        </p:nvSpPr>
        <p:spPr>
          <a:xfrm>
            <a:off x="457200" y="1097280"/>
            <a:ext cx="822960" cy="594360"/>
          </a:xfrm>
          <a:prstGeom prst="rect">
            <a:avLst/>
          </a:prstGeom>
          <a:solidFill>
            <a:srgbClr val="142D4E"/>
          </a:solidFill>
          <a:ln w="12700">
            <a:solidFill>
              <a:srgbClr val="142D4E"/>
            </a:solidFill>
            <a:prstDash val="solid"/>
          </a:ln>
        </p:spPr>
      </p:sp>
      <p:sp>
        <p:nvSpPr>
          <p:cNvPr id="6" name="Text 3"/>
          <p:cNvSpPr txBox="1"/>
          <p:nvPr/>
        </p:nvSpPr>
        <p:spPr>
          <a:xfrm>
            <a:off x="457200" y="1097280"/>
            <a:ext cx="822960" cy="594360"/>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RQ1</a:t>
            </a:r>
            <a:endParaRPr lang="en-US" sz="1600" dirty="0"/>
          </a:p>
        </p:txBody>
      </p:sp>
      <p:sp>
        <p:nvSpPr>
          <p:cNvPr id="7" name="Shape 4"/>
          <p:cNvSpPr/>
          <p:nvPr/>
        </p:nvSpPr>
        <p:spPr>
          <a:xfrm>
            <a:off x="1280160" y="1097280"/>
            <a:ext cx="7406640" cy="594360"/>
          </a:xfrm>
          <a:prstGeom prst="rect">
            <a:avLst/>
          </a:prstGeom>
          <a:solidFill>
            <a:srgbClr val="FFFFFF"/>
          </a:solidFill>
          <a:ln w="9525">
            <a:solidFill>
              <a:srgbClr val="DDE3EA"/>
            </a:solidFill>
            <a:prstDash val="solid"/>
          </a:ln>
        </p:spPr>
      </p:sp>
      <p:sp>
        <p:nvSpPr>
          <p:cNvPr id="8" name="Text 5"/>
          <p:cNvSpPr txBox="1"/>
          <p:nvPr/>
        </p:nvSpPr>
        <p:spPr>
          <a:xfrm>
            <a:off x="1417320" y="1097280"/>
            <a:ext cx="7223760" cy="594360"/>
          </a:xfrm>
          <a:prstGeom prst="rect">
            <a:avLst/>
          </a:prstGeom>
          <a:noFill/>
          <a:ln/>
        </p:spPr>
        <p:txBody>
          <a:bodyPr wrap="square" lIns="0" tIns="0" rIns="0" bIns="0" rtlCol="0" anchor="ctr"/>
          <a:lstStyle/>
          <a:p>
            <a:pPr indent="0" marL="0">
              <a:buNone/>
            </a:pPr>
            <a:r>
              <a:rPr lang="en-US" sz="1400" dirty="0">
                <a:solidFill>
                  <a:srgbClr val="273449"/>
                </a:solidFill>
                <a:latin typeface="Calibri" pitchFamily="34" charset="0"/>
                <a:ea typeface="Calibri" pitchFamily="34" charset="-122"/>
                <a:cs typeface="Calibri" pitchFamily="34" charset="-120"/>
              </a:rPr>
              <a:t>Augmentation gave little benefit; only at 30–75 random examples.</a:t>
            </a:r>
            <a:endParaRPr lang="en-US" sz="1400" dirty="0"/>
          </a:p>
        </p:txBody>
      </p:sp>
      <p:sp>
        <p:nvSpPr>
          <p:cNvPr id="9" name="Shape 6"/>
          <p:cNvSpPr/>
          <p:nvPr/>
        </p:nvSpPr>
        <p:spPr>
          <a:xfrm>
            <a:off x="457200" y="1801368"/>
            <a:ext cx="822960" cy="594360"/>
          </a:xfrm>
          <a:prstGeom prst="rect">
            <a:avLst/>
          </a:prstGeom>
          <a:solidFill>
            <a:srgbClr val="142D4E"/>
          </a:solidFill>
          <a:ln w="12700">
            <a:solidFill>
              <a:srgbClr val="142D4E"/>
            </a:solidFill>
            <a:prstDash val="solid"/>
          </a:ln>
        </p:spPr>
      </p:sp>
      <p:sp>
        <p:nvSpPr>
          <p:cNvPr id="10" name="Text 7"/>
          <p:cNvSpPr txBox="1"/>
          <p:nvPr/>
        </p:nvSpPr>
        <p:spPr>
          <a:xfrm>
            <a:off x="457200" y="1801368"/>
            <a:ext cx="822960" cy="594360"/>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RQ2</a:t>
            </a:r>
            <a:endParaRPr lang="en-US" sz="1600" dirty="0"/>
          </a:p>
        </p:txBody>
      </p:sp>
      <p:sp>
        <p:nvSpPr>
          <p:cNvPr id="11" name="Shape 8"/>
          <p:cNvSpPr/>
          <p:nvPr/>
        </p:nvSpPr>
        <p:spPr>
          <a:xfrm>
            <a:off x="1280160" y="1801368"/>
            <a:ext cx="7406640" cy="594360"/>
          </a:xfrm>
          <a:prstGeom prst="rect">
            <a:avLst/>
          </a:prstGeom>
          <a:solidFill>
            <a:srgbClr val="FFFFFF"/>
          </a:solidFill>
          <a:ln w="9525">
            <a:solidFill>
              <a:srgbClr val="DDE3EA"/>
            </a:solidFill>
            <a:prstDash val="solid"/>
          </a:ln>
        </p:spPr>
      </p:sp>
      <p:sp>
        <p:nvSpPr>
          <p:cNvPr id="12" name="Text 9"/>
          <p:cNvSpPr txBox="1"/>
          <p:nvPr/>
        </p:nvSpPr>
        <p:spPr>
          <a:xfrm>
            <a:off x="1417320" y="1801368"/>
            <a:ext cx="7223760" cy="594360"/>
          </a:xfrm>
          <a:prstGeom prst="rect">
            <a:avLst/>
          </a:prstGeom>
          <a:noFill/>
          <a:ln/>
        </p:spPr>
        <p:txBody>
          <a:bodyPr wrap="square" lIns="0" tIns="0" rIns="0" bIns="0" rtlCol="0" anchor="ctr"/>
          <a:lstStyle/>
          <a:p>
            <a:pPr indent="0" marL="0">
              <a:buNone/>
            </a:pPr>
            <a:r>
              <a:rPr lang="en-US" sz="1400" dirty="0">
                <a:solidFill>
                  <a:srgbClr val="273449"/>
                </a:solidFill>
                <a:latin typeface="Calibri" pitchFamily="34" charset="0"/>
                <a:ea typeface="Calibri" pitchFamily="34" charset="-122"/>
                <a:cs typeface="Calibri" pitchFamily="34" charset="-120"/>
              </a:rPr>
              <a:t>RegMix beat Mixup at 30, 75, 150 examples; behind it at 300 (not significant). Global kNN matched or beat it at most other sizes.</a:t>
            </a:r>
            <a:endParaRPr lang="en-US" sz="1400" dirty="0"/>
          </a:p>
        </p:txBody>
      </p:sp>
      <p:sp>
        <p:nvSpPr>
          <p:cNvPr id="13" name="Shape 10"/>
          <p:cNvSpPr/>
          <p:nvPr/>
        </p:nvSpPr>
        <p:spPr>
          <a:xfrm>
            <a:off x="457200" y="2505456"/>
            <a:ext cx="822960" cy="594360"/>
          </a:xfrm>
          <a:prstGeom prst="rect">
            <a:avLst/>
          </a:prstGeom>
          <a:solidFill>
            <a:srgbClr val="142D4E"/>
          </a:solidFill>
          <a:ln w="12700">
            <a:solidFill>
              <a:srgbClr val="142D4E"/>
            </a:solidFill>
            <a:prstDash val="solid"/>
          </a:ln>
        </p:spPr>
      </p:sp>
      <p:sp>
        <p:nvSpPr>
          <p:cNvPr id="14" name="Text 11"/>
          <p:cNvSpPr txBox="1"/>
          <p:nvPr/>
        </p:nvSpPr>
        <p:spPr>
          <a:xfrm>
            <a:off x="457200" y="2505456"/>
            <a:ext cx="822960" cy="594360"/>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RQ3</a:t>
            </a:r>
            <a:endParaRPr lang="en-US" sz="1600" dirty="0"/>
          </a:p>
        </p:txBody>
      </p:sp>
      <p:sp>
        <p:nvSpPr>
          <p:cNvPr id="15" name="Shape 12"/>
          <p:cNvSpPr/>
          <p:nvPr/>
        </p:nvSpPr>
        <p:spPr>
          <a:xfrm>
            <a:off x="1280160" y="2505456"/>
            <a:ext cx="7406640" cy="594360"/>
          </a:xfrm>
          <a:prstGeom prst="rect">
            <a:avLst/>
          </a:prstGeom>
          <a:solidFill>
            <a:srgbClr val="FFFFFF"/>
          </a:solidFill>
          <a:ln w="9525">
            <a:solidFill>
              <a:srgbClr val="DDE3EA"/>
            </a:solidFill>
            <a:prstDash val="solid"/>
          </a:ln>
        </p:spPr>
      </p:sp>
      <p:sp>
        <p:nvSpPr>
          <p:cNvPr id="16" name="Text 13"/>
          <p:cNvSpPr txBox="1"/>
          <p:nvPr/>
        </p:nvSpPr>
        <p:spPr>
          <a:xfrm>
            <a:off x="1417320" y="2505456"/>
            <a:ext cx="7223760" cy="594360"/>
          </a:xfrm>
          <a:prstGeom prst="rect">
            <a:avLst/>
          </a:prstGeom>
          <a:noFill/>
          <a:ln/>
        </p:spPr>
        <p:txBody>
          <a:bodyPr wrap="square" lIns="0" tIns="0" rIns="0" bIns="0" rtlCol="0" anchor="ctr"/>
          <a:lstStyle/>
          <a:p>
            <a:pPr indent="0" marL="0">
              <a:buNone/>
            </a:pPr>
            <a:r>
              <a:rPr lang="en-US" sz="1400" dirty="0">
                <a:solidFill>
                  <a:srgbClr val="273449"/>
                </a:solidFill>
                <a:latin typeface="Calibri" pitchFamily="34" charset="0"/>
                <a:ea typeface="Calibri" pitchFamily="34" charset="-122"/>
                <a:cs typeface="Calibri" pitchFamily="34" charset="-120"/>
              </a:rPr>
              <a:t>Advantage vanishes by 150 examples and reverses at 300.</a:t>
            </a:r>
            <a:endParaRPr lang="en-US" sz="1400" dirty="0"/>
          </a:p>
        </p:txBody>
      </p:sp>
      <p:sp>
        <p:nvSpPr>
          <p:cNvPr id="17" name="Shape 14"/>
          <p:cNvSpPr/>
          <p:nvPr/>
        </p:nvSpPr>
        <p:spPr>
          <a:xfrm>
            <a:off x="457200" y="3209544"/>
            <a:ext cx="822960" cy="594360"/>
          </a:xfrm>
          <a:prstGeom prst="rect">
            <a:avLst/>
          </a:prstGeom>
          <a:solidFill>
            <a:srgbClr val="142D4E"/>
          </a:solidFill>
          <a:ln w="12700">
            <a:solidFill>
              <a:srgbClr val="142D4E"/>
            </a:solidFill>
            <a:prstDash val="solid"/>
          </a:ln>
        </p:spPr>
      </p:sp>
      <p:sp>
        <p:nvSpPr>
          <p:cNvPr id="18" name="Text 15"/>
          <p:cNvSpPr txBox="1"/>
          <p:nvPr/>
        </p:nvSpPr>
        <p:spPr>
          <a:xfrm>
            <a:off x="457200" y="3209544"/>
            <a:ext cx="822960" cy="594360"/>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RQ4</a:t>
            </a:r>
            <a:endParaRPr lang="en-US" sz="1600" dirty="0"/>
          </a:p>
        </p:txBody>
      </p:sp>
      <p:sp>
        <p:nvSpPr>
          <p:cNvPr id="19" name="Shape 16"/>
          <p:cNvSpPr/>
          <p:nvPr/>
        </p:nvSpPr>
        <p:spPr>
          <a:xfrm>
            <a:off x="1280160" y="3209544"/>
            <a:ext cx="7406640" cy="594360"/>
          </a:xfrm>
          <a:prstGeom prst="rect">
            <a:avLst/>
          </a:prstGeom>
          <a:solidFill>
            <a:srgbClr val="FFFFFF"/>
          </a:solidFill>
          <a:ln w="9525">
            <a:solidFill>
              <a:srgbClr val="DDE3EA"/>
            </a:solidFill>
            <a:prstDash val="solid"/>
          </a:ln>
        </p:spPr>
      </p:sp>
      <p:sp>
        <p:nvSpPr>
          <p:cNvPr id="20" name="Text 17"/>
          <p:cNvSpPr txBox="1"/>
          <p:nvPr/>
        </p:nvSpPr>
        <p:spPr>
          <a:xfrm>
            <a:off x="1417320" y="3209544"/>
            <a:ext cx="7223760" cy="594360"/>
          </a:xfrm>
          <a:prstGeom prst="rect">
            <a:avLst/>
          </a:prstGeom>
          <a:noFill/>
          <a:ln/>
        </p:spPr>
        <p:txBody>
          <a:bodyPr wrap="square" lIns="0" tIns="0" rIns="0" bIns="0" rtlCol="0" anchor="ctr"/>
          <a:lstStyle/>
          <a:p>
            <a:pPr indent="0" marL="0">
              <a:buNone/>
            </a:pPr>
            <a:r>
              <a:rPr lang="en-US" sz="1400" dirty="0">
                <a:solidFill>
                  <a:srgbClr val="273449"/>
                </a:solidFill>
                <a:latin typeface="Calibri" pitchFamily="34" charset="0"/>
                <a:ea typeface="Calibri" pitchFamily="34" charset="-122"/>
                <a:cs typeface="Calibri" pitchFamily="34" charset="-120"/>
              </a:rPr>
              <a:t>RegMix beat Vanilla in 5/5 seeds at n = 30, 0/5 at n = 300; chronologically Vanilla is best at every size.</a:t>
            </a:r>
            <a:endParaRPr lang="en-US" sz="1400" dirty="0"/>
          </a:p>
        </p:txBody>
      </p:sp>
      <p:sp>
        <p:nvSpPr>
          <p:cNvPr id="21" name="Shape 18"/>
          <p:cNvSpPr/>
          <p:nvPr/>
        </p:nvSpPr>
        <p:spPr>
          <a:xfrm>
            <a:off x="457200" y="3913632"/>
            <a:ext cx="822960" cy="594360"/>
          </a:xfrm>
          <a:prstGeom prst="rect">
            <a:avLst/>
          </a:prstGeom>
          <a:solidFill>
            <a:srgbClr val="142D4E"/>
          </a:solidFill>
          <a:ln w="12700">
            <a:solidFill>
              <a:srgbClr val="142D4E"/>
            </a:solidFill>
            <a:prstDash val="solid"/>
          </a:ln>
        </p:spPr>
      </p:sp>
      <p:sp>
        <p:nvSpPr>
          <p:cNvPr id="22" name="Text 19"/>
          <p:cNvSpPr txBox="1"/>
          <p:nvPr/>
        </p:nvSpPr>
        <p:spPr>
          <a:xfrm>
            <a:off x="457200" y="3913632"/>
            <a:ext cx="822960" cy="594360"/>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RQ5</a:t>
            </a:r>
            <a:endParaRPr lang="en-US" sz="1600" dirty="0"/>
          </a:p>
        </p:txBody>
      </p:sp>
      <p:sp>
        <p:nvSpPr>
          <p:cNvPr id="23" name="Shape 20"/>
          <p:cNvSpPr/>
          <p:nvPr/>
        </p:nvSpPr>
        <p:spPr>
          <a:xfrm>
            <a:off x="1280160" y="3913632"/>
            <a:ext cx="7406640" cy="594360"/>
          </a:xfrm>
          <a:prstGeom prst="rect">
            <a:avLst/>
          </a:prstGeom>
          <a:solidFill>
            <a:srgbClr val="FFFFFF"/>
          </a:solidFill>
          <a:ln w="9525">
            <a:solidFill>
              <a:srgbClr val="DDE3EA"/>
            </a:solidFill>
            <a:prstDash val="solid"/>
          </a:ln>
        </p:spPr>
      </p:sp>
      <p:sp>
        <p:nvSpPr>
          <p:cNvPr id="24" name="Text 21"/>
          <p:cNvSpPr txBox="1"/>
          <p:nvPr/>
        </p:nvSpPr>
        <p:spPr>
          <a:xfrm>
            <a:off x="1417320" y="3913632"/>
            <a:ext cx="7223760" cy="594360"/>
          </a:xfrm>
          <a:prstGeom prst="rect">
            <a:avLst/>
          </a:prstGeom>
          <a:noFill/>
          <a:ln/>
        </p:spPr>
        <p:txBody>
          <a:bodyPr wrap="square" lIns="0" tIns="0" rIns="0" bIns="0" rtlCol="0" anchor="ctr"/>
          <a:lstStyle/>
          <a:p>
            <a:pPr indent="0" marL="0">
              <a:buNone/>
            </a:pPr>
            <a:r>
              <a:rPr lang="en-US" sz="1400" dirty="0">
                <a:solidFill>
                  <a:srgbClr val="273449"/>
                </a:solidFill>
                <a:latin typeface="Calibri" pitchFamily="34" charset="0"/>
                <a:ea typeface="Calibri" pitchFamily="34" charset="-122"/>
                <a:cs typeface="Calibri" pitchFamily="34" charset="-120"/>
              </a:rPr>
              <a:t>RegMix ≈ 8× (n = 300) to 14× Vanilla training time.</a:t>
            </a:r>
            <a:endParaRPr lang="en-US" sz="1400" dirty="0"/>
          </a:p>
        </p:txBody>
      </p:sp>
      <p:sp>
        <p:nvSpPr>
          <p:cNvPr id="25" name="Slide Number Placeholder 0"/>
          <p:cNvSpPr>
            <a:spLocks noGrp="1"/>
          </p:cNvSpPr>
          <p:nvPr>
            <p:ph type="sldNum" sz="quarter" idx="4294967295"/>
          </p:nvPr>
        </p:nvSpPr>
        <p:spPr>
          <a:xfrm>
            <a:off x="8412480" y="4773168"/>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4748B"/>
                </a:solidFill>
                <a:latin typeface="Calibri"/>
                <a:ea typeface="Calibri"/>
                <a:cs typeface="Calibri"/>
              </a:defRPr>
            </a:lvl1pPr>
          </a:lstStyle>
          <a:p>
            <a:pPr algn="l"/>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txBox="1"/>
          <p:nvPr/>
        </p:nvSpPr>
        <p:spPr>
          <a:xfrm>
            <a:off x="457200" y="256032"/>
            <a:ext cx="8229600" cy="594360"/>
          </a:xfrm>
          <a:prstGeom prst="rect">
            <a:avLst/>
          </a:prstGeom>
          <a:noFill/>
          <a:ln/>
        </p:spPr>
        <p:txBody>
          <a:bodyPr wrap="square" lIns="0" tIns="0" rIns="0" bIns="0" rtlCol="0" anchor="ctr"/>
          <a:lstStyle/>
          <a:p>
            <a:pPr indent="0" marL="0">
              <a:buNone/>
            </a:pPr>
            <a:r>
              <a:rPr lang="en-US" sz="2800" b="1" dirty="0">
                <a:solidFill>
                  <a:srgbClr val="142D4E"/>
                </a:solidFill>
                <a:latin typeface="Calibri" pitchFamily="34" charset="0"/>
                <a:ea typeface="Calibri" pitchFamily="34" charset="-122"/>
                <a:cs typeface="Calibri" pitchFamily="34" charset="-120"/>
              </a:rPr>
              <a:t>Comparison with the Original RegMix Study</a:t>
            </a:r>
            <a:endParaRPr lang="en-US" sz="2800" dirty="0"/>
          </a:p>
        </p:txBody>
      </p:sp>
      <p:sp>
        <p:nvSpPr>
          <p:cNvPr id="3" name="Shape 1"/>
          <p:cNvSpPr/>
          <p:nvPr/>
        </p:nvSpPr>
        <p:spPr>
          <a:xfrm>
            <a:off x="457200" y="896112"/>
            <a:ext cx="822960" cy="45720"/>
          </a:xfrm>
          <a:prstGeom prst="rect">
            <a:avLst/>
          </a:prstGeom>
          <a:solidFill>
            <a:srgbClr val="0F766E"/>
          </a:solidFill>
          <a:ln w="12700">
            <a:solidFill>
              <a:srgbClr val="0F766E"/>
            </a:solidFill>
            <a:prstDash val="solid"/>
          </a:ln>
        </p:spPr>
      </p:sp>
      <p:graphicFrame>
        <p:nvGraphicFramePr>
          <p:cNvPr id="13" name="Table 0"/>
          <p:cNvGraphicFramePr>
            <a:graphicFrameLocks noGrp="1"/>
          </p:cNvGraphicFramePr>
          <p:nvPr>
            <p:extLst>
              <p:ext uri="{D42A27DB-BD31-4B8C-83A1-F6EECF244321}">
                <p14:modId xmlns:p14="http://schemas.microsoft.com/office/powerpoint/2010/main" val="1579011935"/>
              </p:ext>
            </p:extLst>
          </p:nvPr>
        </p:nvGraphicFramePr>
        <p:xfrm>
          <a:off x="457200" y="1188720"/>
          <a:ext cx="4206240" cy="914400"/>
        </p:xfrm>
        <a:graphic>
          <a:graphicData uri="http://schemas.openxmlformats.org/drawingml/2006/table">
            <a:tbl>
              <a:tblPr/>
              <a:tblGrid>
                <a:gridCol w="2377440"/>
                <a:gridCol w="1828800"/>
              </a:tblGrid>
              <a:tr h="457200">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Method (as reported in [15])</a:t>
                      </a:r>
                      <a:endParaRPr lang="en-US" sz="1200" dirty="0">
                        <a:latin typeface="Calibri" charset="0"/>
                        <a:ea typeface="Calibri" charset="0"/>
                        <a:cs typeface="Calibri" charset="0"/>
                      </a:endParaRPr>
                    </a:p>
                  </a:txBody>
                  <a:tcPr marL="91440" marR="91440" marT="45720" marB="45720" anchor="ctr">
                    <a:lnL w="9525" cap="flat" cmpd="sng" algn="ctr">
                      <a:solidFill>
                        <a:srgbClr val="DDE3EA"/>
                      </a:solidFill>
                      <a:prstDash val="solid"/>
                      <a:round/>
                      <a:headEnd type="none" w="med" len="med"/>
                      <a:tailEnd type="none" w="med" len="med"/>
                    </a:lnL>
                    <a:lnR w="9525" cap="flat" cmpd="sng" algn="ctr">
                      <a:solidFill>
                        <a:srgbClr val="DDE3EA"/>
                      </a:solidFill>
                      <a:prstDash val="solid"/>
                      <a:round/>
                      <a:headEnd type="none" w="med" len="med"/>
                      <a:tailEnd type="none" w="med" len="med"/>
                    </a:lnR>
                    <a:lnT w="9525" cap="flat" cmpd="sng" algn="ctr">
                      <a:solidFill>
                        <a:srgbClr val="DDE3EA"/>
                      </a:solidFill>
                      <a:prstDash val="solid"/>
                      <a:round/>
                      <a:headEnd type="none" w="med" len="med"/>
                      <a:tailEnd type="none" w="med" len="med"/>
                    </a:lnT>
                    <a:lnB w="9525" cap="flat" cmpd="sng" algn="ctr">
                      <a:solidFill>
                        <a:srgbClr val="DDE3EA"/>
                      </a:solidFill>
                      <a:prstDash val="solid"/>
                      <a:round/>
                      <a:headEnd type="none" w="med" len="med"/>
                      <a:tailEnd type="none" w="med" len="med"/>
                    </a:lnB>
                    <a:solidFill>
                      <a:srgbClr val="142D4E"/>
                    </a:solidFill>
                  </a:tcPr>
                </a:tc>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RMSE (mean ± sd)</a:t>
                      </a:r>
                      <a:endParaRPr lang="en-US" sz="1200" dirty="0">
                        <a:latin typeface="Calibri" charset="0"/>
                        <a:ea typeface="Calibri" charset="0"/>
                        <a:cs typeface="Calibri" charset="0"/>
                      </a:endParaRPr>
                    </a:p>
                  </a:txBody>
                  <a:tcPr marL="91440" marR="91440" marT="45720" marB="45720" anchor="ctr">
                    <a:lnL w="9525" cap="flat" cmpd="sng" algn="ctr">
                      <a:solidFill>
                        <a:srgbClr val="DDE3EA"/>
                      </a:solidFill>
                      <a:prstDash val="solid"/>
                      <a:round/>
                      <a:headEnd type="none" w="med" len="med"/>
                      <a:tailEnd type="none" w="med" len="med"/>
                    </a:lnL>
                    <a:lnR w="9525" cap="flat" cmpd="sng" algn="ctr">
                      <a:solidFill>
                        <a:srgbClr val="DDE3EA"/>
                      </a:solidFill>
                      <a:prstDash val="solid"/>
                      <a:round/>
                      <a:headEnd type="none" w="med" len="med"/>
                      <a:tailEnd type="none" w="med" len="med"/>
                    </a:lnR>
                    <a:lnT w="9525" cap="flat" cmpd="sng" algn="ctr">
                      <a:solidFill>
                        <a:srgbClr val="DDE3EA"/>
                      </a:solidFill>
                      <a:prstDash val="solid"/>
                      <a:round/>
                      <a:headEnd type="none" w="med" len="med"/>
                      <a:tailEnd type="none" w="med" len="med"/>
                    </a:lnT>
                    <a:lnB w="9525" cap="flat" cmpd="sng" algn="ctr">
                      <a:solidFill>
                        <a:srgbClr val="DDE3EA"/>
                      </a:solidFill>
                      <a:prstDash val="solid"/>
                      <a:round/>
                      <a:headEnd type="none" w="med" len="med"/>
                      <a:tailEnd type="none" w="med" len="med"/>
                    </a:lnB>
                    <a:solidFill>
                      <a:srgbClr val="142D4E"/>
                    </a:solidFill>
                  </a:tcPr>
                </a:tc>
              </a:tr>
              <a:tr h="457200">
                <a:tc>
                  <a:txBody>
                    <a:bodyPr/>
                    <a:lstStyle/>
                    <a:p>
                      <a:pPr indent="0" marL="0">
                        <a:buNone/>
                      </a:pPr>
                      <a:r>
                        <a:rPr lang="en-US" sz="1200" dirty="0">
                          <a:solidFill>
                            <a:srgbClr val="273449"/>
                          </a:solidFill>
                          <a:latin typeface="Calibri" pitchFamily="34" charset="0"/>
                          <a:ea typeface="Calibri" pitchFamily="34" charset="-122"/>
                          <a:cs typeface="Calibri" pitchFamily="34" charset="-120"/>
                        </a:rPr>
                        <a:t>Vanilla</a:t>
                      </a:r>
                      <a:endParaRPr lang="en-US" sz="1200" dirty="0">
                        <a:latin typeface="Calibri" charset="0"/>
                        <a:ea typeface="Calibri" charset="0"/>
                        <a:cs typeface="Calibri" charset="0"/>
                      </a:endParaRPr>
                    </a:p>
                  </a:txBody>
                  <a:tcPr marL="91440" marR="91440" marT="45720" marB="45720" anchor="ctr">
                    <a:lnL w="9525" cap="flat" cmpd="sng" algn="ctr">
                      <a:solidFill>
                        <a:srgbClr val="DDE3EA"/>
                      </a:solidFill>
                      <a:prstDash val="solid"/>
                      <a:round/>
                      <a:headEnd type="none" w="med" len="med"/>
                      <a:tailEnd type="none" w="med" len="med"/>
                    </a:lnL>
                    <a:lnR w="9525" cap="flat" cmpd="sng" algn="ctr">
                      <a:solidFill>
                        <a:srgbClr val="DDE3EA"/>
                      </a:solidFill>
                      <a:prstDash val="solid"/>
                      <a:round/>
                      <a:headEnd type="none" w="med" len="med"/>
                      <a:tailEnd type="none" w="med" len="med"/>
                    </a:lnR>
                    <a:lnT w="9525" cap="flat" cmpd="sng" algn="ctr">
                      <a:solidFill>
                        <a:srgbClr val="DDE3EA"/>
                      </a:solidFill>
                      <a:prstDash val="solid"/>
                      <a:round/>
                      <a:headEnd type="none" w="med" len="med"/>
                      <a:tailEnd type="none" w="med" len="med"/>
                    </a:lnT>
                    <a:lnB w="9525" cap="flat" cmpd="sng" algn="ctr">
                      <a:solidFill>
                        <a:srgbClr val="DDE3EA"/>
                      </a:solidFill>
                      <a:prstDash val="solid"/>
                      <a:round/>
                      <a:headEnd type="none" w="med" len="med"/>
                      <a:tailEnd type="none" w="med" len="med"/>
                    </a:lnB>
                    <a:solidFill>
                      <a:srgbClr val="FFFFFF"/>
                    </a:solidFill>
                  </a:tcPr>
                </a:tc>
                <a:tc>
                  <a:txBody>
                    <a:bodyPr/>
                    <a:lstStyle/>
                    <a:p>
                      <a:pPr indent="0" marL="0">
                        <a:buNone/>
                      </a:pPr>
                      <a:r>
                        <a:rPr lang="en-US" sz="1200" dirty="0">
                          <a:solidFill>
                            <a:srgbClr val="273449"/>
                          </a:solidFill>
                          <a:latin typeface="Calibri" pitchFamily="34" charset="0"/>
                          <a:ea typeface="Calibri" pitchFamily="34" charset="-122"/>
                          <a:cs typeface="Calibri" pitchFamily="34" charset="-120"/>
                        </a:rPr>
                        <a:t>393.45 ± 0.90</a:t>
                      </a:r>
                      <a:endParaRPr lang="en-US" sz="1200" dirty="0">
                        <a:latin typeface="Calibri" charset="0"/>
                        <a:ea typeface="Calibri" charset="0"/>
                        <a:cs typeface="Calibri" charset="0"/>
                      </a:endParaRPr>
                    </a:p>
                  </a:txBody>
                  <a:tcPr marL="91440" marR="91440" marT="45720" marB="45720" anchor="ctr">
                    <a:lnL w="9525" cap="flat" cmpd="sng" algn="ctr">
                      <a:solidFill>
                        <a:srgbClr val="DDE3EA"/>
                      </a:solidFill>
                      <a:prstDash val="solid"/>
                      <a:round/>
                      <a:headEnd type="none" w="med" len="med"/>
                      <a:tailEnd type="none" w="med" len="med"/>
                    </a:lnL>
                    <a:lnR w="9525" cap="flat" cmpd="sng" algn="ctr">
                      <a:solidFill>
                        <a:srgbClr val="DDE3EA"/>
                      </a:solidFill>
                      <a:prstDash val="solid"/>
                      <a:round/>
                      <a:headEnd type="none" w="med" len="med"/>
                      <a:tailEnd type="none" w="med" len="med"/>
                    </a:lnR>
                    <a:lnT w="9525" cap="flat" cmpd="sng" algn="ctr">
                      <a:solidFill>
                        <a:srgbClr val="DDE3EA"/>
                      </a:solidFill>
                      <a:prstDash val="solid"/>
                      <a:round/>
                      <a:headEnd type="none" w="med" len="med"/>
                      <a:tailEnd type="none" w="med" len="med"/>
                    </a:lnT>
                    <a:lnB w="9525" cap="flat" cmpd="sng" algn="ctr">
                      <a:solidFill>
                        <a:srgbClr val="DDE3EA"/>
                      </a:solidFill>
                      <a:prstDash val="solid"/>
                      <a:round/>
                      <a:headEnd type="none" w="med" len="med"/>
                      <a:tailEnd type="none" w="med" len="med"/>
                    </a:lnB>
                    <a:solidFill>
                      <a:srgbClr val="FFFFFF"/>
                    </a:solidFill>
                  </a:tcPr>
                </a:tc>
              </a:tr>
              <a:tr h="457200">
                <a:tc>
                  <a:txBody>
                    <a:bodyPr/>
                    <a:lstStyle/>
                    <a:p>
                      <a:pPr indent="0" marL="0">
                        <a:buNone/>
                      </a:pPr>
                      <a:r>
                        <a:rPr lang="en-US" sz="1200" dirty="0">
                          <a:solidFill>
                            <a:srgbClr val="273449"/>
                          </a:solidFill>
                          <a:latin typeface="Calibri" pitchFamily="34" charset="0"/>
                          <a:ea typeface="Calibri" pitchFamily="34" charset="-122"/>
                          <a:cs typeface="Calibri" pitchFamily="34" charset="-120"/>
                        </a:rPr>
                        <a:t>Mixup</a:t>
                      </a:r>
                      <a:endParaRPr lang="en-US" sz="1200" dirty="0">
                        <a:latin typeface="Calibri" charset="0"/>
                        <a:ea typeface="Calibri" charset="0"/>
                        <a:cs typeface="Calibri" charset="0"/>
                      </a:endParaRPr>
                    </a:p>
                  </a:txBody>
                  <a:tcPr marL="91440" marR="91440" marT="45720" marB="45720" anchor="ctr">
                    <a:lnL w="9525" cap="flat" cmpd="sng" algn="ctr">
                      <a:solidFill>
                        <a:srgbClr val="DDE3EA"/>
                      </a:solidFill>
                      <a:prstDash val="solid"/>
                      <a:round/>
                      <a:headEnd type="none" w="med" len="med"/>
                      <a:tailEnd type="none" w="med" len="med"/>
                    </a:lnL>
                    <a:lnR w="9525" cap="flat" cmpd="sng" algn="ctr">
                      <a:solidFill>
                        <a:srgbClr val="DDE3EA"/>
                      </a:solidFill>
                      <a:prstDash val="solid"/>
                      <a:round/>
                      <a:headEnd type="none" w="med" len="med"/>
                      <a:tailEnd type="none" w="med" len="med"/>
                    </a:lnR>
                    <a:lnT w="9525" cap="flat" cmpd="sng" algn="ctr">
                      <a:solidFill>
                        <a:srgbClr val="DDE3EA"/>
                      </a:solidFill>
                      <a:prstDash val="solid"/>
                      <a:round/>
                      <a:headEnd type="none" w="med" len="med"/>
                      <a:tailEnd type="none" w="med" len="med"/>
                    </a:lnT>
                    <a:lnB w="9525" cap="flat" cmpd="sng" algn="ctr">
                      <a:solidFill>
                        <a:srgbClr val="DDE3EA"/>
                      </a:solidFill>
                      <a:prstDash val="solid"/>
                      <a:round/>
                      <a:headEnd type="none" w="med" len="med"/>
                      <a:tailEnd type="none" w="med" len="med"/>
                    </a:lnB>
                    <a:solidFill>
                      <a:srgbClr val="FFFFFF"/>
                    </a:solidFill>
                  </a:tcPr>
                </a:tc>
                <a:tc>
                  <a:txBody>
                    <a:bodyPr/>
                    <a:lstStyle/>
                    <a:p>
                      <a:pPr indent="0" marL="0">
                        <a:buNone/>
                      </a:pPr>
                      <a:r>
                        <a:rPr lang="en-US" sz="1200" dirty="0">
                          <a:solidFill>
                            <a:srgbClr val="273449"/>
                          </a:solidFill>
                          <a:latin typeface="Calibri" pitchFamily="34" charset="0"/>
                          <a:ea typeface="Calibri" pitchFamily="34" charset="-122"/>
                          <a:cs typeface="Calibri" pitchFamily="34" charset="-120"/>
                        </a:rPr>
                        <a:t>393.36 ± 1.84</a:t>
                      </a:r>
                      <a:endParaRPr lang="en-US" sz="1200" dirty="0">
                        <a:latin typeface="Calibri" charset="0"/>
                        <a:ea typeface="Calibri" charset="0"/>
                        <a:cs typeface="Calibri" charset="0"/>
                      </a:endParaRPr>
                    </a:p>
                  </a:txBody>
                  <a:tcPr marL="91440" marR="91440" marT="45720" marB="45720" anchor="ctr">
                    <a:lnL w="9525" cap="flat" cmpd="sng" algn="ctr">
                      <a:solidFill>
                        <a:srgbClr val="DDE3EA"/>
                      </a:solidFill>
                      <a:prstDash val="solid"/>
                      <a:round/>
                      <a:headEnd type="none" w="med" len="med"/>
                      <a:tailEnd type="none" w="med" len="med"/>
                    </a:lnL>
                    <a:lnR w="9525" cap="flat" cmpd="sng" algn="ctr">
                      <a:solidFill>
                        <a:srgbClr val="DDE3EA"/>
                      </a:solidFill>
                      <a:prstDash val="solid"/>
                      <a:round/>
                      <a:headEnd type="none" w="med" len="med"/>
                      <a:tailEnd type="none" w="med" len="med"/>
                    </a:lnR>
                    <a:lnT w="9525" cap="flat" cmpd="sng" algn="ctr">
                      <a:solidFill>
                        <a:srgbClr val="DDE3EA"/>
                      </a:solidFill>
                      <a:prstDash val="solid"/>
                      <a:round/>
                      <a:headEnd type="none" w="med" len="med"/>
                      <a:tailEnd type="none" w="med" len="med"/>
                    </a:lnT>
                    <a:lnB w="9525" cap="flat" cmpd="sng" algn="ctr">
                      <a:solidFill>
                        <a:srgbClr val="DDE3EA"/>
                      </a:solidFill>
                      <a:prstDash val="solid"/>
                      <a:round/>
                      <a:headEnd type="none" w="med" len="med"/>
                      <a:tailEnd type="none" w="med" len="med"/>
                    </a:lnB>
                    <a:solidFill>
                      <a:srgbClr val="FFFFFF"/>
                    </a:solidFill>
                  </a:tcPr>
                </a:tc>
              </a:tr>
              <a:tr h="457200">
                <a:tc>
                  <a:txBody>
                    <a:bodyPr/>
                    <a:lstStyle/>
                    <a:p>
                      <a:pPr indent="0" marL="0">
                        <a:buNone/>
                      </a:pPr>
                      <a:r>
                        <a:rPr lang="en-US" sz="1200" dirty="0">
                          <a:solidFill>
                            <a:srgbClr val="273449"/>
                          </a:solidFill>
                          <a:latin typeface="Calibri" pitchFamily="34" charset="0"/>
                          <a:ea typeface="Calibri" pitchFamily="34" charset="-122"/>
                          <a:cs typeface="Calibri" pitchFamily="34" charset="-120"/>
                        </a:rPr>
                        <a:t>Global kNN (k = 68)</a:t>
                      </a:r>
                      <a:endParaRPr lang="en-US" sz="1200" dirty="0">
                        <a:latin typeface="Calibri" charset="0"/>
                        <a:ea typeface="Calibri" charset="0"/>
                        <a:cs typeface="Calibri" charset="0"/>
                      </a:endParaRPr>
                    </a:p>
                  </a:txBody>
                  <a:tcPr marL="91440" marR="91440" marT="45720" marB="45720" anchor="ctr">
                    <a:lnL w="9525" cap="flat" cmpd="sng" algn="ctr">
                      <a:solidFill>
                        <a:srgbClr val="DDE3EA"/>
                      </a:solidFill>
                      <a:prstDash val="solid"/>
                      <a:round/>
                      <a:headEnd type="none" w="med" len="med"/>
                      <a:tailEnd type="none" w="med" len="med"/>
                    </a:lnL>
                    <a:lnR w="9525" cap="flat" cmpd="sng" algn="ctr">
                      <a:solidFill>
                        <a:srgbClr val="DDE3EA"/>
                      </a:solidFill>
                      <a:prstDash val="solid"/>
                      <a:round/>
                      <a:headEnd type="none" w="med" len="med"/>
                      <a:tailEnd type="none" w="med" len="med"/>
                    </a:lnR>
                    <a:lnT w="9525" cap="flat" cmpd="sng" algn="ctr">
                      <a:solidFill>
                        <a:srgbClr val="DDE3EA"/>
                      </a:solidFill>
                      <a:prstDash val="solid"/>
                      <a:round/>
                      <a:headEnd type="none" w="med" len="med"/>
                      <a:tailEnd type="none" w="med" len="med"/>
                    </a:lnT>
                    <a:lnB w="9525" cap="flat" cmpd="sng" algn="ctr">
                      <a:solidFill>
                        <a:srgbClr val="DDE3EA"/>
                      </a:solidFill>
                      <a:prstDash val="solid"/>
                      <a:round/>
                      <a:headEnd type="none" w="med" len="med"/>
                      <a:tailEnd type="none" w="med" len="med"/>
                    </a:lnB>
                    <a:solidFill>
                      <a:srgbClr val="FFFFFF"/>
                    </a:solidFill>
                  </a:tcPr>
                </a:tc>
                <a:tc>
                  <a:txBody>
                    <a:bodyPr/>
                    <a:lstStyle/>
                    <a:p>
                      <a:pPr indent="0" marL="0">
                        <a:buNone/>
                      </a:pPr>
                      <a:r>
                        <a:rPr lang="en-US" sz="1200" dirty="0">
                          <a:solidFill>
                            <a:srgbClr val="273449"/>
                          </a:solidFill>
                          <a:latin typeface="Calibri" pitchFamily="34" charset="0"/>
                          <a:ea typeface="Calibri" pitchFamily="34" charset="-122"/>
                          <a:cs typeface="Calibri" pitchFamily="34" charset="-120"/>
                        </a:rPr>
                        <a:t>388.81 ± 1.41</a:t>
                      </a:r>
                      <a:endParaRPr lang="en-US" sz="1200" dirty="0">
                        <a:latin typeface="Calibri" charset="0"/>
                        <a:ea typeface="Calibri" charset="0"/>
                        <a:cs typeface="Calibri" charset="0"/>
                      </a:endParaRPr>
                    </a:p>
                  </a:txBody>
                  <a:tcPr marL="91440" marR="91440" marT="45720" marB="45720" anchor="ctr">
                    <a:lnL w="9525" cap="flat" cmpd="sng" algn="ctr">
                      <a:solidFill>
                        <a:srgbClr val="DDE3EA"/>
                      </a:solidFill>
                      <a:prstDash val="solid"/>
                      <a:round/>
                      <a:headEnd type="none" w="med" len="med"/>
                      <a:tailEnd type="none" w="med" len="med"/>
                    </a:lnL>
                    <a:lnR w="9525" cap="flat" cmpd="sng" algn="ctr">
                      <a:solidFill>
                        <a:srgbClr val="DDE3EA"/>
                      </a:solidFill>
                      <a:prstDash val="solid"/>
                      <a:round/>
                      <a:headEnd type="none" w="med" len="med"/>
                      <a:tailEnd type="none" w="med" len="med"/>
                    </a:lnR>
                    <a:lnT w="9525" cap="flat" cmpd="sng" algn="ctr">
                      <a:solidFill>
                        <a:srgbClr val="DDE3EA"/>
                      </a:solidFill>
                      <a:prstDash val="solid"/>
                      <a:round/>
                      <a:headEnd type="none" w="med" len="med"/>
                      <a:tailEnd type="none" w="med" len="med"/>
                    </a:lnT>
                    <a:lnB w="9525" cap="flat" cmpd="sng" algn="ctr">
                      <a:solidFill>
                        <a:srgbClr val="DDE3EA"/>
                      </a:solidFill>
                      <a:prstDash val="solid"/>
                      <a:round/>
                      <a:headEnd type="none" w="med" len="med"/>
                      <a:tailEnd type="none" w="med" len="med"/>
                    </a:lnB>
                    <a:solidFill>
                      <a:srgbClr val="FFFFFF"/>
                    </a:solidFill>
                  </a:tcPr>
                </a:tc>
              </a:tr>
              <a:tr h="457200">
                <a:tc>
                  <a:txBody>
                    <a:bodyPr/>
                    <a:lstStyle/>
                    <a:p>
                      <a:pPr indent="0" marL="0">
                        <a:buNone/>
                      </a:pPr>
                      <a:r>
                        <a:rPr lang="en-US" sz="1200" b="1" dirty="0">
                          <a:solidFill>
                            <a:srgbClr val="0F766E"/>
                          </a:solidFill>
                          <a:latin typeface="Calibri" pitchFamily="34" charset="0"/>
                          <a:ea typeface="Calibri" pitchFamily="34" charset="-122"/>
                          <a:cs typeface="Calibri" pitchFamily="34" charset="-120"/>
                        </a:rPr>
                        <a:t>RegMix</a:t>
                      </a:r>
                      <a:endParaRPr lang="en-US" sz="1200" dirty="0">
                        <a:latin typeface="Calibri" charset="0"/>
                        <a:ea typeface="Calibri" charset="0"/>
                        <a:cs typeface="Calibri" charset="0"/>
                      </a:endParaRPr>
                    </a:p>
                  </a:txBody>
                  <a:tcPr marL="91440" marR="91440" marT="45720" marB="45720" anchor="ctr">
                    <a:lnL w="9525" cap="flat" cmpd="sng" algn="ctr">
                      <a:solidFill>
                        <a:srgbClr val="DDE3EA"/>
                      </a:solidFill>
                      <a:prstDash val="solid"/>
                      <a:round/>
                      <a:headEnd type="none" w="med" len="med"/>
                      <a:tailEnd type="none" w="med" len="med"/>
                    </a:lnL>
                    <a:lnR w="9525" cap="flat" cmpd="sng" algn="ctr">
                      <a:solidFill>
                        <a:srgbClr val="DDE3EA"/>
                      </a:solidFill>
                      <a:prstDash val="solid"/>
                      <a:round/>
                      <a:headEnd type="none" w="med" len="med"/>
                      <a:tailEnd type="none" w="med" len="med"/>
                    </a:lnR>
                    <a:lnT w="9525" cap="flat" cmpd="sng" algn="ctr">
                      <a:solidFill>
                        <a:srgbClr val="DDE3EA"/>
                      </a:solidFill>
                      <a:prstDash val="solid"/>
                      <a:round/>
                      <a:headEnd type="none" w="med" len="med"/>
                      <a:tailEnd type="none" w="med" len="med"/>
                    </a:lnT>
                    <a:lnB w="9525" cap="flat" cmpd="sng" algn="ctr">
                      <a:solidFill>
                        <a:srgbClr val="DDE3EA"/>
                      </a:solidFill>
                      <a:prstDash val="solid"/>
                      <a:round/>
                      <a:headEnd type="none" w="med" len="med"/>
                      <a:tailEnd type="none" w="med" len="med"/>
                    </a:lnB>
                    <a:solidFill>
                      <a:srgbClr val="FFFFFF"/>
                    </a:solidFill>
                  </a:tcPr>
                </a:tc>
                <a:tc>
                  <a:txBody>
                    <a:bodyPr/>
                    <a:lstStyle/>
                    <a:p>
                      <a:pPr indent="0" marL="0">
                        <a:buNone/>
                      </a:pPr>
                      <a:r>
                        <a:rPr lang="en-US" sz="1200" b="1" dirty="0">
                          <a:solidFill>
                            <a:srgbClr val="0F766E"/>
                          </a:solidFill>
                          <a:latin typeface="Calibri" pitchFamily="34" charset="0"/>
                          <a:ea typeface="Calibri" pitchFamily="34" charset="-122"/>
                          <a:cs typeface="Calibri" pitchFamily="34" charset="-120"/>
                        </a:rPr>
                        <a:t>368.86 ± 3.07</a:t>
                      </a:r>
                      <a:endParaRPr lang="en-US" sz="1200" dirty="0">
                        <a:latin typeface="Calibri" charset="0"/>
                        <a:ea typeface="Calibri" charset="0"/>
                        <a:cs typeface="Calibri" charset="0"/>
                      </a:endParaRPr>
                    </a:p>
                  </a:txBody>
                  <a:tcPr marL="91440" marR="91440" marT="45720" marB="45720" anchor="ctr">
                    <a:lnL w="9525" cap="flat" cmpd="sng" algn="ctr">
                      <a:solidFill>
                        <a:srgbClr val="DDE3EA"/>
                      </a:solidFill>
                      <a:prstDash val="solid"/>
                      <a:round/>
                      <a:headEnd type="none" w="med" len="med"/>
                      <a:tailEnd type="none" w="med" len="med"/>
                    </a:lnL>
                    <a:lnR w="9525" cap="flat" cmpd="sng" algn="ctr">
                      <a:solidFill>
                        <a:srgbClr val="DDE3EA"/>
                      </a:solidFill>
                      <a:prstDash val="solid"/>
                      <a:round/>
                      <a:headEnd type="none" w="med" len="med"/>
                      <a:tailEnd type="none" w="med" len="med"/>
                    </a:lnR>
                    <a:lnT w="9525" cap="flat" cmpd="sng" algn="ctr">
                      <a:solidFill>
                        <a:srgbClr val="DDE3EA"/>
                      </a:solidFill>
                      <a:prstDash val="solid"/>
                      <a:round/>
                      <a:headEnd type="none" w="med" len="med"/>
                      <a:tailEnd type="none" w="med" len="med"/>
                    </a:lnT>
                    <a:lnB w="9525" cap="flat" cmpd="sng" algn="ctr">
                      <a:solidFill>
                        <a:srgbClr val="DDE3EA"/>
                      </a:solidFill>
                      <a:prstDash val="solid"/>
                      <a:round/>
                      <a:headEnd type="none" w="med" len="med"/>
                      <a:tailEnd type="none" w="med" len="med"/>
                    </a:lnB>
                    <a:solidFill>
                      <a:srgbClr val="FFFFFF"/>
                    </a:solidFill>
                  </a:tcPr>
                </a:tc>
              </a:tr>
            </a:tbl>
          </a:graphicData>
        </a:graphic>
      </p:graphicFrame>
      <p:sp>
        <p:nvSpPr>
          <p:cNvPr id="6" name="Text 2"/>
          <p:cNvSpPr txBox="1"/>
          <p:nvPr/>
        </p:nvSpPr>
        <p:spPr>
          <a:xfrm>
            <a:off x="457200" y="3566160"/>
            <a:ext cx="4206240" cy="457200"/>
          </a:xfrm>
          <a:prstGeom prst="rect">
            <a:avLst/>
          </a:prstGeom>
          <a:noFill/>
          <a:ln/>
        </p:spPr>
        <p:txBody>
          <a:bodyPr wrap="square" lIns="0" tIns="0" rIns="0" bIns="0" rtlCol="0" anchor="ctr"/>
          <a:lstStyle/>
          <a:p>
            <a:pPr indent="0" marL="0">
              <a:buNone/>
            </a:pPr>
            <a:r>
              <a:rPr lang="en-US" sz="1200" i="1" dirty="0">
                <a:solidFill>
                  <a:srgbClr val="64748B"/>
                </a:solidFill>
                <a:latin typeface="Calibri" pitchFamily="34" charset="0"/>
                <a:ea typeface="Calibri" pitchFamily="34" charset="-122"/>
                <a:cs typeface="Calibri" pitchFamily="34" charset="-120"/>
              </a:rPr>
              <a:t>Published by the RegMix authors; not obtained in this study.</a:t>
            </a:r>
            <a:endParaRPr lang="en-US" sz="1200" dirty="0"/>
          </a:p>
        </p:txBody>
      </p:sp>
      <p:sp>
        <p:nvSpPr>
          <p:cNvPr id="7" name="Shape 3"/>
          <p:cNvSpPr/>
          <p:nvPr/>
        </p:nvSpPr>
        <p:spPr>
          <a:xfrm>
            <a:off x="4937760" y="1188720"/>
            <a:ext cx="3749040" cy="1554480"/>
          </a:xfrm>
          <a:prstGeom prst="rect">
            <a:avLst/>
          </a:prstGeom>
          <a:solidFill>
            <a:srgbClr val="FFFFFF"/>
          </a:solidFill>
          <a:ln w="9525">
            <a:solidFill>
              <a:srgbClr val="DDE3EA"/>
            </a:solidFill>
            <a:prstDash val="solid"/>
          </a:ln>
        </p:spPr>
      </p:sp>
      <p:sp>
        <p:nvSpPr>
          <p:cNvPr id="8" name="Shape 4"/>
          <p:cNvSpPr/>
          <p:nvPr/>
        </p:nvSpPr>
        <p:spPr>
          <a:xfrm>
            <a:off x="4937760" y="1188720"/>
            <a:ext cx="64008" cy="1554480"/>
          </a:xfrm>
          <a:prstGeom prst="rect">
            <a:avLst/>
          </a:prstGeom>
          <a:solidFill>
            <a:srgbClr val="D97706"/>
          </a:solidFill>
          <a:ln w="12700">
            <a:solidFill>
              <a:srgbClr val="D97706"/>
            </a:solidFill>
            <a:prstDash val="solid"/>
          </a:ln>
        </p:spPr>
      </p:sp>
      <p:sp>
        <p:nvSpPr>
          <p:cNvPr id="9" name="Text 5"/>
          <p:cNvSpPr txBox="1"/>
          <p:nvPr/>
        </p:nvSpPr>
        <p:spPr>
          <a:xfrm>
            <a:off x="5120640" y="1261872"/>
            <a:ext cx="3474720" cy="347472"/>
          </a:xfrm>
          <a:prstGeom prst="rect">
            <a:avLst/>
          </a:prstGeom>
          <a:noFill/>
          <a:ln/>
        </p:spPr>
        <p:txBody>
          <a:bodyPr wrap="square" lIns="0" tIns="0" rIns="0" bIns="0" rtlCol="0" anchor="ctr"/>
          <a:lstStyle/>
          <a:p>
            <a:pPr indent="0" marL="0">
              <a:buNone/>
            </a:pPr>
            <a:r>
              <a:rPr lang="en-US" sz="1500" b="1" dirty="0">
                <a:solidFill>
                  <a:srgbClr val="142D4E"/>
                </a:solidFill>
                <a:latin typeface="Calibri" pitchFamily="34" charset="0"/>
                <a:ea typeface="Calibri" pitchFamily="34" charset="-122"/>
                <a:cs typeface="Calibri" pitchFamily="34" charset="-120"/>
              </a:rPr>
              <a:t>Not comparable</a:t>
            </a:r>
            <a:endParaRPr lang="en-US" sz="1500" dirty="0"/>
          </a:p>
        </p:txBody>
      </p:sp>
      <p:sp>
        <p:nvSpPr>
          <p:cNvPr id="10" name="Text 6"/>
          <p:cNvSpPr txBox="1"/>
          <p:nvPr/>
        </p:nvSpPr>
        <p:spPr>
          <a:xfrm>
            <a:off x="5120640" y="1627632"/>
            <a:ext cx="3474720" cy="1042416"/>
          </a:xfrm>
          <a:prstGeom prst="rect">
            <a:avLst/>
          </a:prstGeom>
          <a:noFill/>
          <a:ln/>
        </p:spPr>
        <p:txBody>
          <a:bodyPr wrap="square" lIns="0" tIns="0" rIns="0" bIns="0" rtlCol="0" anchor="t"/>
          <a:lstStyle/>
          <a:p>
            <a:pPr indent="0" marL="0">
              <a:buNone/>
            </a:pPr>
            <a:r>
              <a:rPr lang="en-US" sz="1300" dirty="0">
                <a:solidFill>
                  <a:srgbClr val="273449"/>
                </a:solidFill>
                <a:latin typeface="Calibri" pitchFamily="34" charset="0"/>
                <a:ea typeface="Calibri" pitchFamily="34" charset="-122"/>
                <a:cs typeface="Calibri" pitchFamily="34" charset="-120"/>
              </a:rPr>
              <a:t>Their RMSE 369–393 exceeds our target std of 181.4 bikes/h.</a:t>
            </a:r>
            <a:endParaRPr lang="en-US" sz="1300" dirty="0"/>
          </a:p>
        </p:txBody>
      </p:sp>
      <p:sp>
        <p:nvSpPr>
          <p:cNvPr id="11" name="Shape 7"/>
          <p:cNvSpPr/>
          <p:nvPr/>
        </p:nvSpPr>
        <p:spPr>
          <a:xfrm>
            <a:off x="4937760" y="2926080"/>
            <a:ext cx="3749040" cy="1600200"/>
          </a:xfrm>
          <a:prstGeom prst="rect">
            <a:avLst/>
          </a:prstGeom>
          <a:solidFill>
            <a:srgbClr val="FFFFFF"/>
          </a:solidFill>
          <a:ln w="9525">
            <a:solidFill>
              <a:srgbClr val="DDE3EA"/>
            </a:solidFill>
            <a:prstDash val="solid"/>
          </a:ln>
        </p:spPr>
      </p:sp>
      <p:sp>
        <p:nvSpPr>
          <p:cNvPr id="12" name="Shape 8"/>
          <p:cNvSpPr/>
          <p:nvPr/>
        </p:nvSpPr>
        <p:spPr>
          <a:xfrm>
            <a:off x="4937760" y="2926080"/>
            <a:ext cx="64008" cy="1600200"/>
          </a:xfrm>
          <a:prstGeom prst="rect">
            <a:avLst/>
          </a:prstGeom>
          <a:solidFill>
            <a:srgbClr val="0F766E"/>
          </a:solidFill>
          <a:ln w="12700">
            <a:solidFill>
              <a:srgbClr val="0F766E"/>
            </a:solidFill>
            <a:prstDash val="solid"/>
          </a:ln>
        </p:spPr>
      </p:sp>
      <p:sp>
        <p:nvSpPr>
          <p:cNvPr id="13" name="Text 9"/>
          <p:cNvSpPr txBox="1"/>
          <p:nvPr/>
        </p:nvSpPr>
        <p:spPr>
          <a:xfrm>
            <a:off x="5120640" y="2999232"/>
            <a:ext cx="3474720" cy="347472"/>
          </a:xfrm>
          <a:prstGeom prst="rect">
            <a:avLst/>
          </a:prstGeom>
          <a:noFill/>
          <a:ln/>
        </p:spPr>
        <p:txBody>
          <a:bodyPr wrap="square" lIns="0" tIns="0" rIns="0" bIns="0" rtlCol="0" anchor="ctr"/>
          <a:lstStyle/>
          <a:p>
            <a:pPr indent="0" marL="0">
              <a:buNone/>
            </a:pPr>
            <a:r>
              <a:rPr lang="en-US" sz="1400" b="1" dirty="0">
                <a:solidFill>
                  <a:srgbClr val="142D4E"/>
                </a:solidFill>
                <a:latin typeface="Calibri" pitchFamily="34" charset="0"/>
                <a:ea typeface="Calibri" pitchFamily="34" charset="-122"/>
                <a:cs typeface="Calibri" pitchFamily="34" charset="-120"/>
              </a:rPr>
              <a:t>Known differences</a:t>
            </a:r>
            <a:endParaRPr lang="en-US" sz="1400" dirty="0"/>
          </a:p>
        </p:txBody>
      </p:sp>
      <p:sp>
        <p:nvSpPr>
          <p:cNvPr id="14" name="Text 10"/>
          <p:cNvSpPr txBox="1"/>
          <p:nvPr/>
        </p:nvSpPr>
        <p:spPr>
          <a:xfrm>
            <a:off x="5120640" y="3364992"/>
            <a:ext cx="3474720" cy="1088136"/>
          </a:xfrm>
          <a:prstGeom prst="rect">
            <a:avLst/>
          </a:prstGeom>
          <a:noFill/>
          <a:ln/>
        </p:spPr>
        <p:txBody>
          <a:bodyPr wrap="square" lIns="0" tIns="0" rIns="0" bIns="0" rtlCol="0" anchor="t"/>
          <a:lstStyle/>
          <a:p>
            <a:pPr indent="0" marL="0">
              <a:buNone/>
            </a:pPr>
            <a:r>
              <a:rPr lang="en-US" sz="1200" dirty="0">
                <a:solidFill>
                  <a:srgbClr val="273449"/>
                </a:solidFill>
                <a:latin typeface="Calibri" pitchFamily="34" charset="0"/>
                <a:ea typeface="Calibri" pitchFamily="34" charset="-122"/>
                <a:cs typeface="Calibri" pitchFamily="34" charset="-120"/>
              </a:rPr>
              <a:t>Random subset vs chronological test; our 40-iteration search vs reward curves to ~300 episodes; test set and encoding not fully specified in [15].</a:t>
            </a:r>
            <a:endParaRPr lang="en-US" sz="1200" dirty="0"/>
          </a:p>
        </p:txBody>
      </p:sp>
      <p:sp>
        <p:nvSpPr>
          <p:cNvPr id="25" name="Slide Number Placeholder 0"/>
          <p:cNvSpPr>
            <a:spLocks noGrp="1"/>
          </p:cNvSpPr>
          <p:nvPr>
            <p:ph type="sldNum" sz="quarter" idx="4294967295"/>
          </p:nvPr>
        </p:nvSpPr>
        <p:spPr>
          <a:xfrm>
            <a:off x="8412480" y="4773168"/>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4748B"/>
                </a:solidFill>
                <a:latin typeface="Calibri"/>
                <a:ea typeface="Calibri"/>
                <a:cs typeface="Calibri"/>
              </a:defRPr>
            </a:lvl1pPr>
          </a:lstStyle>
          <a:p>
            <a:pPr algn="l"/>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txBox="1"/>
          <p:nvPr/>
        </p:nvSpPr>
        <p:spPr>
          <a:xfrm>
            <a:off x="457200" y="256032"/>
            <a:ext cx="8229600" cy="594360"/>
          </a:xfrm>
          <a:prstGeom prst="rect">
            <a:avLst/>
          </a:prstGeom>
          <a:noFill/>
          <a:ln/>
        </p:spPr>
        <p:txBody>
          <a:bodyPr wrap="square" lIns="0" tIns="0" rIns="0" bIns="0" rtlCol="0" anchor="ctr"/>
          <a:lstStyle/>
          <a:p>
            <a:pPr indent="0" marL="0">
              <a:buNone/>
            </a:pPr>
            <a:r>
              <a:rPr lang="en-US" sz="2800" b="1" dirty="0">
                <a:solidFill>
                  <a:srgbClr val="142D4E"/>
                </a:solidFill>
                <a:latin typeface="Calibri" pitchFamily="34" charset="0"/>
                <a:ea typeface="Calibri" pitchFamily="34" charset="-122"/>
                <a:cs typeface="Calibri" pitchFamily="34" charset="-120"/>
              </a:rPr>
              <a:t>Limitations and Future Scope</a:t>
            </a:r>
            <a:endParaRPr lang="en-US" sz="2800" dirty="0"/>
          </a:p>
        </p:txBody>
      </p:sp>
      <p:sp>
        <p:nvSpPr>
          <p:cNvPr id="3" name="Shape 1"/>
          <p:cNvSpPr/>
          <p:nvPr/>
        </p:nvSpPr>
        <p:spPr>
          <a:xfrm>
            <a:off x="457200" y="896112"/>
            <a:ext cx="822960" cy="45720"/>
          </a:xfrm>
          <a:prstGeom prst="rect">
            <a:avLst/>
          </a:prstGeom>
          <a:solidFill>
            <a:srgbClr val="0F766E"/>
          </a:solidFill>
          <a:ln w="12700">
            <a:solidFill>
              <a:srgbClr val="0F766E"/>
            </a:solidFill>
            <a:prstDash val="solid"/>
          </a:ln>
        </p:spPr>
      </p:sp>
      <p:sp>
        <p:nvSpPr>
          <p:cNvPr id="5" name="Shape 2"/>
          <p:cNvSpPr/>
          <p:nvPr/>
        </p:nvSpPr>
        <p:spPr>
          <a:xfrm>
            <a:off x="457200" y="1143000"/>
            <a:ext cx="3977640" cy="3383280"/>
          </a:xfrm>
          <a:prstGeom prst="rect">
            <a:avLst/>
          </a:prstGeom>
          <a:solidFill>
            <a:srgbClr val="FFFFFF"/>
          </a:solidFill>
          <a:ln w="9525">
            <a:solidFill>
              <a:srgbClr val="DDE3EA"/>
            </a:solidFill>
            <a:prstDash val="solid"/>
          </a:ln>
        </p:spPr>
      </p:sp>
      <p:sp>
        <p:nvSpPr>
          <p:cNvPr id="6" name="Shape 3"/>
          <p:cNvSpPr/>
          <p:nvPr/>
        </p:nvSpPr>
        <p:spPr>
          <a:xfrm>
            <a:off x="457200" y="1143000"/>
            <a:ext cx="64008" cy="3383280"/>
          </a:xfrm>
          <a:prstGeom prst="rect">
            <a:avLst/>
          </a:prstGeom>
          <a:solidFill>
            <a:srgbClr val="D97706"/>
          </a:solidFill>
          <a:ln w="12700">
            <a:solidFill>
              <a:srgbClr val="D97706"/>
            </a:solidFill>
            <a:prstDash val="solid"/>
          </a:ln>
        </p:spPr>
      </p:sp>
      <p:sp>
        <p:nvSpPr>
          <p:cNvPr id="7" name="Text 4"/>
          <p:cNvSpPr txBox="1"/>
          <p:nvPr/>
        </p:nvSpPr>
        <p:spPr>
          <a:xfrm>
            <a:off x="640080" y="1216152"/>
            <a:ext cx="3703320" cy="347472"/>
          </a:xfrm>
          <a:prstGeom prst="rect">
            <a:avLst/>
          </a:prstGeom>
          <a:noFill/>
          <a:ln/>
        </p:spPr>
        <p:txBody>
          <a:bodyPr wrap="square" lIns="0" tIns="0" rIns="0" bIns="0" rtlCol="0" anchor="ctr"/>
          <a:lstStyle/>
          <a:p>
            <a:pPr indent="0" marL="0">
              <a:buNone/>
            </a:pPr>
            <a:r>
              <a:rPr lang="en-US" sz="1500" b="1" dirty="0">
                <a:solidFill>
                  <a:srgbClr val="142D4E"/>
                </a:solidFill>
                <a:latin typeface="Calibri" pitchFamily="34" charset="0"/>
                <a:ea typeface="Calibri" pitchFamily="34" charset="-122"/>
                <a:cs typeface="Calibri" pitchFamily="34" charset="-120"/>
              </a:rPr>
              <a:t>Limitations</a:t>
            </a:r>
            <a:endParaRPr lang="en-US" sz="1500" dirty="0"/>
          </a:p>
        </p:txBody>
      </p:sp>
      <p:sp>
        <p:nvSpPr>
          <p:cNvPr id="8" name="Text 5"/>
          <p:cNvSpPr txBox="1"/>
          <p:nvPr/>
        </p:nvSpPr>
        <p:spPr>
          <a:xfrm>
            <a:off x="640080" y="1581912"/>
            <a:ext cx="3703320" cy="2871216"/>
          </a:xfrm>
          <a:prstGeom prst="rect">
            <a:avLst/>
          </a:prstGeom>
          <a:noFill/>
          <a:ln/>
        </p:spPr>
        <p:txBody>
          <a:bodyPr wrap="square" lIns="0" tIns="0" rIns="0" bIns="0" rtlCol="0" anchor="t"/>
          <a:lstStyle/>
          <a:p>
            <a:pPr indent="0" marL="0">
              <a:buNone/>
            </a:pPr>
            <a:r>
              <a:rPr lang="en-US" sz="1300" dirty="0">
                <a:solidFill>
                  <a:srgbClr val="273449"/>
                </a:solidFill>
                <a:latin typeface="Calibri" pitchFamily="34" charset="0"/>
                <a:ea typeface="Calibri" pitchFamily="34" charset="-122"/>
                <a:cs typeface="Calibri" pitchFamily="34" charset="-120"/>
              </a:rPr>
              <a:t>• Single system, two years</a:t>
            </a:r>
            <a:endParaRPr lang="en-US" sz="1300" dirty="0"/>
          </a:p>
          <a:p>
            <a:pPr indent="0" marL="0">
              <a:buNone/>
            </a:pPr>
            <a:r>
              <a:rPr lang="en-US" sz="1300" dirty="0">
                <a:solidFill>
                  <a:srgbClr val="273449"/>
                </a:solidFill>
                <a:latin typeface="Calibri" pitchFamily="34" charset="0"/>
                <a:ea typeface="Calibri" pitchFamily="34" charset="-122"/>
                <a:cs typeface="Calibri" pitchFamily="34" charset="-120"/>
              </a:rPr>
              <a:t>• Five seeds: Wilcoxon cannot go below p = 0.0625</a:t>
            </a:r>
            <a:endParaRPr lang="en-US" sz="1300" dirty="0"/>
          </a:p>
          <a:p>
            <a:pPr indent="0" marL="0">
              <a:buNone/>
            </a:pPr>
            <a:r>
              <a:rPr lang="en-US" sz="1300" dirty="0">
                <a:solidFill>
                  <a:srgbClr val="273449"/>
                </a:solidFill>
                <a:latin typeface="Calibri" pitchFamily="34" charset="0"/>
                <a:ea typeface="Calibri" pitchFamily="34" charset="-122"/>
                <a:cs typeface="Calibri" pitchFamily="34" charset="-120"/>
              </a:rPr>
              <a:t>• Reduced RegMix budget; near-uniform policy</a:t>
            </a:r>
            <a:endParaRPr lang="en-US" sz="1300" dirty="0"/>
          </a:p>
          <a:p>
            <a:pPr indent="0" marL="0">
              <a:buNone/>
            </a:pPr>
            <a:r>
              <a:rPr lang="en-US" sz="1300" dirty="0">
                <a:solidFill>
                  <a:srgbClr val="273449"/>
                </a:solidFill>
                <a:latin typeface="Calibri" pitchFamily="34" charset="0"/>
                <a:ea typeface="Calibri" pitchFamily="34" charset="-122"/>
                <a:cs typeface="Calibri" pitchFamily="34" charset="-120"/>
              </a:rPr>
              <a:t>• Results depend on the network and tuned settings</a:t>
            </a:r>
            <a:endParaRPr lang="en-US" sz="1300" dirty="0"/>
          </a:p>
          <a:p>
            <a:pPr indent="0" marL="0">
              <a:buNone/>
            </a:pPr>
            <a:r>
              <a:rPr lang="en-US" sz="1300" dirty="0">
                <a:solidFill>
                  <a:srgbClr val="273449"/>
                </a:solidFill>
                <a:latin typeface="Calibri" pitchFamily="34" charset="0"/>
                <a:ea typeface="Calibri" pitchFamily="34" charset="-122"/>
                <a:cs typeface="Calibri" pitchFamily="34" charset="-120"/>
              </a:rPr>
              <a:t>• Timing from one GPU, affected by early stopping</a:t>
            </a:r>
            <a:endParaRPr lang="en-US" sz="1300" dirty="0"/>
          </a:p>
        </p:txBody>
      </p:sp>
      <p:sp>
        <p:nvSpPr>
          <p:cNvPr id="9" name="Shape 6"/>
          <p:cNvSpPr/>
          <p:nvPr/>
        </p:nvSpPr>
        <p:spPr>
          <a:xfrm>
            <a:off x="4709160" y="1143000"/>
            <a:ext cx="3977640" cy="3383280"/>
          </a:xfrm>
          <a:prstGeom prst="rect">
            <a:avLst/>
          </a:prstGeom>
          <a:solidFill>
            <a:srgbClr val="FFFFFF"/>
          </a:solidFill>
          <a:ln w="9525">
            <a:solidFill>
              <a:srgbClr val="DDE3EA"/>
            </a:solidFill>
            <a:prstDash val="solid"/>
          </a:ln>
        </p:spPr>
      </p:sp>
      <p:sp>
        <p:nvSpPr>
          <p:cNvPr id="10" name="Shape 7"/>
          <p:cNvSpPr/>
          <p:nvPr/>
        </p:nvSpPr>
        <p:spPr>
          <a:xfrm>
            <a:off x="4709160" y="1143000"/>
            <a:ext cx="64008" cy="3383280"/>
          </a:xfrm>
          <a:prstGeom prst="rect">
            <a:avLst/>
          </a:prstGeom>
          <a:solidFill>
            <a:srgbClr val="0F766E"/>
          </a:solidFill>
          <a:ln w="12700">
            <a:solidFill>
              <a:srgbClr val="0F766E"/>
            </a:solidFill>
            <a:prstDash val="solid"/>
          </a:ln>
        </p:spPr>
      </p:sp>
      <p:sp>
        <p:nvSpPr>
          <p:cNvPr id="11" name="Text 8"/>
          <p:cNvSpPr txBox="1"/>
          <p:nvPr/>
        </p:nvSpPr>
        <p:spPr>
          <a:xfrm>
            <a:off x="4892040" y="1216152"/>
            <a:ext cx="3703320" cy="347472"/>
          </a:xfrm>
          <a:prstGeom prst="rect">
            <a:avLst/>
          </a:prstGeom>
          <a:noFill/>
          <a:ln/>
        </p:spPr>
        <p:txBody>
          <a:bodyPr wrap="square" lIns="0" tIns="0" rIns="0" bIns="0" rtlCol="0" anchor="ctr"/>
          <a:lstStyle/>
          <a:p>
            <a:pPr indent="0" marL="0">
              <a:buNone/>
            </a:pPr>
            <a:r>
              <a:rPr lang="en-US" sz="1500" b="1" dirty="0">
                <a:solidFill>
                  <a:srgbClr val="142D4E"/>
                </a:solidFill>
                <a:latin typeface="Calibri" pitchFamily="34" charset="0"/>
                <a:ea typeface="Calibri" pitchFamily="34" charset="-122"/>
                <a:cs typeface="Calibri" pitchFamily="34" charset="-120"/>
              </a:rPr>
              <a:t>Future scope</a:t>
            </a:r>
            <a:endParaRPr lang="en-US" sz="1500" dirty="0"/>
          </a:p>
        </p:txBody>
      </p:sp>
      <p:sp>
        <p:nvSpPr>
          <p:cNvPr id="12" name="Text 9"/>
          <p:cNvSpPr txBox="1"/>
          <p:nvPr/>
        </p:nvSpPr>
        <p:spPr>
          <a:xfrm>
            <a:off x="4892040" y="1581912"/>
            <a:ext cx="3703320" cy="2871216"/>
          </a:xfrm>
          <a:prstGeom prst="rect">
            <a:avLst/>
          </a:prstGeom>
          <a:noFill/>
          <a:ln/>
        </p:spPr>
        <p:txBody>
          <a:bodyPr wrap="square" lIns="0" tIns="0" rIns="0" bIns="0" rtlCol="0" anchor="t"/>
          <a:lstStyle/>
          <a:p>
            <a:pPr indent="0" marL="0">
              <a:buNone/>
            </a:pPr>
            <a:r>
              <a:rPr lang="en-US" sz="1300" dirty="0">
                <a:solidFill>
                  <a:srgbClr val="273449"/>
                </a:solidFill>
                <a:latin typeface="Calibri" pitchFamily="34" charset="0"/>
                <a:ea typeface="Calibri" pitchFamily="34" charset="-122"/>
                <a:cs typeface="Calibri" pitchFamily="34" charset="-120"/>
              </a:rPr>
              <a:t>• Longer search (original curves ≈ 300 episodes)</a:t>
            </a:r>
            <a:endParaRPr lang="en-US" sz="1300" dirty="0"/>
          </a:p>
          <a:p>
            <a:pPr indent="0" marL="0">
              <a:buNone/>
            </a:pPr>
            <a:r>
              <a:rPr lang="en-US" sz="1300" dirty="0">
                <a:solidFill>
                  <a:srgbClr val="273449"/>
                </a:solidFill>
                <a:latin typeface="Calibri" pitchFamily="34" charset="0"/>
                <a:ea typeface="Calibri" pitchFamily="34" charset="-122"/>
                <a:cs typeface="Calibri" pitchFamily="34" charset="-120"/>
              </a:rPr>
              <a:t>• Random-policy control</a:t>
            </a:r>
            <a:endParaRPr lang="en-US" sz="1300" dirty="0"/>
          </a:p>
          <a:p>
            <a:pPr indent="0" marL="0">
              <a:buNone/>
            </a:pPr>
            <a:r>
              <a:rPr lang="en-US" sz="1300" dirty="0">
                <a:solidFill>
                  <a:srgbClr val="273449"/>
                </a:solidFill>
                <a:latin typeface="Calibri" pitchFamily="34" charset="0"/>
                <a:ea typeface="Calibri" pitchFamily="34" charset="-122"/>
                <a:cs typeface="Calibri" pitchFamily="34" charset="-120"/>
              </a:rPr>
              <a:t>• Other periods and bike-sharing systems</a:t>
            </a:r>
            <a:endParaRPr lang="en-US" sz="1300" dirty="0"/>
          </a:p>
          <a:p>
            <a:pPr indent="0" marL="0">
              <a:buNone/>
            </a:pPr>
            <a:r>
              <a:rPr lang="en-US" sz="1300" dirty="0">
                <a:solidFill>
                  <a:srgbClr val="273449"/>
                </a:solidFill>
                <a:latin typeface="Calibri" pitchFamily="34" charset="0"/>
                <a:ea typeface="Calibri" pitchFamily="34" charset="-122"/>
                <a:cs typeface="Calibri" pitchFamily="34" charset="-120"/>
              </a:rPr>
              <a:t>• Compare with C-Mixup [19]</a:t>
            </a:r>
            <a:endParaRPr lang="en-US" sz="1300" dirty="0"/>
          </a:p>
          <a:p>
            <a:pPr indent="0" marL="0">
              <a:buNone/>
            </a:pPr>
            <a:r>
              <a:rPr lang="en-US" sz="1300" dirty="0">
                <a:solidFill>
                  <a:srgbClr val="273449"/>
                </a:solidFill>
                <a:latin typeface="Calibri" pitchFamily="34" charset="0"/>
                <a:ea typeface="Calibri" pitchFamily="34" charset="-122"/>
                <a:cs typeface="Calibri" pitchFamily="34" charset="-120"/>
              </a:rPr>
              <a:t>• Temporal forecasting models</a:t>
            </a:r>
            <a:endParaRPr lang="en-US" sz="1300" dirty="0"/>
          </a:p>
        </p:txBody>
      </p:sp>
      <p:sp>
        <p:nvSpPr>
          <p:cNvPr id="25" name="Slide Number Placeholder 0"/>
          <p:cNvSpPr>
            <a:spLocks noGrp="1"/>
          </p:cNvSpPr>
          <p:nvPr>
            <p:ph type="sldNum" sz="quarter" idx="4294967295"/>
          </p:nvPr>
        </p:nvSpPr>
        <p:spPr>
          <a:xfrm>
            <a:off x="8412480" y="4773168"/>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4748B"/>
                </a:solidFill>
                <a:latin typeface="Calibri"/>
                <a:ea typeface="Calibri"/>
                <a:cs typeface="Calibri"/>
              </a:defRPr>
            </a:lvl1pPr>
          </a:lstStyle>
          <a:p>
            <a:pPr algn="l"/>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txBox="1"/>
          <p:nvPr/>
        </p:nvSpPr>
        <p:spPr>
          <a:xfrm>
            <a:off x="457200" y="256032"/>
            <a:ext cx="8229600" cy="594360"/>
          </a:xfrm>
          <a:prstGeom prst="rect">
            <a:avLst/>
          </a:prstGeom>
          <a:noFill/>
          <a:ln/>
        </p:spPr>
        <p:txBody>
          <a:bodyPr wrap="square" lIns="0" tIns="0" rIns="0" bIns="0" rtlCol="0" anchor="ctr"/>
          <a:lstStyle/>
          <a:p>
            <a:pPr indent="0" marL="0">
              <a:buNone/>
            </a:pPr>
            <a:r>
              <a:rPr lang="en-US" sz="2800" b="1" dirty="0">
                <a:solidFill>
                  <a:srgbClr val="142D4E"/>
                </a:solidFill>
                <a:latin typeface="Calibri" pitchFamily="34" charset="0"/>
                <a:ea typeface="Calibri" pitchFamily="34" charset="-122"/>
                <a:cs typeface="Calibri" pitchFamily="34" charset="-120"/>
              </a:rPr>
              <a:t>Conclusion</a:t>
            </a:r>
            <a:endParaRPr lang="en-US" sz="2800" dirty="0"/>
          </a:p>
        </p:txBody>
      </p:sp>
      <p:sp>
        <p:nvSpPr>
          <p:cNvPr id="3" name="Shape 1"/>
          <p:cNvSpPr/>
          <p:nvPr/>
        </p:nvSpPr>
        <p:spPr>
          <a:xfrm>
            <a:off x="457200" y="896112"/>
            <a:ext cx="822960" cy="45720"/>
          </a:xfrm>
          <a:prstGeom prst="rect">
            <a:avLst/>
          </a:prstGeom>
          <a:solidFill>
            <a:srgbClr val="0F766E"/>
          </a:solidFill>
          <a:ln w="12700">
            <a:solidFill>
              <a:srgbClr val="0F766E"/>
            </a:solidFill>
            <a:prstDash val="solid"/>
          </a:ln>
        </p:spPr>
      </p:sp>
      <p:sp>
        <p:nvSpPr>
          <p:cNvPr id="5" name="Shape 2"/>
          <p:cNvSpPr/>
          <p:nvPr/>
        </p:nvSpPr>
        <p:spPr>
          <a:xfrm>
            <a:off x="457200" y="1188720"/>
            <a:ext cx="2606040" cy="1737360"/>
          </a:xfrm>
          <a:prstGeom prst="rect">
            <a:avLst/>
          </a:prstGeom>
          <a:solidFill>
            <a:srgbClr val="FFFFFF"/>
          </a:solidFill>
          <a:ln w="9525">
            <a:solidFill>
              <a:srgbClr val="DDE3EA"/>
            </a:solidFill>
            <a:prstDash val="solid"/>
          </a:ln>
        </p:spPr>
      </p:sp>
      <p:sp>
        <p:nvSpPr>
          <p:cNvPr id="6" name="Text 3"/>
          <p:cNvSpPr txBox="1"/>
          <p:nvPr/>
        </p:nvSpPr>
        <p:spPr>
          <a:xfrm>
            <a:off x="594360" y="1280160"/>
            <a:ext cx="2331720" cy="640080"/>
          </a:xfrm>
          <a:prstGeom prst="rect">
            <a:avLst/>
          </a:prstGeom>
          <a:noFill/>
          <a:ln/>
        </p:spPr>
        <p:txBody>
          <a:bodyPr wrap="square" lIns="0" tIns="0" rIns="0" bIns="0" rtlCol="0" anchor="ctr"/>
          <a:lstStyle/>
          <a:p>
            <a:pPr indent="0" marL="0">
              <a:buNone/>
            </a:pPr>
            <a:r>
              <a:rPr lang="en-US" sz="3200" b="1" dirty="0">
                <a:solidFill>
                  <a:srgbClr val="0F766E"/>
                </a:solidFill>
                <a:latin typeface="Calibri" pitchFamily="34" charset="0"/>
                <a:ea typeface="Calibri" pitchFamily="34" charset="-122"/>
                <a:cs typeface="Calibri" pitchFamily="34" charset="-120"/>
              </a:rPr>
              <a:t>30</a:t>
            </a:r>
            <a:endParaRPr lang="en-US" sz="3200" dirty="0"/>
          </a:p>
        </p:txBody>
      </p:sp>
      <p:sp>
        <p:nvSpPr>
          <p:cNvPr id="7" name="Text 4"/>
          <p:cNvSpPr txBox="1"/>
          <p:nvPr/>
        </p:nvSpPr>
        <p:spPr>
          <a:xfrm>
            <a:off x="594360" y="1920240"/>
            <a:ext cx="2331720" cy="914400"/>
          </a:xfrm>
          <a:prstGeom prst="rect">
            <a:avLst/>
          </a:prstGeom>
          <a:noFill/>
          <a:ln/>
        </p:spPr>
        <p:txBody>
          <a:bodyPr wrap="square" lIns="0" tIns="0" rIns="0" bIns="0" rtlCol="0" anchor="t"/>
          <a:lstStyle/>
          <a:p>
            <a:pPr indent="0" marL="0">
              <a:buNone/>
            </a:pPr>
            <a:r>
              <a:rPr lang="en-US" sz="1300" dirty="0">
                <a:solidFill>
                  <a:srgbClr val="273449"/>
                </a:solidFill>
                <a:latin typeface="Calibri" pitchFamily="34" charset="0"/>
                <a:ea typeface="Calibri" pitchFamily="34" charset="-122"/>
                <a:cs typeface="Calibri" pitchFamily="34" charset="-120"/>
              </a:rPr>
              <a:t>examples: RegMix 144.4 vs Vanilla 153.6 RMSE (not significant after Holm)</a:t>
            </a:r>
            <a:endParaRPr lang="en-US" sz="1300" dirty="0"/>
          </a:p>
        </p:txBody>
      </p:sp>
      <p:sp>
        <p:nvSpPr>
          <p:cNvPr id="8" name="Shape 5"/>
          <p:cNvSpPr/>
          <p:nvPr/>
        </p:nvSpPr>
        <p:spPr>
          <a:xfrm>
            <a:off x="3246120" y="1188720"/>
            <a:ext cx="2606040" cy="1737360"/>
          </a:xfrm>
          <a:prstGeom prst="rect">
            <a:avLst/>
          </a:prstGeom>
          <a:solidFill>
            <a:srgbClr val="FFFFFF"/>
          </a:solidFill>
          <a:ln w="9525">
            <a:solidFill>
              <a:srgbClr val="DDE3EA"/>
            </a:solidFill>
            <a:prstDash val="solid"/>
          </a:ln>
        </p:spPr>
      </p:sp>
      <p:sp>
        <p:nvSpPr>
          <p:cNvPr id="9" name="Text 6"/>
          <p:cNvSpPr txBox="1"/>
          <p:nvPr/>
        </p:nvSpPr>
        <p:spPr>
          <a:xfrm>
            <a:off x="3383280" y="1280160"/>
            <a:ext cx="2331720" cy="640080"/>
          </a:xfrm>
          <a:prstGeom prst="rect">
            <a:avLst/>
          </a:prstGeom>
          <a:noFill/>
          <a:ln/>
        </p:spPr>
        <p:txBody>
          <a:bodyPr wrap="square" lIns="0" tIns="0" rIns="0" bIns="0" rtlCol="0" anchor="ctr"/>
          <a:lstStyle/>
          <a:p>
            <a:pPr indent="0" marL="0">
              <a:buNone/>
            </a:pPr>
            <a:r>
              <a:rPr lang="en-US" sz="3200" b="1" dirty="0">
                <a:solidFill>
                  <a:srgbClr val="0F766E"/>
                </a:solidFill>
                <a:latin typeface="Calibri" pitchFamily="34" charset="0"/>
                <a:ea typeface="Calibri" pitchFamily="34" charset="-122"/>
                <a:cs typeface="Calibri" pitchFamily="34" charset="-120"/>
              </a:rPr>
              <a:t>300</a:t>
            </a:r>
            <a:endParaRPr lang="en-US" sz="3200" dirty="0"/>
          </a:p>
        </p:txBody>
      </p:sp>
      <p:sp>
        <p:nvSpPr>
          <p:cNvPr id="10" name="Text 7"/>
          <p:cNvSpPr txBox="1"/>
          <p:nvPr/>
        </p:nvSpPr>
        <p:spPr>
          <a:xfrm>
            <a:off x="3383280" y="1920240"/>
            <a:ext cx="2331720" cy="914400"/>
          </a:xfrm>
          <a:prstGeom prst="rect">
            <a:avLst/>
          </a:prstGeom>
          <a:noFill/>
          <a:ln/>
        </p:spPr>
        <p:txBody>
          <a:bodyPr wrap="square" lIns="0" tIns="0" rIns="0" bIns="0" rtlCol="0" anchor="t"/>
          <a:lstStyle/>
          <a:p>
            <a:pPr indent="0" marL="0">
              <a:buNone/>
            </a:pPr>
            <a:r>
              <a:rPr lang="en-US" sz="1300" dirty="0">
                <a:solidFill>
                  <a:srgbClr val="273449"/>
                </a:solidFill>
                <a:latin typeface="Calibri" pitchFamily="34" charset="0"/>
                <a:ea typeface="Calibri" pitchFamily="34" charset="-122"/>
                <a:cs typeface="Calibri" pitchFamily="34" charset="-120"/>
              </a:rPr>
              <a:t>examples: Vanilla best (105.0); RegMix significantly worse (115.7)</a:t>
            </a:r>
            <a:endParaRPr lang="en-US" sz="1300" dirty="0"/>
          </a:p>
        </p:txBody>
      </p:sp>
      <p:sp>
        <p:nvSpPr>
          <p:cNvPr id="11" name="Shape 8"/>
          <p:cNvSpPr/>
          <p:nvPr/>
        </p:nvSpPr>
        <p:spPr>
          <a:xfrm>
            <a:off x="6035040" y="1188720"/>
            <a:ext cx="2606040" cy="1737360"/>
          </a:xfrm>
          <a:prstGeom prst="rect">
            <a:avLst/>
          </a:prstGeom>
          <a:solidFill>
            <a:srgbClr val="FFFFFF"/>
          </a:solidFill>
          <a:ln w="9525">
            <a:solidFill>
              <a:srgbClr val="DDE3EA"/>
            </a:solidFill>
            <a:prstDash val="solid"/>
          </a:ln>
        </p:spPr>
      </p:sp>
      <p:sp>
        <p:nvSpPr>
          <p:cNvPr id="12" name="Text 9"/>
          <p:cNvSpPr txBox="1"/>
          <p:nvPr/>
        </p:nvSpPr>
        <p:spPr>
          <a:xfrm>
            <a:off x="6172200" y="1280160"/>
            <a:ext cx="2331720" cy="640080"/>
          </a:xfrm>
          <a:prstGeom prst="rect">
            <a:avLst/>
          </a:prstGeom>
          <a:noFill/>
          <a:ln/>
        </p:spPr>
        <p:txBody>
          <a:bodyPr wrap="square" lIns="0" tIns="0" rIns="0" bIns="0" rtlCol="0" anchor="ctr"/>
          <a:lstStyle/>
          <a:p>
            <a:pPr indent="0" marL="0">
              <a:buNone/>
            </a:pPr>
            <a:r>
              <a:rPr lang="en-US" sz="3200" b="1" dirty="0">
                <a:solidFill>
                  <a:srgbClr val="0F766E"/>
                </a:solidFill>
                <a:latin typeface="Calibri" pitchFamily="34" charset="0"/>
                <a:ea typeface="Calibri" pitchFamily="34" charset="-122"/>
                <a:cs typeface="Calibri" pitchFamily="34" charset="-120"/>
              </a:rPr>
              <a:t>8–14×</a:t>
            </a:r>
            <a:endParaRPr lang="en-US" sz="3200" dirty="0"/>
          </a:p>
        </p:txBody>
      </p:sp>
      <p:sp>
        <p:nvSpPr>
          <p:cNvPr id="13" name="Text 10"/>
          <p:cNvSpPr txBox="1"/>
          <p:nvPr/>
        </p:nvSpPr>
        <p:spPr>
          <a:xfrm>
            <a:off x="6172200" y="1920240"/>
            <a:ext cx="2331720" cy="914400"/>
          </a:xfrm>
          <a:prstGeom prst="rect">
            <a:avLst/>
          </a:prstGeom>
          <a:noFill/>
          <a:ln/>
        </p:spPr>
        <p:txBody>
          <a:bodyPr wrap="square" lIns="0" tIns="0" rIns="0" bIns="0" rtlCol="0" anchor="t"/>
          <a:lstStyle/>
          <a:p>
            <a:pPr indent="0" marL="0">
              <a:buNone/>
            </a:pPr>
            <a:r>
              <a:rPr lang="en-US" sz="1300" dirty="0">
                <a:solidFill>
                  <a:srgbClr val="273449"/>
                </a:solidFill>
                <a:latin typeface="Calibri" pitchFamily="34" charset="0"/>
                <a:ea typeface="Calibri" pitchFamily="34" charset="-122"/>
                <a:cs typeface="Calibri" pitchFamily="34" charset="-120"/>
              </a:rPr>
              <a:t>RegMix training time vs Vanilla</a:t>
            </a:r>
            <a:endParaRPr lang="en-US" sz="1300" dirty="0"/>
          </a:p>
        </p:txBody>
      </p:sp>
      <p:sp>
        <p:nvSpPr>
          <p:cNvPr id="14" name="Text 11"/>
          <p:cNvSpPr txBox="1"/>
          <p:nvPr/>
        </p:nvSpPr>
        <p:spPr>
          <a:xfrm>
            <a:off x="457200" y="3154680"/>
            <a:ext cx="8229600" cy="1371600"/>
          </a:xfrm>
          <a:prstGeom prst="rect">
            <a:avLst/>
          </a:prstGeom>
          <a:noFill/>
          <a:ln/>
        </p:spPr>
        <p:txBody>
          <a:bodyPr wrap="square" lIns="635" tIns="635" rIns="635" bIns="635" rtlCol="0" anchor="t"/>
          <a:lstStyle/>
          <a:p>
            <a:pPr marL="342900" indent="-342900">
              <a:spcAft>
                <a:spcPts val="800"/>
              </a:spcAft>
              <a:buSzPct val="100000"/>
              <a:buChar char="•"/>
            </a:pPr>
            <a:r>
              <a:rPr lang="en-US" sz="1600" dirty="0">
                <a:solidFill>
                  <a:srgbClr val="273449"/>
                </a:solidFill>
                <a:latin typeface="Calibri" pitchFamily="34" charset="0"/>
                <a:ea typeface="Calibri" pitchFamily="34" charset="-122"/>
                <a:cs typeface="Calibri" pitchFamily="34" charset="-120"/>
              </a:rPr>
              <a:t>Under chronological testing Vanilla was best at every size, RegMix worse at each</a:t>
            </a:r>
            <a:endParaRPr lang="en-US" sz="1600" dirty="0"/>
          </a:p>
          <a:p>
            <a:pPr marL="342900" indent="-342900">
              <a:spcAft>
                <a:spcPts val="800"/>
              </a:spcAft>
              <a:buSzPct val="100000"/>
              <a:buChar char="•"/>
            </a:pPr>
            <a:r>
              <a:rPr lang="en-US" sz="1600" dirty="0">
                <a:solidFill>
                  <a:srgbClr val="273449"/>
                </a:solidFill>
                <a:latin typeface="Calibri" pitchFamily="34" charset="0"/>
                <a:ea typeface="Calibri" pitchFamily="34" charset="-122"/>
                <a:cs typeface="Calibri" pitchFamily="34" charset="-120"/>
              </a:rPr>
              <a:t>Augmentation is worth trying mainly with very small labelled histories</a:t>
            </a:r>
            <a:endParaRPr lang="en-US" sz="1600" dirty="0"/>
          </a:p>
          <a:p>
            <a:pPr marL="342900" indent="-342900">
              <a:spcAft>
                <a:spcPts val="800"/>
              </a:spcAft>
              <a:buSzPct val="100000"/>
              <a:buChar char="•"/>
            </a:pPr>
            <a:r>
              <a:rPr lang="en-US" sz="1600" dirty="0">
                <a:solidFill>
                  <a:srgbClr val="273449"/>
                </a:solidFill>
                <a:latin typeface="Calibri" pitchFamily="34" charset="0"/>
                <a:ea typeface="Calibri" pitchFamily="34" charset="-122"/>
                <a:cs typeface="Calibri" pitchFamily="34" charset="-120"/>
              </a:rPr>
              <a:t>Findings apply to this dataset and to our reduced search budget</a:t>
            </a:r>
            <a:endParaRPr lang="en-US" sz="1600" dirty="0"/>
          </a:p>
        </p:txBody>
      </p:sp>
      <p:sp>
        <p:nvSpPr>
          <p:cNvPr id="25" name="Slide Number Placeholder 0"/>
          <p:cNvSpPr>
            <a:spLocks noGrp="1"/>
          </p:cNvSpPr>
          <p:nvPr>
            <p:ph type="sldNum" sz="quarter" idx="4294967295"/>
          </p:nvPr>
        </p:nvSpPr>
        <p:spPr>
          <a:xfrm>
            <a:off x="8412480" y="4773168"/>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4748B"/>
                </a:solidFill>
                <a:latin typeface="Calibri"/>
                <a:ea typeface="Calibri"/>
                <a:cs typeface="Calibri"/>
              </a:defRPr>
            </a:lvl1pPr>
          </a:lstStyle>
          <a:p>
            <a:pPr algn="l"/>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txBox="1"/>
          <p:nvPr/>
        </p:nvSpPr>
        <p:spPr>
          <a:xfrm>
            <a:off x="457200" y="256032"/>
            <a:ext cx="8229600" cy="594360"/>
          </a:xfrm>
          <a:prstGeom prst="rect">
            <a:avLst/>
          </a:prstGeom>
          <a:noFill/>
          <a:ln/>
        </p:spPr>
        <p:txBody>
          <a:bodyPr wrap="square" lIns="0" tIns="0" rIns="0" bIns="0" rtlCol="0" anchor="ctr"/>
          <a:lstStyle/>
          <a:p>
            <a:pPr indent="0" marL="0">
              <a:buNone/>
            </a:pPr>
            <a:r>
              <a:rPr lang="en-US" sz="2800" b="1" dirty="0">
                <a:solidFill>
                  <a:srgbClr val="142D4E"/>
                </a:solidFill>
                <a:latin typeface="Calibri" pitchFamily="34" charset="0"/>
                <a:ea typeface="Calibri" pitchFamily="34" charset="-122"/>
                <a:cs typeface="Calibri" pitchFamily="34" charset="-120"/>
              </a:rPr>
              <a:t>References and Questions</a:t>
            </a:r>
            <a:endParaRPr lang="en-US" sz="2800" dirty="0"/>
          </a:p>
        </p:txBody>
      </p:sp>
      <p:sp>
        <p:nvSpPr>
          <p:cNvPr id="3" name="Shape 1"/>
          <p:cNvSpPr/>
          <p:nvPr/>
        </p:nvSpPr>
        <p:spPr>
          <a:xfrm>
            <a:off x="457200" y="896112"/>
            <a:ext cx="822960" cy="45720"/>
          </a:xfrm>
          <a:prstGeom prst="rect">
            <a:avLst/>
          </a:prstGeom>
          <a:solidFill>
            <a:srgbClr val="0F766E"/>
          </a:solidFill>
          <a:ln w="12700">
            <a:solidFill>
              <a:srgbClr val="0F766E"/>
            </a:solidFill>
            <a:prstDash val="solid"/>
          </a:ln>
        </p:spPr>
      </p:sp>
      <p:sp>
        <p:nvSpPr>
          <p:cNvPr id="5" name="Text 2"/>
          <p:cNvSpPr txBox="1"/>
          <p:nvPr/>
        </p:nvSpPr>
        <p:spPr>
          <a:xfrm>
            <a:off x="457200" y="1097280"/>
            <a:ext cx="2697480" cy="2926080"/>
          </a:xfrm>
          <a:prstGeom prst="rect">
            <a:avLst/>
          </a:prstGeom>
          <a:noFill/>
          <a:ln/>
        </p:spPr>
        <p:txBody>
          <a:bodyPr wrap="square" lIns="0" tIns="0" rIns="0" bIns="0" rtlCol="0" anchor="t"/>
          <a:lstStyle/>
          <a:p>
            <a:pPr indent="0" marL="0">
              <a:spcAft>
                <a:spcPts val="300"/>
              </a:spcAft>
              <a:buNone/>
            </a:pPr>
            <a:r>
              <a:rPr lang="en-US" sz="850" dirty="0">
                <a:solidFill>
                  <a:srgbClr val="273449"/>
                </a:solidFill>
                <a:latin typeface="Calibri" pitchFamily="34" charset="0"/>
                <a:ea typeface="Calibri" pitchFamily="34" charset="-122"/>
                <a:cs typeface="Calibri" pitchFamily="34" charset="-120"/>
              </a:rPr>
              <a:t>[1] V. Albuquerque et al., “Machine learning approaches to bike-sharing systems,” ISPRS IJGI, 2021.</a:t>
            </a:r>
            <a:endParaRPr lang="en-US" sz="850" dirty="0"/>
          </a:p>
          <a:p>
            <a:pPr indent="0" marL="0">
              <a:spcAft>
                <a:spcPts val="300"/>
              </a:spcAft>
              <a:buNone/>
            </a:pPr>
            <a:r>
              <a:rPr lang="en-US" sz="850" dirty="0">
                <a:solidFill>
                  <a:srgbClr val="273449"/>
                </a:solidFill>
                <a:latin typeface="Calibri" pitchFamily="34" charset="0"/>
                <a:ea typeface="Calibri" pitchFamily="34" charset="-122"/>
                <a:cs typeface="Calibri" pitchFamily="34" charset="-120"/>
              </a:rPr>
              <a:t>[2] E. Eren, V. E. Uz, “A review on bike-sharing: factors affecting demand,” Sustain. Cities Soc., 2020.</a:t>
            </a:r>
            <a:endParaRPr lang="en-US" sz="850" dirty="0"/>
          </a:p>
          <a:p>
            <a:pPr indent="0" marL="0">
              <a:spcAft>
                <a:spcPts val="300"/>
              </a:spcAft>
              <a:buNone/>
            </a:pPr>
            <a:r>
              <a:rPr lang="en-US" sz="850" dirty="0">
                <a:solidFill>
                  <a:srgbClr val="273449"/>
                </a:solidFill>
                <a:latin typeface="Calibri" pitchFamily="34" charset="0"/>
                <a:ea typeface="Calibri" pitchFamily="34" charset="-122"/>
                <a:cs typeface="Calibri" pitchFamily="34" charset="-120"/>
              </a:rPr>
              <a:t>[3] A. Kaltenbrunner et al., “Urban cycles and mobility patterns,” Pervasive Mob. Comput., 2010.</a:t>
            </a:r>
            <a:endParaRPr lang="en-US" sz="850" dirty="0"/>
          </a:p>
          <a:p>
            <a:pPr indent="0" marL="0">
              <a:spcAft>
                <a:spcPts val="300"/>
              </a:spcAft>
              <a:buNone/>
            </a:pPr>
            <a:r>
              <a:rPr lang="en-US" sz="850" dirty="0">
                <a:solidFill>
                  <a:srgbClr val="273449"/>
                </a:solidFill>
                <a:latin typeface="Calibri" pitchFamily="34" charset="0"/>
                <a:ea typeface="Calibri" pitchFamily="34" charset="-122"/>
                <a:cs typeface="Calibri" pitchFamily="34" charset="-120"/>
              </a:rPr>
              <a:t>[4] C. Shorten, T. Khoshgoftaar, “A survey on image data augmentation,” J. Big Data, 2019.</a:t>
            </a:r>
            <a:endParaRPr lang="en-US" sz="850" dirty="0"/>
          </a:p>
          <a:p>
            <a:pPr indent="0" marL="0">
              <a:spcAft>
                <a:spcPts val="300"/>
              </a:spcAft>
              <a:buNone/>
            </a:pPr>
            <a:r>
              <a:rPr lang="en-US" sz="850" dirty="0">
                <a:solidFill>
                  <a:srgbClr val="273449"/>
                </a:solidFill>
                <a:latin typeface="Calibri" pitchFamily="34" charset="0"/>
                <a:ea typeface="Calibri" pitchFamily="34" charset="-122"/>
                <a:cs typeface="Calibri" pitchFamily="34" charset="-120"/>
              </a:rPr>
              <a:t>[5] Q. Wen et al., “Time series data augmentation for deep learning: a survey,” IJCAI, 2021.</a:t>
            </a:r>
            <a:endParaRPr lang="en-US" sz="850" dirty="0"/>
          </a:p>
          <a:p>
            <a:pPr indent="0" marL="0">
              <a:spcAft>
                <a:spcPts val="300"/>
              </a:spcAft>
              <a:buNone/>
            </a:pPr>
            <a:r>
              <a:rPr lang="en-US" sz="850" dirty="0">
                <a:solidFill>
                  <a:srgbClr val="273449"/>
                </a:solidFill>
                <a:latin typeface="Calibri" pitchFamily="34" charset="0"/>
                <a:ea typeface="Calibri" pitchFamily="34" charset="-122"/>
                <a:cs typeface="Calibri" pitchFamily="34" charset="-120"/>
              </a:rPr>
              <a:t>[6] B. Iwana, S. Uchida, “Data augmentation for time series classification,” PLoS ONE, 2021.</a:t>
            </a:r>
            <a:endParaRPr lang="en-US" sz="850" dirty="0"/>
          </a:p>
          <a:p>
            <a:pPr indent="0" marL="0">
              <a:spcAft>
                <a:spcPts val="300"/>
              </a:spcAft>
              <a:buNone/>
            </a:pPr>
            <a:r>
              <a:rPr lang="en-US" sz="850" dirty="0">
                <a:solidFill>
                  <a:srgbClr val="273449"/>
                </a:solidFill>
                <a:latin typeface="Calibri" pitchFamily="34" charset="0"/>
                <a:ea typeface="Calibri" pitchFamily="34" charset="-122"/>
                <a:cs typeface="Calibri" pitchFamily="34" charset="-120"/>
              </a:rPr>
              <a:t>[7] C. Bishop, “Training with noise is equivalent to Tikhonov regularization,” Neural Comput., 1995.</a:t>
            </a:r>
            <a:endParaRPr lang="en-US" sz="850" dirty="0"/>
          </a:p>
          <a:p>
            <a:pPr indent="0" marL="0">
              <a:spcAft>
                <a:spcPts val="300"/>
              </a:spcAft>
              <a:buNone/>
            </a:pPr>
            <a:r>
              <a:rPr lang="en-US" sz="850" dirty="0">
                <a:solidFill>
                  <a:srgbClr val="273449"/>
                </a:solidFill>
                <a:latin typeface="Calibri" pitchFamily="34" charset="0"/>
                <a:ea typeface="Calibri" pitchFamily="34" charset="-122"/>
                <a:cs typeface="Calibri" pitchFamily="34" charset="-120"/>
              </a:rPr>
              <a:t>[8] H. Zhang et al., “mixup: Beyond empirical risk minimization,” ICLR, 2018.</a:t>
            </a:r>
            <a:endParaRPr lang="en-US" sz="850" dirty="0"/>
          </a:p>
          <a:p>
            <a:pPr indent="0" marL="0">
              <a:spcAft>
                <a:spcPts val="300"/>
              </a:spcAft>
              <a:buNone/>
            </a:pPr>
            <a:r>
              <a:rPr lang="en-US" sz="850" dirty="0">
                <a:solidFill>
                  <a:srgbClr val="273449"/>
                </a:solidFill>
                <a:latin typeface="Calibri" pitchFamily="34" charset="0"/>
                <a:ea typeface="Calibri" pitchFamily="34" charset="-122"/>
                <a:cs typeface="Calibri" pitchFamily="34" charset="-120"/>
              </a:rPr>
              <a:t>[9] L. Carratino et al., “On mixup regularization,” arXiv:2006.06049, 2020.</a:t>
            </a:r>
            <a:endParaRPr lang="en-US" sz="850" dirty="0"/>
          </a:p>
          <a:p>
            <a:pPr indent="0" marL="0">
              <a:spcAft>
                <a:spcPts val="300"/>
              </a:spcAft>
              <a:buNone/>
            </a:pPr>
            <a:r>
              <a:rPr lang="en-US" sz="850" dirty="0">
                <a:solidFill>
                  <a:srgbClr val="273449"/>
                </a:solidFill>
                <a:latin typeface="Calibri" pitchFamily="34" charset="0"/>
                <a:ea typeface="Calibri" pitchFamily="34" charset="-122"/>
                <a:cs typeface="Calibri" pitchFamily="34" charset="-120"/>
              </a:rPr>
              <a:t>[10] L. Zhang et al., “How does mixup help with robustness and generalization?,” ICLR, 2021.</a:t>
            </a:r>
            <a:endParaRPr lang="en-US" sz="850" dirty="0"/>
          </a:p>
        </p:txBody>
      </p:sp>
      <p:sp>
        <p:nvSpPr>
          <p:cNvPr id="6" name="Text 3"/>
          <p:cNvSpPr txBox="1"/>
          <p:nvPr/>
        </p:nvSpPr>
        <p:spPr>
          <a:xfrm>
            <a:off x="3264408" y="1097280"/>
            <a:ext cx="2697480" cy="2926080"/>
          </a:xfrm>
          <a:prstGeom prst="rect">
            <a:avLst/>
          </a:prstGeom>
          <a:noFill/>
          <a:ln/>
        </p:spPr>
        <p:txBody>
          <a:bodyPr wrap="square" lIns="0" tIns="0" rIns="0" bIns="0" rtlCol="0" anchor="t"/>
          <a:lstStyle/>
          <a:p>
            <a:pPr indent="0" marL="0">
              <a:spcAft>
                <a:spcPts val="300"/>
              </a:spcAft>
              <a:buNone/>
            </a:pPr>
            <a:r>
              <a:rPr lang="en-US" sz="850" dirty="0">
                <a:solidFill>
                  <a:srgbClr val="273449"/>
                </a:solidFill>
                <a:latin typeface="Calibri" pitchFamily="34" charset="0"/>
                <a:ea typeface="Calibri" pitchFamily="34" charset="-122"/>
                <a:cs typeface="Calibri" pitchFamily="34" charset="-120"/>
              </a:rPr>
              <a:t>[11] V. Verma et al., “Manifold mixup,” ICML, 2019.</a:t>
            </a:r>
            <a:endParaRPr lang="en-US" sz="850" dirty="0"/>
          </a:p>
          <a:p>
            <a:pPr indent="0" marL="0">
              <a:spcAft>
                <a:spcPts val="300"/>
              </a:spcAft>
              <a:buNone/>
            </a:pPr>
            <a:r>
              <a:rPr lang="en-US" sz="850" dirty="0">
                <a:solidFill>
                  <a:srgbClr val="273449"/>
                </a:solidFill>
                <a:latin typeface="Calibri" pitchFamily="34" charset="0"/>
                <a:ea typeface="Calibri" pitchFamily="34" charset="-122"/>
                <a:cs typeface="Calibri" pitchFamily="34" charset="-120"/>
              </a:rPr>
              <a:t>[12] S. Yun et al., “CutMix,” ICCV, 2019.</a:t>
            </a:r>
            <a:endParaRPr lang="en-US" sz="850" dirty="0"/>
          </a:p>
          <a:p>
            <a:pPr indent="0" marL="0">
              <a:spcAft>
                <a:spcPts val="300"/>
              </a:spcAft>
              <a:buNone/>
            </a:pPr>
            <a:r>
              <a:rPr lang="en-US" sz="850" dirty="0">
                <a:solidFill>
                  <a:srgbClr val="273449"/>
                </a:solidFill>
                <a:latin typeface="Calibri" pitchFamily="34" charset="0"/>
                <a:ea typeface="Calibri" pitchFamily="34" charset="-122"/>
                <a:cs typeface="Calibri" pitchFamily="34" charset="-120"/>
              </a:rPr>
              <a:t>[13] O. Chapelle et al., “Vicinal risk minimization,” NIPS, 2000.</a:t>
            </a:r>
            <a:endParaRPr lang="en-US" sz="850" dirty="0"/>
          </a:p>
          <a:p>
            <a:pPr indent="0" marL="0">
              <a:spcAft>
                <a:spcPts val="300"/>
              </a:spcAft>
              <a:buNone/>
            </a:pPr>
            <a:r>
              <a:rPr lang="en-US" sz="850" dirty="0">
                <a:solidFill>
                  <a:srgbClr val="273449"/>
                </a:solidFill>
                <a:latin typeface="Calibri" pitchFamily="34" charset="0"/>
                <a:ea typeface="Calibri" pitchFamily="34" charset="-122"/>
                <a:cs typeface="Calibri" pitchFamily="34" charset="-120"/>
              </a:rPr>
              <a:t>[14] H. Guo et al., “MixUp as locally linear out-of-manifold regularization,” AAAI, 2019.</a:t>
            </a:r>
            <a:endParaRPr lang="en-US" sz="850" dirty="0"/>
          </a:p>
          <a:p>
            <a:pPr indent="0" marL="0">
              <a:spcAft>
                <a:spcPts val="300"/>
              </a:spcAft>
              <a:buNone/>
            </a:pPr>
            <a:r>
              <a:rPr lang="en-US" sz="850" dirty="0">
                <a:solidFill>
                  <a:srgbClr val="273449"/>
                </a:solidFill>
                <a:latin typeface="Calibri" pitchFamily="34" charset="0"/>
                <a:ea typeface="Calibri" pitchFamily="34" charset="-122"/>
                <a:cs typeface="Calibri" pitchFamily="34" charset="-120"/>
              </a:rPr>
              <a:t>[15] S.-H. Hwang, S. E. Whang, “RegMix: Data mixing augmentation for regression,” arXiv:2106.03374v4, 2022.</a:t>
            </a:r>
            <a:endParaRPr lang="en-US" sz="850" dirty="0"/>
          </a:p>
          <a:p>
            <a:pPr indent="0" marL="0">
              <a:spcAft>
                <a:spcPts val="300"/>
              </a:spcAft>
              <a:buNone/>
            </a:pPr>
            <a:r>
              <a:rPr lang="en-US" sz="850" dirty="0">
                <a:solidFill>
                  <a:srgbClr val="273449"/>
                </a:solidFill>
                <a:latin typeface="Calibri" pitchFamily="34" charset="0"/>
                <a:ea typeface="Calibri" pitchFamily="34" charset="-122"/>
                <a:cs typeface="Calibri" pitchFamily="34" charset="-120"/>
              </a:rPr>
              <a:t>[16] E. Cubuk et al., “AutoAugment,” CVPR, 2019.</a:t>
            </a:r>
            <a:endParaRPr lang="en-US" sz="850" dirty="0"/>
          </a:p>
          <a:p>
            <a:pPr indent="0" marL="0">
              <a:spcAft>
                <a:spcPts val="300"/>
              </a:spcAft>
              <a:buNone/>
            </a:pPr>
            <a:r>
              <a:rPr lang="en-US" sz="850" dirty="0">
                <a:solidFill>
                  <a:srgbClr val="273449"/>
                </a:solidFill>
                <a:latin typeface="Calibri" pitchFamily="34" charset="0"/>
                <a:ea typeface="Calibri" pitchFamily="34" charset="-122"/>
                <a:cs typeface="Calibri" pitchFamily="34" charset="-120"/>
              </a:rPr>
              <a:t>[17] S. Lim et al., “Fast AutoAugment,” NeurIPS, 2019.</a:t>
            </a:r>
            <a:endParaRPr lang="en-US" sz="850" dirty="0"/>
          </a:p>
          <a:p>
            <a:pPr indent="0" marL="0">
              <a:spcAft>
                <a:spcPts val="300"/>
              </a:spcAft>
              <a:buNone/>
            </a:pPr>
            <a:r>
              <a:rPr lang="en-US" sz="850" dirty="0">
                <a:solidFill>
                  <a:srgbClr val="273449"/>
                </a:solidFill>
                <a:latin typeface="Calibri" pitchFamily="34" charset="0"/>
                <a:ea typeface="Calibri" pitchFamily="34" charset="-122"/>
                <a:cs typeface="Calibri" pitchFamily="34" charset="-120"/>
              </a:rPr>
              <a:t>[18] B. Zoph, Q. Le, “Neural architecture search with reinforcement learning,” ICLR, 2017.</a:t>
            </a:r>
            <a:endParaRPr lang="en-US" sz="850" dirty="0"/>
          </a:p>
          <a:p>
            <a:pPr indent="0" marL="0">
              <a:spcAft>
                <a:spcPts val="300"/>
              </a:spcAft>
              <a:buNone/>
            </a:pPr>
            <a:r>
              <a:rPr lang="en-US" sz="850" dirty="0">
                <a:solidFill>
                  <a:srgbClr val="273449"/>
                </a:solidFill>
                <a:latin typeface="Calibri" pitchFamily="34" charset="0"/>
                <a:ea typeface="Calibri" pitchFamily="34" charset="-122"/>
                <a:cs typeface="Calibri" pitchFamily="34" charset="-120"/>
              </a:rPr>
              <a:t>[19] H. Yao et al., “C-Mixup,” NeurIPS, 2022.</a:t>
            </a:r>
            <a:endParaRPr lang="en-US" sz="850" dirty="0"/>
          </a:p>
          <a:p>
            <a:pPr indent="0" marL="0">
              <a:spcAft>
                <a:spcPts val="300"/>
              </a:spcAft>
              <a:buNone/>
            </a:pPr>
            <a:r>
              <a:rPr lang="en-US" sz="850" dirty="0">
                <a:solidFill>
                  <a:srgbClr val="273449"/>
                </a:solidFill>
                <a:latin typeface="Calibri" pitchFamily="34" charset="0"/>
                <a:ea typeface="Calibri" pitchFamily="34" charset="-122"/>
                <a:cs typeface="Calibri" pitchFamily="34" charset="-120"/>
              </a:rPr>
              <a:t>[20] H. Fanaee-T, “Bike Sharing [Dataset],” UCI ML Repository, 2013.</a:t>
            </a:r>
            <a:endParaRPr lang="en-US" sz="850" dirty="0"/>
          </a:p>
          <a:p>
            <a:pPr indent="0" marL="0">
              <a:spcAft>
                <a:spcPts val="300"/>
              </a:spcAft>
              <a:buNone/>
            </a:pPr>
            <a:r>
              <a:rPr lang="en-US" sz="850" dirty="0">
                <a:solidFill>
                  <a:srgbClr val="273449"/>
                </a:solidFill>
                <a:latin typeface="Calibri" pitchFamily="34" charset="0"/>
                <a:ea typeface="Calibri" pitchFamily="34" charset="-122"/>
                <a:cs typeface="Calibri" pitchFamily="34" charset="-120"/>
              </a:rPr>
              <a:t>[21] H. Fanaee-T, J. Gama, “Event labeling combining ensemble detectors and background knowledge,” Prog. Artif. Intell., 2014.</a:t>
            </a:r>
            <a:endParaRPr lang="en-US" sz="850" dirty="0"/>
          </a:p>
          <a:p>
            <a:pPr indent="0" marL="0">
              <a:spcAft>
                <a:spcPts val="300"/>
              </a:spcAft>
              <a:buNone/>
            </a:pPr>
            <a:r>
              <a:rPr lang="en-US" sz="850" dirty="0">
                <a:solidFill>
                  <a:srgbClr val="273449"/>
                </a:solidFill>
                <a:latin typeface="Calibri" pitchFamily="34" charset="0"/>
                <a:ea typeface="Calibri" pitchFamily="34" charset="-122"/>
                <a:cs typeface="Calibri" pitchFamily="34" charset="-120"/>
              </a:rPr>
              <a:t>[22] C. Bergmeir, J. Benítez, “Cross-validation for time series predictor evaluation,” Inf. Sci., 2012.</a:t>
            </a:r>
            <a:endParaRPr lang="en-US" sz="850" dirty="0"/>
          </a:p>
        </p:txBody>
      </p:sp>
      <p:sp>
        <p:nvSpPr>
          <p:cNvPr id="7" name="Text 4"/>
          <p:cNvSpPr txBox="1"/>
          <p:nvPr/>
        </p:nvSpPr>
        <p:spPr>
          <a:xfrm>
            <a:off x="6071616" y="1097280"/>
            <a:ext cx="2697480" cy="2926080"/>
          </a:xfrm>
          <a:prstGeom prst="rect">
            <a:avLst/>
          </a:prstGeom>
          <a:noFill/>
          <a:ln/>
        </p:spPr>
        <p:txBody>
          <a:bodyPr wrap="square" lIns="0" tIns="0" rIns="0" bIns="0" rtlCol="0" anchor="t"/>
          <a:lstStyle/>
          <a:p>
            <a:pPr indent="0" marL="0">
              <a:spcAft>
                <a:spcPts val="300"/>
              </a:spcAft>
              <a:buNone/>
            </a:pPr>
            <a:r>
              <a:rPr lang="en-US" sz="850" dirty="0">
                <a:solidFill>
                  <a:srgbClr val="273449"/>
                </a:solidFill>
                <a:latin typeface="Calibri" pitchFamily="34" charset="0"/>
                <a:ea typeface="Calibri" pitchFamily="34" charset="-122"/>
                <a:cs typeface="Calibri" pitchFamily="34" charset="-120"/>
              </a:rPr>
              <a:t>[23] D. Kingma, J. Ba, “Adam,” ICLR, 2015.</a:t>
            </a:r>
            <a:endParaRPr lang="en-US" sz="850" dirty="0"/>
          </a:p>
          <a:p>
            <a:pPr indent="0" marL="0">
              <a:spcAft>
                <a:spcPts val="300"/>
              </a:spcAft>
              <a:buNone/>
            </a:pPr>
            <a:r>
              <a:rPr lang="en-US" sz="850" dirty="0">
                <a:solidFill>
                  <a:srgbClr val="273449"/>
                </a:solidFill>
                <a:latin typeface="Calibri" pitchFamily="34" charset="0"/>
                <a:ea typeface="Calibri" pitchFamily="34" charset="-122"/>
                <a:cs typeface="Calibri" pitchFamily="34" charset="-120"/>
              </a:rPr>
              <a:t>[24] T. Chen, C. Guestrin, “XGBoost,” KDD, 2016.</a:t>
            </a:r>
            <a:endParaRPr lang="en-US" sz="850" dirty="0"/>
          </a:p>
          <a:p>
            <a:pPr indent="0" marL="0">
              <a:spcAft>
                <a:spcPts val="300"/>
              </a:spcAft>
              <a:buNone/>
            </a:pPr>
            <a:r>
              <a:rPr lang="en-US" sz="850" dirty="0">
                <a:solidFill>
                  <a:srgbClr val="273449"/>
                </a:solidFill>
                <a:latin typeface="Calibri" pitchFamily="34" charset="0"/>
                <a:ea typeface="Calibri" pitchFamily="34" charset="-122"/>
                <a:cs typeface="Calibri" pitchFamily="34" charset="-120"/>
              </a:rPr>
              <a:t>[25] G. Ke et al., “LightGBM,” NeurIPS, 2017.</a:t>
            </a:r>
            <a:endParaRPr lang="en-US" sz="850" dirty="0"/>
          </a:p>
          <a:p>
            <a:pPr indent="0" marL="0">
              <a:spcAft>
                <a:spcPts val="300"/>
              </a:spcAft>
              <a:buNone/>
            </a:pPr>
            <a:r>
              <a:rPr lang="en-US" sz="850" dirty="0">
                <a:solidFill>
                  <a:srgbClr val="273449"/>
                </a:solidFill>
                <a:latin typeface="Calibri" pitchFamily="34" charset="0"/>
                <a:ea typeface="Calibri" pitchFamily="34" charset="-122"/>
                <a:cs typeface="Calibri" pitchFamily="34" charset="-120"/>
              </a:rPr>
              <a:t>[26] L. Breiman, “Random forests,” Mach. Learn., 2001.</a:t>
            </a:r>
            <a:endParaRPr lang="en-US" sz="850" dirty="0"/>
          </a:p>
          <a:p>
            <a:pPr indent="0" marL="0">
              <a:spcAft>
                <a:spcPts val="300"/>
              </a:spcAft>
              <a:buNone/>
            </a:pPr>
            <a:r>
              <a:rPr lang="en-US" sz="850" dirty="0">
                <a:solidFill>
                  <a:srgbClr val="273449"/>
                </a:solidFill>
                <a:latin typeface="Calibri" pitchFamily="34" charset="0"/>
                <a:ea typeface="Calibri" pitchFamily="34" charset="-122"/>
                <a:cs typeface="Calibri" pitchFamily="34" charset="-120"/>
              </a:rPr>
              <a:t>[27] S. Hochreiter, J. Schmidhuber, “Long short-term memory,” Neural Comput., 1997.</a:t>
            </a:r>
            <a:endParaRPr lang="en-US" sz="850" dirty="0"/>
          </a:p>
          <a:p>
            <a:pPr indent="0" marL="0">
              <a:spcAft>
                <a:spcPts val="300"/>
              </a:spcAft>
              <a:buNone/>
            </a:pPr>
            <a:r>
              <a:rPr lang="en-US" sz="850" dirty="0">
                <a:solidFill>
                  <a:srgbClr val="273449"/>
                </a:solidFill>
                <a:latin typeface="Calibri" pitchFamily="34" charset="0"/>
                <a:ea typeface="Calibri" pitchFamily="34" charset="-122"/>
                <a:cs typeface="Calibri" pitchFamily="34" charset="-120"/>
              </a:rPr>
              <a:t>[28] J. Schulman et al., “Proximal policy optimization algorithms,” arXiv:1707.06347, 2017.</a:t>
            </a:r>
            <a:endParaRPr lang="en-US" sz="850" dirty="0"/>
          </a:p>
          <a:p>
            <a:pPr indent="0" marL="0">
              <a:spcAft>
                <a:spcPts val="300"/>
              </a:spcAft>
              <a:buNone/>
            </a:pPr>
            <a:r>
              <a:rPr lang="en-US" sz="850" dirty="0">
                <a:solidFill>
                  <a:srgbClr val="273449"/>
                </a:solidFill>
                <a:latin typeface="Calibri" pitchFamily="34" charset="0"/>
                <a:ea typeface="Calibri" pitchFamily="34" charset="-122"/>
                <a:cs typeface="Calibri" pitchFamily="34" charset="-120"/>
              </a:rPr>
              <a:t>[29] F. Wilcoxon, “Individual comparisons by ranking methods,” Biometrics Bull., 1945.</a:t>
            </a:r>
            <a:endParaRPr lang="en-US" sz="850" dirty="0"/>
          </a:p>
          <a:p>
            <a:pPr indent="0" marL="0">
              <a:spcAft>
                <a:spcPts val="300"/>
              </a:spcAft>
              <a:buNone/>
            </a:pPr>
            <a:r>
              <a:rPr lang="en-US" sz="850" dirty="0">
                <a:solidFill>
                  <a:srgbClr val="273449"/>
                </a:solidFill>
                <a:latin typeface="Calibri" pitchFamily="34" charset="0"/>
                <a:ea typeface="Calibri" pitchFamily="34" charset="-122"/>
                <a:cs typeface="Calibri" pitchFamily="34" charset="-120"/>
              </a:rPr>
              <a:t>[30] B. Efron, “Bootstrap methods: another look at the jackknife,” Ann. Statist., 1979.</a:t>
            </a:r>
            <a:endParaRPr lang="en-US" sz="850" dirty="0"/>
          </a:p>
          <a:p>
            <a:pPr indent="0" marL="0">
              <a:spcAft>
                <a:spcPts val="300"/>
              </a:spcAft>
              <a:buNone/>
            </a:pPr>
            <a:r>
              <a:rPr lang="en-US" sz="850" dirty="0">
                <a:solidFill>
                  <a:srgbClr val="273449"/>
                </a:solidFill>
                <a:latin typeface="Calibri" pitchFamily="34" charset="0"/>
                <a:ea typeface="Calibri" pitchFamily="34" charset="-122"/>
                <a:cs typeface="Calibri" pitchFamily="34" charset="-120"/>
              </a:rPr>
              <a:t>[31] J. Demšar, “Statistical comparisons of classifiers over multiple data sets,” JMLR, 2006.</a:t>
            </a:r>
            <a:endParaRPr lang="en-US" sz="850" dirty="0"/>
          </a:p>
          <a:p>
            <a:pPr indent="0" marL="0">
              <a:spcAft>
                <a:spcPts val="300"/>
              </a:spcAft>
              <a:buNone/>
            </a:pPr>
            <a:r>
              <a:rPr lang="en-US" sz="850" dirty="0">
                <a:solidFill>
                  <a:srgbClr val="273449"/>
                </a:solidFill>
                <a:latin typeface="Calibri" pitchFamily="34" charset="0"/>
                <a:ea typeface="Calibri" pitchFamily="34" charset="-122"/>
                <a:cs typeface="Calibri" pitchFamily="34" charset="-120"/>
              </a:rPr>
              <a:t>[32] S. Holm, “A simple sequentially rejective multiple test procedure,” Scand. J. Statist., 1979.</a:t>
            </a:r>
            <a:endParaRPr lang="en-US" sz="850" dirty="0"/>
          </a:p>
          <a:p>
            <a:pPr indent="0" marL="0">
              <a:spcAft>
                <a:spcPts val="300"/>
              </a:spcAft>
              <a:buNone/>
            </a:pPr>
            <a:r>
              <a:rPr lang="en-US" sz="850" dirty="0">
                <a:solidFill>
                  <a:srgbClr val="273449"/>
                </a:solidFill>
                <a:latin typeface="Calibri" pitchFamily="34" charset="0"/>
                <a:ea typeface="Calibri" pitchFamily="34" charset="-122"/>
                <a:cs typeface="Calibri" pitchFamily="34" charset="-120"/>
              </a:rPr>
              <a:t>[33] A. Paszke et al., “PyTorch,” NeurIPS, 2019.</a:t>
            </a:r>
            <a:endParaRPr lang="en-US" sz="850" dirty="0"/>
          </a:p>
          <a:p>
            <a:pPr indent="0" marL="0">
              <a:spcAft>
                <a:spcPts val="300"/>
              </a:spcAft>
              <a:buNone/>
            </a:pPr>
            <a:r>
              <a:rPr lang="en-US" sz="850" dirty="0">
                <a:solidFill>
                  <a:srgbClr val="273449"/>
                </a:solidFill>
                <a:latin typeface="Calibri" pitchFamily="34" charset="0"/>
                <a:ea typeface="Calibri" pitchFamily="34" charset="-122"/>
                <a:cs typeface="Calibri" pitchFamily="34" charset="-120"/>
              </a:rPr>
              <a:t>[34] F. Pedregosa et al., “Scikit-learn,” JMLR, 2011.</a:t>
            </a:r>
            <a:endParaRPr lang="en-US" sz="850" dirty="0"/>
          </a:p>
          <a:p>
            <a:pPr indent="0" marL="0">
              <a:spcAft>
                <a:spcPts val="300"/>
              </a:spcAft>
              <a:buNone/>
            </a:pPr>
            <a:r>
              <a:rPr lang="en-US" sz="850" dirty="0">
                <a:solidFill>
                  <a:srgbClr val="273449"/>
                </a:solidFill>
                <a:latin typeface="Calibri" pitchFamily="34" charset="0"/>
                <a:ea typeface="Calibri" pitchFamily="34" charset="-122"/>
                <a:cs typeface="Calibri" pitchFamily="34" charset="-120"/>
              </a:rPr>
              <a:t>[35] P. Virtanen et al., “SciPy 1.0,” Nat. Methods, 2020.</a:t>
            </a:r>
            <a:endParaRPr lang="en-US" sz="850" dirty="0"/>
          </a:p>
        </p:txBody>
      </p:sp>
      <p:sp>
        <p:nvSpPr>
          <p:cNvPr id="8" name="Shape 5"/>
          <p:cNvSpPr/>
          <p:nvPr/>
        </p:nvSpPr>
        <p:spPr>
          <a:xfrm>
            <a:off x="457200" y="4224528"/>
            <a:ext cx="8229600" cy="502920"/>
          </a:xfrm>
          <a:prstGeom prst="rect">
            <a:avLst/>
          </a:prstGeom>
          <a:solidFill>
            <a:srgbClr val="142D4E"/>
          </a:solidFill>
          <a:ln w="12700">
            <a:solidFill>
              <a:srgbClr val="142D4E"/>
            </a:solidFill>
            <a:prstDash val="solid"/>
          </a:ln>
        </p:spPr>
      </p:sp>
      <p:sp>
        <p:nvSpPr>
          <p:cNvPr id="9" name="Text 6"/>
          <p:cNvSpPr txBox="1"/>
          <p:nvPr/>
        </p:nvSpPr>
        <p:spPr>
          <a:xfrm>
            <a:off x="457200" y="4224528"/>
            <a:ext cx="8229600" cy="50292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Thank you. Questions?</a:t>
            </a:r>
            <a:endParaRPr lang="en-US" sz="2000" dirty="0"/>
          </a:p>
        </p:txBody>
      </p:sp>
      <p:sp>
        <p:nvSpPr>
          <p:cNvPr id="25" name="Slide Number Placeholder 0"/>
          <p:cNvSpPr>
            <a:spLocks noGrp="1"/>
          </p:cNvSpPr>
          <p:nvPr>
            <p:ph type="sldNum" sz="quarter" idx="4294967295"/>
          </p:nvPr>
        </p:nvSpPr>
        <p:spPr>
          <a:xfrm>
            <a:off x="8412480" y="4773168"/>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4748B"/>
                </a:solidFill>
                <a:latin typeface="Calibri"/>
                <a:ea typeface="Calibri"/>
                <a:cs typeface="Calibri"/>
              </a:defRPr>
            </a:lvl1pPr>
          </a:lstStyle>
          <a:p>
            <a:pPr algn="l"/>
            <a:fld id="{F7021451-1387-4CA6-816F-3879F97B5CBC}" type="slidenum">
              <a:rPr b="0" lang="en-US"/>
              <a:t>15</a:t>
            </a:fld>
            <a:endParaRPr lang="en-US"/>
          </a:p>
        </p:txBody>
      </p:sp>
    </p:spTree>
  </p:cSld>
  <p:clrMapOvr>
    <a:masterClrMapping/>
  </p:clrMapOvr>
</p:sld>
</file>

<file path=ppt/theme/theme1.xml><?xml version="1.0" encoding="utf-8"?>
<a:theme xmlns:a="http://schemas.openxmlformats.org/drawingml/2006/main" name="Clean Academic">
  <a:themeElements>
    <a:clrScheme name="Clean Academic">
      <a:dk1>
        <a:srgbClr val="273449"/>
      </a:dk1>
      <a:lt1>
        <a:srgbClr val="FFFFFF"/>
      </a:lt1>
      <a:dk2>
        <a:srgbClr val="142D4E"/>
      </a:dk2>
      <a:lt2>
        <a:srgbClr val="F8FAFC"/>
      </a:lt2>
      <a:accent1>
        <a:srgbClr val="0F766E"/>
      </a:accent1>
      <a:accent2>
        <a:srgbClr val="64748B"/>
      </a:accent2>
      <a:accent3>
        <a:srgbClr val="D97706"/>
      </a:accent3>
      <a:accent4>
        <a:srgbClr val="0B5B55"/>
      </a:accent4>
      <a:accent5>
        <a:srgbClr val="94A3B8"/>
      </a:accent5>
      <a:accent6>
        <a:srgbClr val="B45309"/>
      </a:accent6>
      <a:hlink>
        <a:srgbClr val="0F766E"/>
      </a:hlink>
      <a:folHlink>
        <a:srgbClr val="64748B"/>
      </a:folHlink>
    </a:clrScheme>
    <a:fontScheme name="Clean Academic">
      <a:majorFont>
        <a:latin typeface="Calibri"/>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15</Slides>
  <Notes>15</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15</vt:i4>
      </vt:variant>
    </vt:vector>
  </HeadingPairs>
  <TitlesOfParts>
    <vt:vector size="18"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Improving Bike Rental Demand Prediction Through Data Augmentation</dc:title>
  <dc:subject>PptxGenJS Presentation</dc:subject>
  <dc:creator>PptxGenJS</dc:creator>
  <cp:lastModifiedBy>PptxGenJS</cp:lastModifiedBy>
  <cp:revision>1</cp:revision>
  <dcterms:created xsi:type="dcterms:W3CDTF">2026-10-23T02:41:44Z</dcterms:created>
  <dcterms:modified xsi:type="dcterms:W3CDTF">2026-10-23T02:41:44Z</dcterms:modified>
</cp:coreProperties>
</file>